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Calibri (MS) Bold" charset="1" panose="020F0702030404030204"/>
      <p:regular r:id="rId8"/>
    </p:embeddedFont>
    <p:embeddedFont>
      <p:font typeface="Times New Roman Bold" charset="1" panose="02020803070505020304"/>
      <p:regular r:id="rId9"/>
    </p:embeddedFont>
    <p:embeddedFont>
      <p:font typeface="Calibri (MS)" charset="1" panose="020F0502020204030204"/>
      <p:regular r:id="rId10"/>
    </p:embeddedFont>
    <p:embeddedFont>
      <p:font typeface="Noto Sans T Chinese" charset="1" panose="020B0500000000000000"/>
      <p:regular r:id="rId11"/>
    </p:embeddedFont>
    <p:embeddedFont>
      <p:font typeface="Times New Roman" charset="1" panose="02020603050405020304"/>
      <p:regular r:id="rId12"/>
    </p:embeddedFont>
    <p:embeddedFont>
      <p:font typeface="Times New Roman MT" charset="1" panose="020305020704050203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eq_0688ef507f67f353.png" Type="http://schemas.openxmlformats.org/officeDocument/2006/relationships/image"/><Relationship Id="rId5" Target="../media/eq_2a572925a03dbe41.png" Type="http://schemas.openxmlformats.org/officeDocument/2006/relationships/image"/><Relationship Id="rId6" Target="../media/eq_823dac38756840f7.png" Type="http://schemas.openxmlformats.org/officeDocument/2006/relationships/image"/><Relationship Id="rId7" Target="../media/eq_fb430f9188b441dc.png" Type="http://schemas.openxmlformats.org/officeDocument/2006/relationships/image"/><Relationship Id="rId8" Target="../media/eq_81df42a8d36e2acc.png" Type="http://schemas.openxmlformats.org/officeDocument/2006/relationships/image"/><Relationship Id="rId9" Target="../media/eq_7c9df1a1f5f34520.png" Type="http://schemas.openxmlformats.org/officeDocument/2006/relationships/image"/><Relationship Id="rId10" Target="../media/eq_ef1b2a347eb5cbf2.png" Type="http://schemas.openxmlformats.org/officeDocument/2006/relationships/image"/><Relationship Id="rId11" Target="../media/eq_044ed09b607e2faf.png" Type="http://schemas.openxmlformats.org/officeDocument/2006/relationships/image"/><Relationship Id="rId12" Target="../media/eq_05d183acaa593ce8.png" Type="http://schemas.openxmlformats.org/officeDocument/2006/relationships/image"/><Relationship Id="rId13" Target="../media/eq_cd42b095a8e6f523.png" Type="http://schemas.openxmlformats.org/officeDocument/2006/relationships/image"/><Relationship Id="rId14" Target="../media/eq_0683978ad0138ab5.png" Type="http://schemas.openxmlformats.org/officeDocument/2006/relationships/image"/><Relationship Id="rId15" Target="../media/eq_527cf89b7fb89fbc.png" Type="http://schemas.openxmlformats.org/officeDocument/2006/relationships/image"/><Relationship Id="rId16" Target="../media/eq_155372fc97a1d245.png" Type="http://schemas.openxmlformats.org/officeDocument/2006/relationships/image"/><Relationship Id="rId17" Target="../media/eq_78fd2d306b9a651d.png" Type="http://schemas.openxmlformats.org/officeDocument/2006/relationships/image"/><Relationship Id="rId18" Target="../media/eq_ae8b0090ee31211f.png" Type="http://schemas.openxmlformats.org/officeDocument/2006/relationships/image"/><Relationship Id="rId19" Target="../media/eq_82ac2ad0afdb132b.png" Type="http://schemas.openxmlformats.org/officeDocument/2006/relationships/image"/><Relationship Id="rId20" Target="../media/eq_33b848afecdbaf69.png" Type="http://schemas.openxmlformats.org/officeDocument/2006/relationships/image"/><Relationship Id="rId21" Target="../media/eq_e9b7d77e53c4f183.png" Type="http://schemas.openxmlformats.org/officeDocument/2006/relationships/image"/><Relationship Id="rId22" Target="../media/eq_a6398c4c94ea2523.png" Type="http://schemas.openxmlformats.org/officeDocument/2006/relationships/image"/><Relationship Id="rId23" Target="../media/eq_abf1b22ed2d3a002.png" Type="http://schemas.openxmlformats.org/officeDocument/2006/relationships/image"/><Relationship Id="rId24" Target="../media/eq_d9835855bea455bd.png" Type="http://schemas.openxmlformats.org/officeDocument/2006/relationships/image"/><Relationship Id="rId25" Target="../media/eq_472e3a4c3072b9fd.png" Type="http://schemas.openxmlformats.org/officeDocument/2006/relationships/image"/><Relationship Id="rId26" Target="../media/eq_98351a021b804cc6.png" Type="http://schemas.openxmlformats.org/officeDocument/2006/relationships/image"/><Relationship Id="rId27" Target="../media/eq_12a2bb0d5f715967.png" Type="http://schemas.openxmlformats.org/officeDocument/2006/relationships/image"/><Relationship Id="rId28" Target="../media/eq_0cb0f9530af27c96.png" Type="http://schemas.openxmlformats.org/officeDocument/2006/relationships/image"/><Relationship Id="rId29" Target="../media/eq_38edfd18db877625.png" Type="http://schemas.openxmlformats.org/officeDocument/2006/relationships/image"/><Relationship Id="rId30" Target="../media/eq_73b355bacb186d4b.png" Type="http://schemas.openxmlformats.org/officeDocument/2006/relationships/image"/><Relationship Id="rId31" Target="../media/eq_8304623abc6b72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7999920" cy="23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3652107" cy="5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Baseline: M1 — Online Joint OA–PS–TA Optimization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24 頁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51673" y="1055266"/>
            <a:ext cx="7818120" cy="420624"/>
            <a:chOff x="0" y="0"/>
            <a:chExt cx="10424160" cy="5608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2416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7977" y="1103334"/>
            <a:ext cx="7452360" cy="27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Sets and Parameters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51673" y="1475890"/>
            <a:ext cx="7818120" cy="3265170"/>
            <a:chOff x="0" y="0"/>
            <a:chExt cx="10424160" cy="4353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4160" cy="4353560"/>
            </a:xfrm>
            <a:custGeom>
              <a:avLst/>
              <a:gdLst/>
              <a:ahLst/>
              <a:cxnLst/>
              <a:rect r="r" b="b" t="t" l="l"/>
              <a:pathLst>
                <a:path h="43535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4353560"/>
                  </a:lnTo>
                  <a:lnTo>
                    <a:pt x="0" y="4353560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69390" y="1648072"/>
            <a:ext cx="5204096" cy="21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ending orders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9390" y="1980685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orkstations with free capacity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69390" y="2293867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SKUs in Warehouse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9390" y="2607049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 pods; Idle pods; Pods already assigned to Workstations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69390" y="2920231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 robots; Idle robots; Busy robots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9390" y="3247129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rders demanding SKU i; Pods holding SKU 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69390" y="3582028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nits of SKU i in Order o; Units of SKU i on Pod 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69390" y="3896476"/>
            <a:ext cx="5474936" cy="41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 capacity of Workstation;Counted in ORDERS; Pod-Station and Robot-Pod distance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71129" y="1974238"/>
            <a:ext cx="445770" cy="221742"/>
            <a:chOff x="0" y="0"/>
            <a:chExt cx="594360" cy="2956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360" cy="295656"/>
            </a:xfrm>
            <a:custGeom>
              <a:avLst/>
              <a:gdLst/>
              <a:ahLst/>
              <a:cxnLst/>
              <a:rect r="r" b="b" t="t" l="l"/>
              <a:pathLst>
                <a:path h="295656" w="594360">
                  <a:moveTo>
                    <a:pt x="0" y="0"/>
                  </a:moveTo>
                  <a:lnTo>
                    <a:pt x="594360" y="0"/>
                  </a:lnTo>
                  <a:lnTo>
                    <a:pt x="59436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71129" y="2287420"/>
            <a:ext cx="114300" cy="221742"/>
            <a:chOff x="0" y="0"/>
            <a:chExt cx="152400" cy="295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295656"/>
            </a:xfrm>
            <a:custGeom>
              <a:avLst/>
              <a:gdLst/>
              <a:ahLst/>
              <a:cxnLst/>
              <a:rect r="r" b="b" t="t" l="l"/>
              <a:pathLst>
                <a:path h="295656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71129" y="2600602"/>
            <a:ext cx="1140714" cy="221742"/>
            <a:chOff x="0" y="0"/>
            <a:chExt cx="1520952" cy="2956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0952" cy="295656"/>
            </a:xfrm>
            <a:custGeom>
              <a:avLst/>
              <a:gdLst/>
              <a:ahLst/>
              <a:cxnLst/>
              <a:rect r="r" b="b" t="t" l="l"/>
              <a:pathLst>
                <a:path h="295656" w="1520952">
                  <a:moveTo>
                    <a:pt x="0" y="0"/>
                  </a:moveTo>
                  <a:lnTo>
                    <a:pt x="1520952" y="0"/>
                  </a:lnTo>
                  <a:lnTo>
                    <a:pt x="1520952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71129" y="2913784"/>
            <a:ext cx="1120140" cy="221742"/>
            <a:chOff x="0" y="0"/>
            <a:chExt cx="1493520" cy="2956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93520" cy="295656"/>
            </a:xfrm>
            <a:custGeom>
              <a:avLst/>
              <a:gdLst/>
              <a:ahLst/>
              <a:cxnLst/>
              <a:rect r="r" b="b" t="t" l="l"/>
              <a:pathLst>
                <a:path h="295656" w="1493520">
                  <a:moveTo>
                    <a:pt x="0" y="0"/>
                  </a:moveTo>
                  <a:lnTo>
                    <a:pt x="1493520" y="0"/>
                  </a:lnTo>
                  <a:lnTo>
                    <a:pt x="149352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71129" y="3226966"/>
            <a:ext cx="854964" cy="249174"/>
            <a:chOff x="0" y="0"/>
            <a:chExt cx="1139952" cy="3322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9952" cy="332232"/>
            </a:xfrm>
            <a:custGeom>
              <a:avLst/>
              <a:gdLst/>
              <a:ahLst/>
              <a:cxnLst/>
              <a:rect r="r" b="b" t="t" l="l"/>
              <a:pathLst>
                <a:path h="332232" w="1139952">
                  <a:moveTo>
                    <a:pt x="0" y="0"/>
                  </a:moveTo>
                  <a:lnTo>
                    <a:pt x="1139952" y="0"/>
                  </a:lnTo>
                  <a:lnTo>
                    <a:pt x="1139952" y="332232"/>
                  </a:lnTo>
                  <a:lnTo>
                    <a:pt x="0" y="33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71129" y="3567580"/>
            <a:ext cx="848106" cy="237744"/>
            <a:chOff x="0" y="0"/>
            <a:chExt cx="1130808" cy="3169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0808" cy="316992"/>
            </a:xfrm>
            <a:custGeom>
              <a:avLst/>
              <a:gdLst/>
              <a:ahLst/>
              <a:cxnLst/>
              <a:rect r="r" b="b" t="t" l="l"/>
              <a:pathLst>
                <a:path h="316992" w="1130808">
                  <a:moveTo>
                    <a:pt x="0" y="0"/>
                  </a:moveTo>
                  <a:lnTo>
                    <a:pt x="1130808" y="0"/>
                  </a:lnTo>
                  <a:lnTo>
                    <a:pt x="1130808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71129" y="3896764"/>
            <a:ext cx="1204722" cy="230886"/>
            <a:chOff x="0" y="0"/>
            <a:chExt cx="1606296" cy="3078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06296" cy="307848"/>
            </a:xfrm>
            <a:custGeom>
              <a:avLst/>
              <a:gdLst/>
              <a:ahLst/>
              <a:cxnLst/>
              <a:rect r="r" b="b" t="t" l="l"/>
              <a:pathLst>
                <a:path h="307848" w="1606296">
                  <a:moveTo>
                    <a:pt x="0" y="0"/>
                  </a:moveTo>
                  <a:lnTo>
                    <a:pt x="1606296" y="0"/>
                  </a:lnTo>
                  <a:lnTo>
                    <a:pt x="1606296" y="307848"/>
                  </a:lnTo>
                  <a:lnTo>
                    <a:pt x="0" y="307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517636" y="1055266"/>
            <a:ext cx="9418320" cy="420624"/>
            <a:chOff x="0" y="0"/>
            <a:chExt cx="12557760" cy="5608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57760" cy="560832"/>
            </a:xfrm>
            <a:custGeom>
              <a:avLst/>
              <a:gdLst/>
              <a:ahLst/>
              <a:cxnLst/>
              <a:rect r="r" b="b" t="t" l="l"/>
              <a:pathLst>
                <a:path h="560832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700516" y="1146325"/>
            <a:ext cx="9052560" cy="27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 (14)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517636" y="1475890"/>
            <a:ext cx="9418320" cy="1911096"/>
            <a:chOff x="0" y="0"/>
            <a:chExt cx="12557760" cy="25481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57760" cy="2548128"/>
            </a:xfrm>
            <a:custGeom>
              <a:avLst/>
              <a:gdLst/>
              <a:ahLst/>
              <a:cxnLst/>
              <a:rect r="r" b="b" t="t" l="l"/>
              <a:pathLst>
                <a:path h="2548128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2548128"/>
                  </a:lnTo>
                  <a:lnTo>
                    <a:pt x="0" y="2548128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37092" y="1827934"/>
            <a:ext cx="7431786" cy="441198"/>
            <a:chOff x="0" y="0"/>
            <a:chExt cx="9909048" cy="5882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09048" cy="588264"/>
            </a:xfrm>
            <a:custGeom>
              <a:avLst/>
              <a:gdLst/>
              <a:ahLst/>
              <a:cxnLst/>
              <a:rect r="r" b="b" t="t" l="l"/>
              <a:pathLst>
                <a:path h="588264" w="9909048">
                  <a:moveTo>
                    <a:pt x="0" y="0"/>
                  </a:moveTo>
                  <a:lnTo>
                    <a:pt x="9909048" y="0"/>
                  </a:lnTo>
                  <a:lnTo>
                    <a:pt x="9909048" y="588264"/>
                  </a:lnTo>
                  <a:lnTo>
                    <a:pt x="0" y="588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749265" y="2545836"/>
            <a:ext cx="3401568" cy="235458"/>
            <a:chOff x="0" y="0"/>
            <a:chExt cx="4535424" cy="313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35424" cy="313944"/>
            </a:xfrm>
            <a:custGeom>
              <a:avLst/>
              <a:gdLst/>
              <a:ahLst/>
              <a:cxnLst/>
              <a:rect r="r" b="b" t="t" l="l"/>
              <a:pathLst>
                <a:path h="313944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517636" y="3533290"/>
            <a:ext cx="9418320" cy="420624"/>
            <a:chOff x="0" y="0"/>
            <a:chExt cx="12557760" cy="56083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557760" cy="560832"/>
            </a:xfrm>
            <a:custGeom>
              <a:avLst/>
              <a:gdLst/>
              <a:ahLst/>
              <a:cxnLst/>
              <a:rect r="r" b="b" t="t" l="l"/>
              <a:pathLst>
                <a:path h="560832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8700516" y="3624349"/>
            <a:ext cx="9052560" cy="27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Constraints  (2) – (13)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517636" y="3953914"/>
            <a:ext cx="9418320" cy="5010912"/>
            <a:chOff x="0" y="0"/>
            <a:chExt cx="12557760" cy="6681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557760" cy="6681216"/>
            </a:xfrm>
            <a:custGeom>
              <a:avLst/>
              <a:gdLst/>
              <a:ahLst/>
              <a:cxnLst/>
              <a:rect r="r" b="b" t="t" l="l"/>
              <a:pathLst>
                <a:path h="6681216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6681216"/>
                  </a:lnTo>
                  <a:lnTo>
                    <a:pt x="0" y="6681216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23476" y="4100218"/>
            <a:ext cx="1968246" cy="390906"/>
            <a:chOff x="0" y="0"/>
            <a:chExt cx="2624328" cy="5212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24328" cy="521208"/>
            </a:xfrm>
            <a:custGeom>
              <a:avLst/>
              <a:gdLst/>
              <a:ahLst/>
              <a:cxnLst/>
              <a:rect r="r" b="b" t="t" l="l"/>
              <a:pathLst>
                <a:path h="521208" w="2624328">
                  <a:moveTo>
                    <a:pt x="0" y="0"/>
                  </a:moveTo>
                  <a:lnTo>
                    <a:pt x="2624328" y="0"/>
                  </a:lnTo>
                  <a:lnTo>
                    <a:pt x="2624328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737092" y="41668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(2)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23476" y="4499506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order to at most one workstation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523476" y="4841644"/>
            <a:ext cx="1396746" cy="228600"/>
            <a:chOff x="0" y="0"/>
            <a:chExt cx="1862328" cy="304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62328" cy="304800"/>
            </a:xfrm>
            <a:custGeom>
              <a:avLst/>
              <a:gdLst/>
              <a:ahLst/>
              <a:cxnLst/>
              <a:rect r="r" b="b" t="t" l="l"/>
              <a:pathLst>
                <a:path h="304800" w="1862328">
                  <a:moveTo>
                    <a:pt x="0" y="0"/>
                  </a:moveTo>
                  <a:lnTo>
                    <a:pt x="1862328" y="0"/>
                  </a:lnTo>
                  <a:lnTo>
                    <a:pt x="1862328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8737092" y="4827166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(3)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23476" y="5087770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assignable order is not necessarily assigned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523476" y="5429908"/>
            <a:ext cx="2055114" cy="390906"/>
            <a:chOff x="0" y="0"/>
            <a:chExt cx="2740152" cy="5212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40152" cy="521208"/>
            </a:xfrm>
            <a:custGeom>
              <a:avLst/>
              <a:gdLst/>
              <a:ahLst/>
              <a:cxnLst/>
              <a:rect r="r" b="b" t="t" l="l"/>
              <a:pathLst>
                <a:path h="521208" w="2740152">
                  <a:moveTo>
                    <a:pt x="0" y="0"/>
                  </a:moveTo>
                  <a:lnTo>
                    <a:pt x="2740152" y="0"/>
                  </a:lnTo>
                  <a:lnTo>
                    <a:pt x="2740152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8737092" y="549658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(4)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23476" y="5829196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assigned orders equal capacity minus unused capacity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523476" y="6357262"/>
            <a:ext cx="2980944" cy="422910"/>
            <a:chOff x="0" y="0"/>
            <a:chExt cx="3974592" cy="563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74592" cy="563880"/>
            </a:xfrm>
            <a:custGeom>
              <a:avLst/>
              <a:gdLst/>
              <a:ahLst/>
              <a:cxnLst/>
              <a:rect r="r" b="b" t="t" l="l"/>
              <a:pathLst>
                <a:path h="563880" w="3974592">
                  <a:moveTo>
                    <a:pt x="0" y="0"/>
                  </a:moveTo>
                  <a:lnTo>
                    <a:pt x="3974592" y="0"/>
                  </a:lnTo>
                  <a:lnTo>
                    <a:pt x="3974592" y="563880"/>
                  </a:lnTo>
                  <a:lnTo>
                    <a:pt x="0" y="563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8737092" y="6439939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(5)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23476" y="6788554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for SKU i at w cannot exceed what the pods at w supply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523476" y="7316620"/>
            <a:ext cx="1762506" cy="390906"/>
            <a:chOff x="0" y="0"/>
            <a:chExt cx="2350008" cy="52120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50008" cy="521208"/>
            </a:xfrm>
            <a:custGeom>
              <a:avLst/>
              <a:gdLst/>
              <a:ahLst/>
              <a:cxnLst/>
              <a:rect r="r" b="b" t="t" l="l"/>
              <a:pathLst>
                <a:path h="521208" w="2350008">
                  <a:moveTo>
                    <a:pt x="0" y="0"/>
                  </a:moveTo>
                  <a:lnTo>
                    <a:pt x="2350008" y="0"/>
                  </a:lnTo>
                  <a:lnTo>
                    <a:pt x="2350008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8737092" y="7383295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(6)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23476" y="7715908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pod goes to at most one workstation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523476" y="8058046"/>
            <a:ext cx="1764792" cy="226314"/>
            <a:chOff x="0" y="0"/>
            <a:chExt cx="2353056" cy="301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53056" cy="301752"/>
            </a:xfrm>
            <a:custGeom>
              <a:avLst/>
              <a:gdLst/>
              <a:ahLst/>
              <a:cxnLst/>
              <a:rect r="r" b="b" t="t" l="l"/>
              <a:pathLst>
                <a:path h="301752" w="2353056">
                  <a:moveTo>
                    <a:pt x="0" y="0"/>
                  </a:moveTo>
                  <a:lnTo>
                    <a:pt x="2353056" y="0"/>
                  </a:lnTo>
                  <a:lnTo>
                    <a:pt x="2353056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8737092" y="8042425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(7)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523476" y="8304172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 pods already assigned to w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4150340" y="4100218"/>
            <a:ext cx="2194560" cy="390906"/>
            <a:chOff x="0" y="0"/>
            <a:chExt cx="2926080" cy="52120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926080" cy="521208"/>
            </a:xfrm>
            <a:custGeom>
              <a:avLst/>
              <a:gdLst/>
              <a:ahLst/>
              <a:cxnLst/>
              <a:rect r="r" b="b" t="t" l="l"/>
              <a:pathLst>
                <a:path h="521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3363956" y="41668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(8)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150340" y="4499506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dispatching a pod requires a robot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4150340" y="4841644"/>
            <a:ext cx="1490472" cy="368046"/>
            <a:chOff x="0" y="0"/>
            <a:chExt cx="1987296" cy="4907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87296" cy="490728"/>
            </a:xfrm>
            <a:custGeom>
              <a:avLst/>
              <a:gdLst/>
              <a:ahLst/>
              <a:cxnLst/>
              <a:rect r="r" b="b" t="t" l="l"/>
              <a:pathLst>
                <a:path h="490728" w="1987296">
                  <a:moveTo>
                    <a:pt x="0" y="0"/>
                  </a:moveTo>
                  <a:lnTo>
                    <a:pt x="1987296" y="0"/>
                  </a:lnTo>
                  <a:lnTo>
                    <a:pt x="1987296" y="490728"/>
                  </a:lnTo>
                  <a:lnTo>
                    <a:pt x="0" y="490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363956" y="4896889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(9)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150340" y="5218072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pod is transported by at most one robot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14150340" y="5560210"/>
            <a:ext cx="1490472" cy="393192"/>
            <a:chOff x="0" y="0"/>
            <a:chExt cx="1987296" cy="5242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987296" cy="524256"/>
            </a:xfrm>
            <a:custGeom>
              <a:avLst/>
              <a:gdLst/>
              <a:ahLst/>
              <a:cxnLst/>
              <a:rect r="r" b="b" t="t" l="l"/>
              <a:pathLst>
                <a:path h="524256" w="1987296">
                  <a:moveTo>
                    <a:pt x="0" y="0"/>
                  </a:moveTo>
                  <a:lnTo>
                    <a:pt x="1987296" y="0"/>
                  </a:lnTo>
                  <a:lnTo>
                    <a:pt x="1987296" y="524256"/>
                  </a:lnTo>
                  <a:lnTo>
                    <a:pt x="0" y="524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3363956" y="5628028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(10)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4150340" y="5961784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robot transports at most one pod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4150340" y="6303922"/>
            <a:ext cx="1499616" cy="226314"/>
            <a:chOff x="0" y="0"/>
            <a:chExt cx="1999488" cy="301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99488" cy="301752"/>
            </a:xfrm>
            <a:custGeom>
              <a:avLst/>
              <a:gdLst/>
              <a:ahLst/>
              <a:cxnLst/>
              <a:rect r="r" b="b" t="t" l="l"/>
              <a:pathLst>
                <a:path h="30175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3363956" y="6288301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(11)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4150340" y="6550048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busy robot continues its current transport task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4150340" y="7078114"/>
            <a:ext cx="2857500" cy="226314"/>
            <a:chOff x="0" y="0"/>
            <a:chExt cx="3810000" cy="301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810000" cy="301752"/>
            </a:xfrm>
            <a:custGeom>
              <a:avLst/>
              <a:gdLst/>
              <a:ahLst/>
              <a:cxnLst/>
              <a:rect r="r" b="b" t="t" l="l"/>
              <a:pathLst>
                <a:path h="301752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3363956" y="70624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(12)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150340" y="7324240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requires the order assigned AND the pod assigned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4150340" y="7852306"/>
            <a:ext cx="2473452" cy="390906"/>
            <a:chOff x="0" y="0"/>
            <a:chExt cx="3297936" cy="52120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97936" cy="521208"/>
            </a:xfrm>
            <a:custGeom>
              <a:avLst/>
              <a:gdLst/>
              <a:ahLst/>
              <a:cxnLst/>
              <a:rect r="r" b="b" t="t" l="l"/>
              <a:pathLst>
                <a:path h="521208" w="3297936">
                  <a:moveTo>
                    <a:pt x="0" y="0"/>
                  </a:moveTo>
                  <a:lnTo>
                    <a:pt x="3297936" y="0"/>
                  </a:lnTo>
                  <a:lnTo>
                    <a:pt x="3297936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3363956" y="7918981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(13)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4150340" y="8251594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newly assigned pod must supply at least one assigned order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32" r="-3" b="-138"/>
              </a:stretch>
            </a:blip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1173787" y="9495139"/>
            <a:ext cx="968978" cy="58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178650" r="0" b="-178648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352415" y="4840882"/>
            <a:ext cx="7818120" cy="4123944"/>
            <a:chOff x="0" y="0"/>
            <a:chExt cx="10424160" cy="54985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424160" cy="5498592"/>
            </a:xfrm>
            <a:custGeom>
              <a:avLst/>
              <a:gdLst/>
              <a:ahLst/>
              <a:cxnLst/>
              <a:rect r="r" b="b" t="t" l="l"/>
              <a:pathLst>
                <a:path h="549859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498592"/>
                  </a:lnTo>
                  <a:lnTo>
                    <a:pt x="0" y="5498592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34553" y="5538998"/>
            <a:ext cx="7379208" cy="1982476"/>
            <a:chOff x="0" y="0"/>
            <a:chExt cx="9838944" cy="2643302"/>
          </a:xfrm>
        </p:grpSpPr>
        <p:grpSp>
          <p:nvGrpSpPr>
            <p:cNvPr name="Group 105" id="105"/>
            <p:cNvGrpSpPr/>
            <p:nvPr/>
          </p:nvGrpSpPr>
          <p:grpSpPr>
            <a:xfrm rot="0">
              <a:off x="0" y="0"/>
              <a:ext cx="502920" cy="335280"/>
              <a:chOff x="0" y="0"/>
              <a:chExt cx="502920" cy="335280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502920" cy="335280"/>
              </a:xfrm>
              <a:custGeom>
                <a:avLst/>
                <a:gdLst/>
                <a:ahLst/>
                <a:cxnLst/>
                <a:rect r="r" b="b" t="t" l="l"/>
                <a:pathLst>
                  <a:path h="335280" w="502920">
                    <a:moveTo>
                      <a:pt x="0" y="0"/>
                    </a:moveTo>
                    <a:lnTo>
                      <a:pt x="502920" y="0"/>
                    </a:lnTo>
                    <a:lnTo>
                      <a:pt x="502920" y="335280"/>
                    </a:lnTo>
                    <a:lnTo>
                      <a:pt x="0" y="3352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5"/>
                <a:stretch>
                  <a:fillRect l="0" t="0" r="0" b="0"/>
                </a:stretch>
              </a:blipFill>
            </p:spPr>
          </p:sp>
        </p:grpSp>
        <p:sp>
          <p:nvSpPr>
            <p:cNvPr name="TextBox 107" id="107"/>
            <p:cNvSpPr txBox="true"/>
            <p:nvPr/>
          </p:nvSpPr>
          <p:spPr>
            <a:xfrm rot="0">
              <a:off x="2377440" y="4661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 b="true">
                  <a:solidFill>
                    <a:srgbClr val="1F386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sz="1400" b="true">
                  <a:solidFill>
                    <a:srgbClr val="1F386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rder o COULD be assigned to Workstation — not slot-limited</a:t>
              </a:r>
            </a:p>
          </p:txBody>
        </p:sp>
        <p:grpSp>
          <p:nvGrpSpPr>
            <p:cNvPr name="Group 108" id="108"/>
            <p:cNvGrpSpPr/>
            <p:nvPr/>
          </p:nvGrpSpPr>
          <p:grpSpPr>
            <a:xfrm rot="0">
              <a:off x="0" y="457200"/>
              <a:ext cx="499872" cy="329184"/>
              <a:chOff x="0" y="0"/>
              <a:chExt cx="499872" cy="329184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499872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99872">
                    <a:moveTo>
                      <a:pt x="0" y="0"/>
                    </a:moveTo>
                    <a:lnTo>
                      <a:pt x="499872" y="0"/>
                    </a:lnTo>
                    <a:lnTo>
                      <a:pt x="499872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6"/>
                <a:stretch>
                  <a:fillRect l="0" t="0" r="0" b="0"/>
                </a:stretch>
              </a:blipFill>
            </p:spPr>
          </p:sp>
        </p:grpSp>
        <p:sp>
          <p:nvSpPr>
            <p:cNvPr name="TextBox 110" id="110"/>
            <p:cNvSpPr txBox="true"/>
            <p:nvPr/>
          </p:nvSpPr>
          <p:spPr>
            <a:xfrm rot="0">
              <a:off x="2377440" y="458813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 b="true">
                  <a:solidFill>
                    <a:srgbClr val="3B61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sz="1400" b="true">
                  <a:solidFill>
                    <a:srgbClr val="3B61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rder o IS assigned to Workstation — consumes a slot</a:t>
              </a:r>
            </a:p>
          </p:txBody>
        </p:sp>
        <p:grpSp>
          <p:nvGrpSpPr>
            <p:cNvPr name="Group 111" id="111"/>
            <p:cNvGrpSpPr/>
            <p:nvPr/>
          </p:nvGrpSpPr>
          <p:grpSpPr>
            <a:xfrm rot="0">
              <a:off x="0" y="908304"/>
              <a:ext cx="478536" cy="329184"/>
              <a:chOff x="0" y="0"/>
              <a:chExt cx="478536" cy="329184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478536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78536">
                    <a:moveTo>
                      <a:pt x="0" y="0"/>
                    </a:moveTo>
                    <a:lnTo>
                      <a:pt x="478536" y="0"/>
                    </a:lnTo>
                    <a:lnTo>
                      <a:pt x="478536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0" r="0" b="0"/>
                </a:stretch>
              </a:blipFill>
            </p:spPr>
          </p:sp>
        </p:grpSp>
        <p:sp>
          <p:nvSpPr>
            <p:cNvPr name="TextBox 113" id="113"/>
            <p:cNvSpPr txBox="true"/>
            <p:nvPr/>
          </p:nvSpPr>
          <p:spPr>
            <a:xfrm rot="0">
              <a:off x="2377440" y="909917"/>
              <a:ext cx="7461504" cy="294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od p is assigned to Workstation w</a:t>
              </a:r>
            </a:p>
          </p:txBody>
        </p:sp>
        <p:grpSp>
          <p:nvGrpSpPr>
            <p:cNvPr name="Group 114" id="114"/>
            <p:cNvGrpSpPr/>
            <p:nvPr/>
          </p:nvGrpSpPr>
          <p:grpSpPr>
            <a:xfrm rot="0">
              <a:off x="0" y="1359408"/>
              <a:ext cx="441960" cy="329184"/>
              <a:chOff x="0" y="0"/>
              <a:chExt cx="441960" cy="329184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441960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41960">
                    <a:moveTo>
                      <a:pt x="0" y="0"/>
                    </a:moveTo>
                    <a:lnTo>
                      <a:pt x="441960" y="0"/>
                    </a:lnTo>
                    <a:lnTo>
                      <a:pt x="441960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8"/>
                <a:stretch>
                  <a:fillRect l="0" t="0" r="0" b="0"/>
                </a:stretch>
              </a:blipFill>
            </p:spPr>
          </p:sp>
        </p:grpSp>
        <p:sp>
          <p:nvSpPr>
            <p:cNvPr name="TextBox 116" id="116"/>
            <p:cNvSpPr txBox="true"/>
            <p:nvPr/>
          </p:nvSpPr>
          <p:spPr>
            <a:xfrm rot="0">
              <a:off x="2377440" y="1361021"/>
              <a:ext cx="7461504" cy="294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obot r transports Pod p — task allocation is inside the model</a:t>
              </a:r>
            </a:p>
          </p:txBody>
        </p:sp>
        <p:grpSp>
          <p:nvGrpSpPr>
            <p:cNvPr name="Group 117" id="117"/>
            <p:cNvGrpSpPr/>
            <p:nvPr/>
          </p:nvGrpSpPr>
          <p:grpSpPr>
            <a:xfrm rot="0">
              <a:off x="0" y="1810512"/>
              <a:ext cx="676656" cy="329184"/>
              <a:chOff x="0" y="0"/>
              <a:chExt cx="676656" cy="329184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676656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676656">
                    <a:moveTo>
                      <a:pt x="0" y="0"/>
                    </a:moveTo>
                    <a:lnTo>
                      <a:pt x="676656" y="0"/>
                    </a:lnTo>
                    <a:lnTo>
                      <a:pt x="676656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9"/>
                <a:stretch>
                  <a:fillRect l="0" t="0" r="0" b="0"/>
                </a:stretch>
              </a:blipFill>
            </p:spPr>
          </p:sp>
        </p:grpSp>
        <p:sp>
          <p:nvSpPr>
            <p:cNvPr name="TextBox 119" id="119"/>
            <p:cNvSpPr txBox="true"/>
            <p:nvPr/>
          </p:nvSpPr>
          <p:spPr>
            <a:xfrm rot="0">
              <a:off x="2377440" y="1812125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uxiliary: pod p supplies order o at w</a:t>
              </a:r>
            </a:p>
          </p:txBody>
        </p:sp>
        <p:grpSp>
          <p:nvGrpSpPr>
            <p:cNvPr name="Group 120" id="120"/>
            <p:cNvGrpSpPr/>
            <p:nvPr/>
          </p:nvGrpSpPr>
          <p:grpSpPr>
            <a:xfrm rot="0">
              <a:off x="0" y="2261616"/>
              <a:ext cx="999744" cy="353568"/>
              <a:chOff x="0" y="0"/>
              <a:chExt cx="999744" cy="353568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999744" cy="353568"/>
              </a:xfrm>
              <a:custGeom>
                <a:avLst/>
                <a:gdLst/>
                <a:ahLst/>
                <a:cxnLst/>
                <a:rect r="r" b="b" t="t" l="l"/>
                <a:pathLst>
                  <a:path h="353568" w="999744">
                    <a:moveTo>
                      <a:pt x="0" y="0"/>
                    </a:moveTo>
                    <a:lnTo>
                      <a:pt x="999744" y="0"/>
                    </a:lnTo>
                    <a:lnTo>
                      <a:pt x="999744" y="353568"/>
                    </a:lnTo>
                    <a:lnTo>
                      <a:pt x="0" y="3535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0"/>
                <a:stretch>
                  <a:fillRect l="0" t="0" r="0" b="0"/>
                </a:stretch>
              </a:blipFill>
            </p:spPr>
          </p:sp>
        </p:grpSp>
        <p:sp>
          <p:nvSpPr>
            <p:cNvPr name="TextBox 122" id="122"/>
            <p:cNvSpPr txBox="true"/>
            <p:nvPr/>
          </p:nvSpPr>
          <p:spPr>
            <a:xfrm rot="0">
              <a:off x="2377440" y="2275421"/>
              <a:ext cx="7461504" cy="367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unused capacity of workstation w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351673" y="4840560"/>
            <a:ext cx="7818120" cy="420624"/>
            <a:chOff x="0" y="0"/>
            <a:chExt cx="10424160" cy="5608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42416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125" id="125"/>
          <p:cNvSpPr txBox="true"/>
          <p:nvPr/>
        </p:nvSpPr>
        <p:spPr>
          <a:xfrm rot="0">
            <a:off x="535667" y="4907457"/>
            <a:ext cx="7452360" cy="27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Variables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351673" y="8415424"/>
            <a:ext cx="781886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4"/>
              </a:lnSpc>
              <a:spcBef>
                <a:spcPct val="0"/>
              </a:spcBef>
            </a:pPr>
            <a:r>
              <a:rPr lang="en-US" sz="1603" strike="noStrike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Jiao, G., Huang, M., Song, Y., Li, H., &amp; Wang, X. (2026). Online joint optimization of order picking process in robotic mobile fulfillment systems. Omega, 138, 103374.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352415" y="8340064"/>
            <a:ext cx="7818863" cy="21315"/>
            <a:chOff x="0" y="0"/>
            <a:chExt cx="9838944" cy="2682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838944" cy="26797"/>
            </a:xfrm>
            <a:custGeom>
              <a:avLst/>
              <a:gdLst/>
              <a:ahLst/>
              <a:cxnLst/>
              <a:rect r="r" b="b" t="t" l="l"/>
              <a:pathLst>
                <a:path h="26797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26797"/>
                  </a:lnTo>
                  <a:lnTo>
                    <a:pt x="0" y="26797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pic>
        <p:nvPicPr>
          <p:cNvPr name="Picture 129" id="12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202539" y="2503881"/>
            <a:ext cx="6414638" cy="1249637"/>
          </a:xfrm>
          <a:prstGeom prst="rect">
            <a:avLst/>
          </a:prstGeom>
        </p:spPr>
      </p:pic>
      <p:pic>
        <p:nvPicPr>
          <p:cNvPr name="Picture 130" id="13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4917355" y="2834223"/>
            <a:ext cx="2280529" cy="589836"/>
          </a:xfrm>
          <a:prstGeom prst="rect">
            <a:avLst/>
          </a:prstGeom>
        </p:spPr>
      </p:pic>
      <p:sp>
        <p:nvSpPr>
          <p:cNvPr name="TextBox 131" id="131"/>
          <p:cNvSpPr txBox="true"/>
          <p:nvPr/>
        </p:nvSpPr>
        <p:spPr>
          <a:xfrm rot="0">
            <a:off x="17265015" y="3005217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(16)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4335289" y="3019384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(15)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6740378" y="1933336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(14)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2569390" y="4360794"/>
            <a:ext cx="5596128" cy="21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9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 OJOOPT decision standard - </a:t>
            </a:r>
            <a:r>
              <a:rPr lang="en-US" b="true" sz="1350" strike="noStrike" u="none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Different from delta above</a:t>
            </a:r>
          </a:p>
        </p:txBody>
      </p:sp>
      <p:pic>
        <p:nvPicPr>
          <p:cNvPr name="Picture 135" id="135"/>
          <p:cNvPicPr>
            <a:picLocks noChangeAspect="true"/>
          </p:cNvPicPr>
          <p:nvPr/>
        </p:nvPicPr>
        <p:blipFill>
          <a:blip r:embed="rId33">
            <a:alphaModFix amt="70000"/>
          </a:blip>
          <a:stretch>
            <a:fillRect/>
          </a:stretch>
        </p:blipFill>
        <p:spPr>
          <a:xfrm rot="0">
            <a:off x="498462" y="4245122"/>
            <a:ext cx="872004" cy="346101"/>
          </a:xfrm>
          <a:prstGeom prst="rect">
            <a:avLst/>
          </a:prstGeom>
        </p:spPr>
      </p:pic>
      <p:pic>
        <p:nvPicPr>
          <p:cNvPr name="Picture 136" id="136"/>
          <p:cNvPicPr>
            <a:picLocks noChangeAspect="true"/>
          </p:cNvPicPr>
          <p:nvPr/>
        </p:nvPicPr>
        <p:blipFill>
          <a:blip r:embed="rId34">
            <a:alphaModFix amt="70000"/>
          </a:blip>
          <a:stretch>
            <a:fillRect/>
          </a:stretch>
        </p:blipFill>
        <p:spPr>
          <a:xfrm rot="0">
            <a:off x="549312" y="1659356"/>
            <a:ext cx="420164" cy="254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284071" cy="5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Exact Model: M4 — Online Joint OA–PS–TA Order Splitting Optimization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95139"/>
            <a:ext cx="968978" cy="58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25 頁</a:t>
            </a:r>
          </a:p>
        </p:txBody>
      </p:sp>
      <p:sp>
        <p:nvSpPr>
          <p:cNvPr name="Shape 601" id="601"/>
          <p:cNvSpPr/>
          <p:nvPr/>
        </p:nvSpPr>
        <p:spPr>
          <a:xfrm>
            <a:off x="347472" y="1051560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02" id="602"/>
          <p:cNvSpPr txBox="true"/>
          <p:nvPr/>
        </p:nvSpPr>
        <p:spPr>
          <a:xfrm>
            <a:off x="530352" y="1124712"/>
            <a:ext cx="74523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Decision Atom:  Order  →  Item</a:t>
            </a:r>
          </a:p>
        </p:txBody>
      </p:sp>
      <p:sp>
        <p:nvSpPr>
          <p:cNvPr name="Shape 603" id="603"/>
          <p:cNvSpPr/>
          <p:nvPr/>
        </p:nvSpPr>
        <p:spPr>
          <a:xfrm>
            <a:off x="347472" y="1472184"/>
            <a:ext cx="7818120" cy="1810512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04" name="Equation 6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1609344"/>
            <a:ext cx="1149858" cy="262890"/>
          </a:xfrm>
          <a:prstGeom prst="rect">
            <a:avLst/>
          </a:prstGeom>
        </p:spPr>
      </p:pic>
      <p:sp>
        <p:nvSpPr>
          <p:cNvPr name="Text 605" id="605"/>
          <p:cNvSpPr txBox="true"/>
          <p:nvPr/>
        </p:nvSpPr>
        <p:spPr>
          <a:xfrm>
            <a:off x="566928" y="1631061"/>
            <a:ext cx="51206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M1</a:t>
            </a:r>
          </a:p>
        </p:txBody>
      </p:sp>
      <p:sp>
        <p:nvSpPr>
          <p:cNvPr name="Text 606" id="606"/>
          <p:cNvSpPr txBox="true"/>
          <p:nvPr/>
        </p:nvSpPr>
        <p:spPr>
          <a:xfrm>
            <a:off x="1133856" y="1890522"/>
            <a:ext cx="6812280" cy="2540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the ORDER is the atom: assigned whole, to one workstation, in one decision</a:t>
            </a:r>
          </a:p>
        </p:txBody>
      </p:sp>
      <p:pic>
        <p:nvPicPr>
          <p:cNvPr id="607" name="Equation 6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" y="2226818"/>
            <a:ext cx="1296162" cy="274320"/>
          </a:xfrm>
          <a:prstGeom prst="rect">
            <a:avLst/>
          </a:prstGeom>
        </p:spPr>
      </p:pic>
      <p:sp>
        <p:nvSpPr>
          <p:cNvPr name="Text 608" id="608"/>
          <p:cNvSpPr txBox="true"/>
          <p:nvPr/>
        </p:nvSpPr>
        <p:spPr>
          <a:xfrm>
            <a:off x="566928" y="2254250"/>
            <a:ext cx="51206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M4</a:t>
            </a:r>
          </a:p>
        </p:txBody>
      </p:sp>
      <p:sp>
        <p:nvSpPr>
          <p:cNvPr name="Text 609" id="609"/>
          <p:cNvSpPr txBox="true"/>
          <p:nvPr/>
        </p:nvSpPr>
        <p:spPr>
          <a:xfrm>
            <a:off x="1133856" y="2519426"/>
            <a:ext cx="6812280" cy="2540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the ITEM is the atom: units of SKU i of order o drawn from pod p at w</a:t>
            </a:r>
          </a:p>
        </p:txBody>
      </p:sp>
      <p:sp>
        <p:nvSpPr>
          <p:cNvPr name="Text 610" id="610"/>
          <p:cNvSpPr txBox="true"/>
          <p:nvPr/>
        </p:nvSpPr>
        <p:spPr>
          <a:xfrm>
            <a:off x="566928" y="2874010"/>
            <a:ext cx="7379208" cy="24638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Order splitting is not an added feature; it is what the finer atom makes representable.</a:t>
            </a:r>
          </a:p>
        </p:txBody>
      </p:sp>
      <p:sp>
        <p:nvSpPr>
          <p:cNvPr name="Shape 611" id="611"/>
          <p:cNvSpPr/>
          <p:nvPr/>
        </p:nvSpPr>
        <p:spPr>
          <a:xfrm>
            <a:off x="347472" y="3429000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12" id="612"/>
          <p:cNvSpPr txBox="true"/>
          <p:nvPr/>
        </p:nvSpPr>
        <p:spPr>
          <a:xfrm>
            <a:off x="530352" y="3502152"/>
            <a:ext cx="74523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Decision Variables</a:t>
            </a:r>
          </a:p>
        </p:txBody>
      </p:sp>
      <p:sp>
        <p:nvSpPr>
          <p:cNvPr name="Shape 613" id="613"/>
          <p:cNvSpPr/>
          <p:nvPr/>
        </p:nvSpPr>
        <p:spPr>
          <a:xfrm>
            <a:off x="347472" y="3849624"/>
            <a:ext cx="7818120" cy="511149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14" id="614"/>
          <p:cNvSpPr txBox="true"/>
          <p:nvPr/>
        </p:nvSpPr>
        <p:spPr>
          <a:xfrm>
            <a:off x="566928" y="3986784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2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Valuation layer</a:t>
            </a:r>
          </a:p>
        </p:txBody>
      </p:sp>
      <p:pic>
        <p:nvPicPr>
          <p:cNvPr id="615" name="Equation 6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79392"/>
            <a:ext cx="1156716" cy="251460"/>
          </a:xfrm>
          <a:prstGeom prst="rect">
            <a:avLst/>
          </a:prstGeom>
        </p:spPr>
      </p:pic>
      <p:sp>
        <p:nvSpPr>
          <p:cNvPr name="Text 616" id="616"/>
          <p:cNvSpPr txBox="true"/>
          <p:nvPr/>
        </p:nvSpPr>
        <p:spPr>
          <a:xfrm>
            <a:off x="2962656" y="4295394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valued draw</a:t>
            </a:r>
          </a:p>
        </p:txBody>
      </p:sp>
      <p:pic>
        <p:nvPicPr>
          <p:cNvPr id="617" name="Equation 6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604004"/>
            <a:ext cx="964692" cy="240030"/>
          </a:xfrm>
          <a:prstGeom prst="rect">
            <a:avLst/>
          </a:prstGeom>
        </p:spPr>
      </p:pic>
      <p:sp>
        <p:nvSpPr>
          <p:cNvPr name="Text 618" id="618"/>
          <p:cNvSpPr txBox="true"/>
          <p:nvPr/>
        </p:nvSpPr>
        <p:spPr>
          <a:xfrm>
            <a:off x="2962656" y="4614291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line (o, i) is closed in full</a:t>
            </a:r>
          </a:p>
        </p:txBody>
      </p:sp>
      <p:pic>
        <p:nvPicPr>
          <p:cNvPr id="619" name="Equation 6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917186"/>
            <a:ext cx="866394" cy="283464"/>
          </a:xfrm>
          <a:prstGeom prst="rect">
            <a:avLst/>
          </a:prstGeom>
        </p:spPr>
      </p:pic>
      <p:sp>
        <p:nvSpPr>
          <p:cNvPr name="Text 620" id="620"/>
          <p:cNvSpPr txBox="true"/>
          <p:nvPr/>
        </p:nvSpPr>
        <p:spPr>
          <a:xfrm>
            <a:off x="2962656" y="4949190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every line of order o is closed</a:t>
            </a:r>
          </a:p>
        </p:txBody>
      </p:sp>
      <p:sp>
        <p:nvSpPr>
          <p:cNvPr name="Text 621" id="621"/>
          <p:cNvSpPr txBox="true"/>
          <p:nvPr/>
        </p:nvSpPr>
        <p:spPr>
          <a:xfrm>
            <a:off x="566928" y="5365242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2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Binding layer</a:t>
            </a:r>
          </a:p>
        </p:txBody>
      </p:sp>
      <p:pic>
        <p:nvPicPr>
          <p:cNvPr id="622" name="Equation 6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5657850"/>
            <a:ext cx="1152144" cy="237744"/>
          </a:xfrm>
          <a:prstGeom prst="rect">
            <a:avLst/>
          </a:prstGeom>
        </p:spPr>
      </p:pic>
      <p:sp>
        <p:nvSpPr>
          <p:cNvPr name="Text 623" id="623"/>
          <p:cNvSpPr txBox="true"/>
          <p:nvPr/>
        </p:nvSpPr>
        <p:spPr>
          <a:xfrm>
            <a:off x="2962656" y="5666994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executed draw</a:t>
            </a:r>
          </a:p>
        </p:txBody>
      </p:sp>
      <p:pic>
        <p:nvPicPr>
          <p:cNvPr id="624" name="Equation 6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5968746"/>
            <a:ext cx="1021842" cy="233172"/>
          </a:xfrm>
          <a:prstGeom prst="rect">
            <a:avLst/>
          </a:prstGeom>
        </p:spPr>
      </p:pic>
      <p:sp>
        <p:nvSpPr>
          <p:cNvPr name="Text 625" id="625"/>
          <p:cNvSpPr txBox="true"/>
          <p:nvPr/>
        </p:nvSpPr>
        <p:spPr>
          <a:xfrm>
            <a:off x="2962656" y="5975604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order o occupies a slot at w</a:t>
            </a:r>
          </a:p>
        </p:txBody>
      </p:sp>
      <p:pic>
        <p:nvPicPr>
          <p:cNvPr id="626" name="Equation 6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6279642"/>
            <a:ext cx="1218438" cy="233172"/>
          </a:xfrm>
          <a:prstGeom prst="rect">
            <a:avLst/>
          </a:prstGeom>
        </p:spPr>
      </p:pic>
      <p:sp>
        <p:nvSpPr>
          <p:cNvPr name="Text 627" id="627"/>
          <p:cNvSpPr txBox="true"/>
          <p:nvPr/>
        </p:nvSpPr>
        <p:spPr>
          <a:xfrm>
            <a:off x="2962656" y="6286500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bound line closure and completion</a:t>
            </a:r>
          </a:p>
        </p:txBody>
      </p:sp>
      <p:sp>
        <p:nvSpPr>
          <p:cNvPr name="Text 628" id="628"/>
          <p:cNvSpPr txBox="true"/>
          <p:nvPr/>
        </p:nvSpPr>
        <p:spPr>
          <a:xfrm>
            <a:off x="566928" y="6681978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2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Inherited from M1</a:t>
            </a:r>
          </a:p>
        </p:txBody>
      </p:sp>
      <p:pic>
        <p:nvPicPr>
          <p:cNvPr id="629" name="Equation 6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6974586"/>
            <a:ext cx="1410462" cy="242316"/>
          </a:xfrm>
          <a:prstGeom prst="rect">
            <a:avLst/>
          </a:prstGeom>
        </p:spPr>
      </p:pic>
      <p:sp>
        <p:nvSpPr>
          <p:cNvPr name="Text 630" id="630"/>
          <p:cNvSpPr txBox="true"/>
          <p:nvPr/>
        </p:nvSpPr>
        <p:spPr>
          <a:xfrm>
            <a:off x="2962656" y="6986016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pod and robot assignment, unchanged</a:t>
            </a:r>
          </a:p>
        </p:txBody>
      </p:sp>
      <p:sp>
        <p:nvSpPr>
          <p:cNvPr name="Shape 631" id="631"/>
          <p:cNvSpPr/>
          <p:nvPr/>
        </p:nvSpPr>
        <p:spPr>
          <a:xfrm>
            <a:off x="566928" y="7381494"/>
            <a:ext cx="73792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32" id="632"/>
          <p:cNvSpPr txBox="true"/>
          <p:nvPr/>
        </p:nvSpPr>
        <p:spPr>
          <a:xfrm>
            <a:off x="566928" y="7546086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2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No longer required</a:t>
            </a:r>
          </a:p>
        </p:txBody>
      </p:sp>
      <p:pic>
        <p:nvPicPr>
          <p:cNvPr id="633" name="Equation 6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7838694"/>
            <a:ext cx="480060" cy="237744"/>
          </a:xfrm>
          <a:prstGeom prst="rect">
            <a:avLst/>
          </a:prstGeom>
        </p:spPr>
      </p:pic>
      <p:sp>
        <p:nvSpPr>
          <p:cNvPr name="Text 634" id="634"/>
          <p:cNvSpPr txBox="true"/>
          <p:nvPr/>
        </p:nvSpPr>
        <p:spPr>
          <a:xfrm>
            <a:off x="1755648" y="7838694"/>
            <a:ext cx="6190488" cy="4318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the draw variable already names the (order, pod, workstation) triple, so this auxiliary variable and constraints (12)-(13) are subsumed</a:t>
            </a:r>
          </a:p>
        </p:txBody>
      </p:sp>
      <p:pic>
        <p:nvPicPr>
          <p:cNvPr id="635" name="Equation 6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8316214"/>
            <a:ext cx="233172" cy="235458"/>
          </a:xfrm>
          <a:prstGeom prst="rect">
            <a:avLst/>
          </a:prstGeom>
        </p:spPr>
      </p:pic>
      <p:sp>
        <p:nvSpPr>
          <p:cNvPr name="Text 636" id="636"/>
          <p:cNvSpPr txBox="true"/>
          <p:nvPr/>
        </p:nvSpPr>
        <p:spPr>
          <a:xfrm>
            <a:off x="1755648" y="8337423"/>
            <a:ext cx="6190488" cy="23876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with (4) relaxed to an inequality there is no unused capacity to price</a:t>
            </a:r>
          </a:p>
        </p:txBody>
      </p:sp>
      <p:sp>
        <p:nvSpPr>
          <p:cNvPr name="Shape 637" id="637"/>
          <p:cNvSpPr/>
          <p:nvPr/>
        </p:nvSpPr>
        <p:spPr>
          <a:xfrm>
            <a:off x="8513064" y="105156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38" id="638"/>
          <p:cNvSpPr txBox="true"/>
          <p:nvPr/>
        </p:nvSpPr>
        <p:spPr>
          <a:xfrm>
            <a:off x="8695944" y="1124712"/>
            <a:ext cx="90525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Objective:  Fixed Weights  →  Measured Prices</a:t>
            </a:r>
          </a:p>
        </p:txBody>
      </p:sp>
      <p:sp>
        <p:nvSpPr>
          <p:cNvPr name="Shape 639" id="639"/>
          <p:cNvSpPr/>
          <p:nvPr/>
        </p:nvSpPr>
        <p:spPr>
          <a:xfrm>
            <a:off x="8513064" y="1472184"/>
            <a:ext cx="9418320" cy="3291840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40" id="640"/>
          <p:cNvSpPr txBox="true"/>
          <p:nvPr/>
        </p:nvSpPr>
        <p:spPr>
          <a:xfrm>
            <a:off x="8732520" y="1609344"/>
            <a:ext cx="8979408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M1 (14)</a:t>
            </a: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   a weighted linear sum of orders, distance and idle capacity; the three weights are fixed in advance.</a:t>
            </a:r>
          </a:p>
        </p:txBody>
      </p:sp>
      <p:sp>
        <p:nvSpPr>
          <p:cNvPr name="Text 641" id="641"/>
          <p:cNvSpPr txBox="true"/>
          <p:nvPr/>
        </p:nvSpPr>
        <p:spPr>
          <a:xfrm>
            <a:off x="8732520" y="1920240"/>
            <a:ext cx="713232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M4</a:t>
            </a:r>
          </a:p>
        </p:txBody>
      </p:sp>
      <p:pic>
        <p:nvPicPr>
          <p:cNvPr id="642" name="Equation 6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45752" y="1883664"/>
            <a:ext cx="880110" cy="246888"/>
          </a:xfrm>
          <a:prstGeom prst="rect">
            <a:avLst/>
          </a:prstGeom>
        </p:spPr>
      </p:pic>
      <p:pic>
        <p:nvPicPr>
          <p:cNvPr id="643" name="Equation 64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23960" y="2276856"/>
            <a:ext cx="5705856" cy="443484"/>
          </a:xfrm>
          <a:prstGeom prst="rect">
            <a:avLst/>
          </a:prstGeom>
        </p:spPr>
      </p:pic>
      <p:sp>
        <p:nvSpPr>
          <p:cNvPr name="Text 644" id="644"/>
          <p:cNvSpPr txBox="true"/>
          <p:nvPr/>
        </p:nvSpPr>
        <p:spPr>
          <a:xfrm>
            <a:off x="8732520" y="2811780"/>
            <a:ext cx="8979408" cy="60426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9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 and V are both in metres. mu = distance per completed order and beta = bound over valued completions, both read off the run in progress; M1 pins the same ratio by hand at 40 / 1000. Dinkelbach solves min D - V at the current lambda, and mu, epsilon and rho scale with it, so only the level moves and never V's shape.</a:t>
            </a:r>
          </a:p>
        </p:txBody>
      </p:sp>
      <p:sp>
        <p:nvSpPr>
          <p:cNvPr name="Shape 645" id="645"/>
          <p:cNvSpPr/>
          <p:nvPr/>
        </p:nvSpPr>
        <p:spPr>
          <a:xfrm>
            <a:off x="8732520" y="3507486"/>
            <a:ext cx="89794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46" id="646"/>
          <p:cNvSpPr txBox="true"/>
          <p:nvPr/>
        </p:nvSpPr>
        <p:spPr>
          <a:xfrm>
            <a:off x="8732520" y="3644646"/>
            <a:ext cx="8979408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Pod tier  ρ  —  binding layer only</a:t>
            </a: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    only bound draws have a real-world effect.</a:t>
            </a:r>
          </a:p>
        </p:txBody>
      </p:sp>
      <p:pic>
        <p:nvPicPr>
          <p:cNvPr id="647" name="Equation 6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23960" y="3937254"/>
            <a:ext cx="3483864" cy="226314"/>
          </a:xfrm>
          <a:prstGeom prst="rect">
            <a:avLst/>
          </a:prstGeom>
        </p:spPr>
      </p:pic>
      <p:sp>
        <p:nvSpPr>
          <p:cNvPr name="Text 648" id="648"/>
          <p:cNvSpPr txBox="true"/>
          <p:nvPr/>
        </p:nvSpPr>
        <p:spPr>
          <a:xfrm>
            <a:off x="8732520" y="4218432"/>
            <a:ext cx="8979408" cy="41503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9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unit from a pod being picked now saves a future trip; one from a pod this decision dispatches costs an extra trip. Queued and en-route pods are already sunk, as in T1 and T2.</a:t>
            </a:r>
          </a:p>
        </p:txBody>
      </p:sp>
      <p:sp>
        <p:nvSpPr>
          <p:cNvPr name="Shape 649" id="649"/>
          <p:cNvSpPr/>
          <p:nvPr/>
        </p:nvSpPr>
        <p:spPr>
          <a:xfrm>
            <a:off x="8513064" y="489204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50" id="650"/>
          <p:cNvSpPr txBox="true"/>
          <p:nvPr/>
        </p:nvSpPr>
        <p:spPr>
          <a:xfrm>
            <a:off x="8695944" y="4965192"/>
            <a:ext cx="90525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Constraints:  What Changes from M1</a:t>
            </a:r>
          </a:p>
        </p:txBody>
      </p:sp>
      <p:sp>
        <p:nvSpPr>
          <p:cNvPr name="Shape 651" id="651"/>
          <p:cNvSpPr/>
          <p:nvPr/>
        </p:nvSpPr>
        <p:spPr>
          <a:xfrm>
            <a:off x="8513064" y="5312664"/>
            <a:ext cx="9418320" cy="364845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52" id="652"/>
          <p:cNvSpPr txBox="true"/>
          <p:nvPr/>
        </p:nvSpPr>
        <p:spPr>
          <a:xfrm>
            <a:off x="8732520" y="5449824"/>
            <a:ext cx="435254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Removed</a:t>
            </a:r>
          </a:p>
        </p:txBody>
      </p:sp>
      <p:pic>
        <p:nvPicPr>
          <p:cNvPr id="653" name="Equation 65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23960" y="5724144"/>
            <a:ext cx="987552" cy="317754"/>
          </a:xfrm>
          <a:prstGeom prst="rect">
            <a:avLst/>
          </a:prstGeom>
        </p:spPr>
      </p:pic>
      <p:pic>
        <p:nvPicPr>
          <p:cNvPr id="654" name="Equation 65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23960" y="6110478"/>
            <a:ext cx="1159002" cy="214884"/>
          </a:xfrm>
          <a:prstGeom prst="rect">
            <a:avLst/>
          </a:prstGeom>
        </p:spPr>
      </p:pic>
      <p:sp>
        <p:nvSpPr>
          <p:cNvPr name="Text 655" id="655"/>
          <p:cNvSpPr txBox="true"/>
          <p:nvPr/>
        </p:nvSpPr>
        <p:spPr>
          <a:xfrm>
            <a:off x="8732520" y="6398514"/>
            <a:ext cx="435254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Replaced</a:t>
            </a:r>
          </a:p>
        </p:txBody>
      </p:sp>
      <p:pic>
        <p:nvPicPr>
          <p:cNvPr id="656" name="Equation 65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23960" y="6672834"/>
            <a:ext cx="1881378" cy="226314"/>
          </a:xfrm>
          <a:prstGeom prst="rect">
            <a:avLst/>
          </a:prstGeom>
        </p:spPr>
      </p:pic>
      <p:pic>
        <p:nvPicPr>
          <p:cNvPr id="657" name="Equation 65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3960" y="6967728"/>
            <a:ext cx="2084832" cy="320040"/>
          </a:xfrm>
          <a:prstGeom prst="rect">
            <a:avLst/>
          </a:prstGeom>
        </p:spPr>
      </p:pic>
      <p:pic>
        <p:nvPicPr>
          <p:cNvPr id="658" name="Equation 65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23960" y="7356348"/>
            <a:ext cx="1417320" cy="345186"/>
          </a:xfrm>
          <a:prstGeom prst="rect">
            <a:avLst/>
          </a:prstGeom>
        </p:spPr>
      </p:pic>
      <p:pic>
        <p:nvPicPr>
          <p:cNvPr id="659" name="Equation 65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23960" y="7770114"/>
            <a:ext cx="1675638" cy="345186"/>
          </a:xfrm>
          <a:prstGeom prst="rect">
            <a:avLst/>
          </a:prstGeom>
        </p:spPr>
      </p:pic>
      <p:sp>
        <p:nvSpPr>
          <p:cNvPr name="Text 660" id="660"/>
          <p:cNvSpPr txBox="true"/>
          <p:nvPr/>
        </p:nvSpPr>
        <p:spPr>
          <a:xfrm>
            <a:off x="8732520" y="8183880"/>
            <a:ext cx="435254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Relaxed</a:t>
            </a:r>
          </a:p>
        </p:txBody>
      </p:sp>
      <p:pic>
        <p:nvPicPr>
          <p:cNvPr id="661" name="Equation 66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23960" y="8458200"/>
            <a:ext cx="1666494" cy="320040"/>
          </a:xfrm>
          <a:prstGeom prst="rect">
            <a:avLst/>
          </a:prstGeom>
        </p:spPr>
      </p:pic>
      <p:sp>
        <p:nvSpPr>
          <p:cNvPr name="Text 662" id="662"/>
          <p:cNvSpPr txBox="true"/>
          <p:nvPr/>
        </p:nvSpPr>
        <p:spPr>
          <a:xfrm>
            <a:off x="13359384" y="5449824"/>
            <a:ext cx="435254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Added — completion is no longer implied</a:t>
            </a:r>
          </a:p>
        </p:txBody>
      </p:sp>
      <p:pic>
        <p:nvPicPr>
          <p:cNvPr id="663" name="Equation 66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450824" y="5724144"/>
            <a:ext cx="848106" cy="260604"/>
          </a:xfrm>
          <a:prstGeom prst="rect">
            <a:avLst/>
          </a:prstGeom>
        </p:spPr>
      </p:pic>
      <p:pic>
        <p:nvPicPr>
          <p:cNvPr id="664" name="Equation 66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450824" y="6053328"/>
            <a:ext cx="1604772" cy="370332"/>
          </a:xfrm>
          <a:prstGeom prst="rect">
            <a:avLst/>
          </a:prstGeom>
        </p:spPr>
      </p:pic>
      <p:pic>
        <p:nvPicPr>
          <p:cNvPr id="665" name="Equation 66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450824" y="6492240"/>
            <a:ext cx="1394460" cy="370332"/>
          </a:xfrm>
          <a:prstGeom prst="rect">
            <a:avLst/>
          </a:prstGeom>
        </p:spPr>
      </p:pic>
      <p:pic>
        <p:nvPicPr>
          <p:cNvPr id="666" name="Equation 66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450824" y="6931152"/>
            <a:ext cx="1659636" cy="345186"/>
          </a:xfrm>
          <a:prstGeom prst="rect">
            <a:avLst/>
          </a:prstGeom>
        </p:spPr>
      </p:pic>
      <p:pic>
        <p:nvPicPr>
          <p:cNvPr id="667" name="Equation 66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450824" y="7344918"/>
            <a:ext cx="1504188" cy="260604"/>
          </a:xfrm>
          <a:prstGeom prst="rect">
            <a:avLst/>
          </a:prstGeom>
        </p:spPr>
      </p:pic>
      <p:pic>
        <p:nvPicPr>
          <p:cNvPr id="668" name="Equation 66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450824" y="7674102"/>
            <a:ext cx="832104" cy="210312"/>
          </a:xfrm>
          <a:prstGeom prst="rect">
            <a:avLst/>
          </a:prstGeom>
        </p:spPr>
      </p:pic>
      <p:sp>
        <p:nvSpPr>
          <p:cNvPr name="Text 669" id="669"/>
          <p:cNvSpPr txBox="true"/>
          <p:nvPr/>
        </p:nvSpPr>
        <p:spPr>
          <a:xfrm>
            <a:off x="13359384" y="7962138"/>
            <a:ext cx="435254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Unchanged</a:t>
            </a:r>
          </a:p>
        </p:txBody>
      </p:sp>
      <p:pic>
        <p:nvPicPr>
          <p:cNvPr id="670" name="Equation 67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450824" y="8236458"/>
            <a:ext cx="1579626" cy="2103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DAHR6N6JIg4</dc:identifier>
  <dcterms:modified xsi:type="dcterms:W3CDTF">2011-08-01T06:04:30Z</dcterms:modified>
  <cp:revision>1</cp:revision>
  <dc:title>Defense_aesop</dc:title>
</cp:coreProperties>
</file>