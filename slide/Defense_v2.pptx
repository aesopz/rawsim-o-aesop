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300" r:id="rId63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Times New Roman Bold" charset="1" panose="02020803070505020304"/>
      <p:regular r:id="rId53"/>
    </p:embeddedFont>
    <p:embeddedFont>
      <p:font typeface="Times New Roman MT" charset="1" panose="02030502070405020303"/>
      <p:regular r:id="rId54"/>
    </p:embeddedFont>
    <p:embeddedFont>
      <p:font typeface="Calibri (MS)" charset="1" panose="020F0502020204030204"/>
      <p:regular r:id="rId55"/>
    </p:embeddedFont>
    <p:embeddedFont>
      <p:font typeface="Noto Sans T Chinese" charset="1" panose="020B0500000000000000"/>
      <p:regular r:id="rId56"/>
    </p:embeddedFont>
    <p:embeddedFont>
      <p:font typeface="Times New Roman" charset="1" panose="02020603050405020304"/>
      <p:regular r:id="rId58"/>
    </p:embeddedFont>
    <p:embeddedFont>
      <p:font typeface="Calibri (MS) Bold" charset="1" panose="020F0702030404030204"/>
      <p:regular r:id="rId59"/>
    </p:embeddedFont>
    <p:embeddedFont>
      <p:font typeface="Carlito Bold" charset="1" panose="020F0502020204030204"/>
      <p:regular r:id="rId61"/>
    </p:embeddedFont>
    <p:embeddedFont>
      <p:font typeface="Times New Roman Italics" charset="1" panose="02020503050405090304"/>
      <p:regular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notesMasters/notesMaster1.xml" Type="http://schemas.openxmlformats.org/officeDocument/2006/relationships/notesMaster"/><Relationship Id="rId51" Target="theme/theme2.xml" Type="http://schemas.openxmlformats.org/officeDocument/2006/relationships/theme"/><Relationship Id="rId52" Target="notesSlides/notesSlide1.xml" Type="http://schemas.openxmlformats.org/officeDocument/2006/relationships/notes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notesSlides/notesSlide2.xml" Type="http://schemas.openxmlformats.org/officeDocument/2006/relationships/notesSlide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notesSlides/notesSlide3.xml" Type="http://schemas.openxmlformats.org/officeDocument/2006/relationships/notesSlide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63" Type="http://schemas.openxmlformats.org/officeDocument/2006/relationships/slide" Target="slides/slide45.xml"/>
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RMFS Routing組目前面臨的問題稱作，Multi-agent path finding problem，會發生衝突問題，最直接的核心原因是缺乏代理間的協同導航，意即robot之間缺乏通訊，無法主動提前決策避讓等等行為，[1] 亦提到，需要將Routing問題拆分成scheduling跟navigation，前者關注在task allocation後者關注在how to reach the destination，並指出未來需要先處理好調度問題，再根據結果開發配置的路徑演算法，並且應該採用散平行分散式系統，已達成大規模應用的方向。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然而，RMFS 的效益並不只取決於自動化設備本身，更取決於訂單、Pod、機器人與工作站之間如何協調。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5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../media/image31.png" Type="http://schemas.openxmlformats.org/officeDocument/2006/relationships/image"/><Relationship Id="rId23" Target="../media/image32.svg" Type="http://schemas.openxmlformats.org/officeDocument/2006/relationships/image"/><Relationship Id="rId24" Target="../media/image33.svg" Type="http://schemas.openxmlformats.org/officeDocument/2006/relationships/image"/><Relationship Id="rId25" Target="../media/image34.png" Type="http://schemas.openxmlformats.org/officeDocument/2006/relationships/image"/><Relationship Id="rId26" Target="../media/image35.svg" Type="http://schemas.openxmlformats.org/officeDocument/2006/relationships/image"/><Relationship Id="rId27" Target="../media/image36.png" Type="http://schemas.openxmlformats.org/officeDocument/2006/relationships/image"/><Relationship Id="rId28" Target="../media/image37.svg" Type="http://schemas.openxmlformats.org/officeDocument/2006/relationships/image"/><Relationship Id="rId29" Target="../media/image38.png" Type="http://schemas.openxmlformats.org/officeDocument/2006/relationships/image"/><Relationship Id="rId3" Target="../media/image6.png" Type="http://schemas.openxmlformats.org/officeDocument/2006/relationships/image"/><Relationship Id="rId30" Target="../media/image39.svg" Type="http://schemas.openxmlformats.org/officeDocument/2006/relationships/image"/><Relationship Id="rId31" Target="../media/image40.png" Type="http://schemas.openxmlformats.org/officeDocument/2006/relationships/image"/><Relationship Id="rId32" Target="../media/image41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63.png" Type="http://schemas.openxmlformats.org/officeDocument/2006/relationships/image"/><Relationship Id="rId16" Target="../media/image64.svg" Type="http://schemas.openxmlformats.org/officeDocument/2006/relationships/image"/><Relationship Id="rId17" Target="../media/image65.png" Type="http://schemas.openxmlformats.org/officeDocument/2006/relationships/image"/><Relationship Id="rId18" Target="../media/image66.svg" Type="http://schemas.openxmlformats.org/officeDocument/2006/relationships/image"/><Relationship Id="rId19" Target="../media/image67.png" Type="http://schemas.openxmlformats.org/officeDocument/2006/relationships/image"/><Relationship Id="rId2" Target="../media/image5.png" Type="http://schemas.openxmlformats.org/officeDocument/2006/relationships/image"/><Relationship Id="rId20" Target="../media/image68.svg" Type="http://schemas.openxmlformats.org/officeDocument/2006/relationships/image"/><Relationship Id="rId21" Target="../media/image69.svg" Type="http://schemas.openxmlformats.org/officeDocument/2006/relationships/image"/><Relationship Id="rId22" Target="../media/image70.png" Type="http://schemas.openxmlformats.org/officeDocument/2006/relationships/image"/><Relationship Id="rId23" Target="../media/image71.svg" Type="http://schemas.openxmlformats.org/officeDocument/2006/relationships/image"/><Relationship Id="rId24" Target="../media/image72.png" Type="http://schemas.openxmlformats.org/officeDocument/2006/relationships/image"/><Relationship Id="rId25" Target="../media/image73.svg" Type="http://schemas.openxmlformats.org/officeDocument/2006/relationships/image"/><Relationship Id="rId26" Target="../media/image74.png" Type="http://schemas.openxmlformats.org/officeDocument/2006/relationships/image"/><Relationship Id="rId27" Target="../media/image75.svg" Type="http://schemas.openxmlformats.org/officeDocument/2006/relationships/image"/><Relationship Id="rId28" Target="../media/image76.png" Type="http://schemas.openxmlformats.org/officeDocument/2006/relationships/image"/><Relationship Id="rId29" Target="../media/image77.svg" Type="http://schemas.openxmlformats.org/officeDocument/2006/relationships/image"/><Relationship Id="rId3" Target="../media/image6.png" Type="http://schemas.openxmlformats.org/officeDocument/2006/relationships/image"/><Relationship Id="rId30" Target="../media/image78.svg" Type="http://schemas.openxmlformats.org/officeDocument/2006/relationships/image"/><Relationship Id="rId31" Target="../media/image79.png" Type="http://schemas.openxmlformats.org/officeDocument/2006/relationships/image"/><Relationship Id="rId32" Target="../media/image80.svg" Type="http://schemas.openxmlformats.org/officeDocument/2006/relationships/image"/><Relationship Id="rId33" Target="../media/image81.png" Type="http://schemas.openxmlformats.org/officeDocument/2006/relationships/image"/><Relationship Id="rId34" Target="../media/image82.svg" Type="http://schemas.openxmlformats.org/officeDocument/2006/relationships/image"/><Relationship Id="rId35" Target="../media/image83.png" Type="http://schemas.openxmlformats.org/officeDocument/2006/relationships/image"/><Relationship Id="rId36" Target="../media/image84.svg" Type="http://schemas.openxmlformats.org/officeDocument/2006/relationships/image"/><Relationship Id="rId37" Target="../media/image85.png" Type="http://schemas.openxmlformats.org/officeDocument/2006/relationships/image"/><Relationship Id="rId38" Target="../media/image86.svg" Type="http://schemas.openxmlformats.org/officeDocument/2006/relationships/image"/><Relationship Id="rId39" Target="../media/image87.png" Type="http://schemas.openxmlformats.org/officeDocument/2006/relationships/image"/><Relationship Id="rId4" Target="../media/image4.jpeg" Type="http://schemas.openxmlformats.org/officeDocument/2006/relationships/image"/><Relationship Id="rId40" Target="../media/image88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89.png" Type="http://schemas.openxmlformats.org/officeDocument/2006/relationships/image"/><Relationship Id="rId6" Target="../media/image90.sv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svg" Type="http://schemas.openxmlformats.org/officeDocument/2006/relationships/image"/><Relationship Id="rId11" Target="../media/image100.png" Type="http://schemas.openxmlformats.org/officeDocument/2006/relationships/image"/><Relationship Id="rId12" Target="../media/image101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media/image97.svg" Type="http://schemas.openxmlformats.org/officeDocument/2006/relationships/image"/><Relationship Id="rId9" Target="../media/image9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eq_a26e0ec3cc794f16.png" Type="http://schemas.openxmlformats.org/officeDocument/2006/relationships/image"/><Relationship Id="rId5" Target="../media/eq_32117da73789851c.png" Type="http://schemas.openxmlformats.org/officeDocument/2006/relationships/image"/><Relationship Id="rId6" Target="../media/eq_1eb6a144cc51aeb7.png" Type="http://schemas.openxmlformats.org/officeDocument/2006/relationships/image"/><Relationship Id="rId7" Target="../media/eq_ad6a311524df3f09.png" Type="http://schemas.openxmlformats.org/officeDocument/2006/relationships/image"/><Relationship Id="rId8" Target="../media/eq_c8297b9eb562b65e.png" Type="http://schemas.openxmlformats.org/officeDocument/2006/relationships/image"/><Relationship Id="rId9" Target="../media/eq_0b1ee2e9b1987cab.png" Type="http://schemas.openxmlformats.org/officeDocument/2006/relationships/image"/><Relationship Id="rId10" Target="../media/eq_f282176cb3c4090b.png" Type="http://schemas.openxmlformats.org/officeDocument/2006/relationships/image"/><Relationship Id="rId11" Target="../media/eq_ea7463604251a4bf.png" Type="http://schemas.openxmlformats.org/officeDocument/2006/relationships/image"/><Relationship Id="rId12" Target="../media/eq_3c63802e697d830e.png" Type="http://schemas.openxmlformats.org/officeDocument/2006/relationships/image"/><Relationship Id="rId13" Target="../media/eq_3125a3766db90f0a.png" Type="http://schemas.openxmlformats.org/officeDocument/2006/relationships/image"/><Relationship Id="rId14" Target="../media/eq_f90388c851ffbc5c.png" Type="http://schemas.openxmlformats.org/officeDocument/2006/relationships/image"/><Relationship Id="rId15" Target="../media/eq_bc9dc16a2ef83453.png" Type="http://schemas.openxmlformats.org/officeDocument/2006/relationships/image"/><Relationship Id="rId16" Target="../media/eq_1766a6a24b461f28.png" Type="http://schemas.openxmlformats.org/officeDocument/2006/relationships/image"/><Relationship Id="rId17" Target="../media/eq_c60e6507f90be855.png" Type="http://schemas.openxmlformats.org/officeDocument/2006/relationships/image"/><Relationship Id="rId18" Target="../media/eq_557486c51ad42b7c.png" Type="http://schemas.openxmlformats.org/officeDocument/2006/relationships/image"/><Relationship Id="rId19" Target="../media/eq_9620b54db175f2ff.png" Type="http://schemas.openxmlformats.org/officeDocument/2006/relationships/image"/><Relationship Id="rId20" Target="../media/eq_730d29d874a8bcc0.png" Type="http://schemas.openxmlformats.org/officeDocument/2006/relationships/image"/><Relationship Id="rId21" Target="../media/eq_04a9dce249e45925.png" Type="http://schemas.openxmlformats.org/officeDocument/2006/relationships/image"/><Relationship Id="rId22" Target="../media/eq_ed095c5529861283.png" Type="http://schemas.openxmlformats.org/officeDocument/2006/relationships/image"/><Relationship Id="rId23" Target="../media/eq_0a84ab7cf695272f.png" Type="http://schemas.openxmlformats.org/officeDocument/2006/relationships/image"/><Relationship Id="rId24" Target="../media/eq_07e0347281484c99.png" Type="http://schemas.openxmlformats.org/officeDocument/2006/relationships/image"/><Relationship Id="rId25" Target="../media/eq_c407398145cb1795.png" Type="http://schemas.openxmlformats.org/officeDocument/2006/relationships/image"/><Relationship Id="rId26" Target="../media/eq_1a917b7206aa67b5.png" Type="http://schemas.openxmlformats.org/officeDocument/2006/relationships/image"/><Relationship Id="rId27" Target="../media/eq_e910e01029eb644b.png" Type="http://schemas.openxmlformats.org/officeDocument/2006/relationships/image"/><Relationship Id="rId28" Target="../media/eq_df8d27ab2a9d0ba2.png" Type="http://schemas.openxmlformats.org/officeDocument/2006/relationships/image"/><Relationship Id="rId29" Target="../media/eq_e5577fc21fc76f2b.png" Type="http://schemas.openxmlformats.org/officeDocument/2006/relationships/image"/><Relationship Id="rId30" Target="../media/eq_644bef869b255200.png" Type="http://schemas.openxmlformats.org/officeDocument/2006/relationships/image"/><Relationship Id="rId31" Target="../media/eq_98fe5a353d50e738.png" Type="http://schemas.openxmlformats.org/officeDocument/2006/relationships/image"/><Relationship Id="rId32" Target="../media/eq_651c78df30abdba5.png" Type="http://schemas.openxmlformats.org/officeDocument/2006/relationships/image"/><Relationship Id="rId33" Target="../media/eq_949ef6f4285db68f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eq_bb8ecba5d2b9fb45.png" Type="http://schemas.openxmlformats.org/officeDocument/2006/relationships/image"/><Relationship Id="rId5" Target="../media/eq_4ee382779219c306.png" Type="http://schemas.openxmlformats.org/officeDocument/2006/relationships/image"/><Relationship Id="rId6" Target="../media/eq_78b3fe564fd3c54e.png" Type="http://schemas.openxmlformats.org/officeDocument/2006/relationships/image"/><Relationship Id="rId7" Target="../media/eq_86578df954674180.png" Type="http://schemas.openxmlformats.org/officeDocument/2006/relationships/image"/><Relationship Id="rId8" Target="../media/eq_208cb1a9f18e28f5.png" Type="http://schemas.openxmlformats.org/officeDocument/2006/relationships/image"/><Relationship Id="rId9" Target="../media/eq_2f0bfb96c430ca91.png" Type="http://schemas.openxmlformats.org/officeDocument/2006/relationships/image"/><Relationship Id="rId10" Target="../media/eq_eb440dee5714b788.png" Type="http://schemas.openxmlformats.org/officeDocument/2006/relationships/image"/><Relationship Id="rId11" Target="../media/eq_3060b5cbc25edf25.png" Type="http://schemas.openxmlformats.org/officeDocument/2006/relationships/image"/><Relationship Id="rId12" Target="../media/eq_a6c5ae5ae679dd4b.png" Type="http://schemas.openxmlformats.org/officeDocument/2006/relationships/image"/><Relationship Id="rId13" Target="../media/eq_8af806c3bf7251c3.png" Type="http://schemas.openxmlformats.org/officeDocument/2006/relationships/image"/><Relationship Id="rId14" Target="../media/eq_fd00f10fad9604a2.png" Type="http://schemas.openxmlformats.org/officeDocument/2006/relationships/image"/><Relationship Id="rId15" Target="../media/eq_14d61f717fad982f.png" Type="http://schemas.openxmlformats.org/officeDocument/2006/relationships/image"/><Relationship Id="rId16" Target="../media/eq_710b18b49b4ba8c8.png" Type="http://schemas.openxmlformats.org/officeDocument/2006/relationships/image"/><Relationship Id="rId17" Target="../media/eq_d8d6605ec075385e.png" Type="http://schemas.openxmlformats.org/officeDocument/2006/relationships/image"/><Relationship Id="rId18" Target="../media/eq_140d7e0afbc9b9e8.png" Type="http://schemas.openxmlformats.org/officeDocument/2006/relationships/image"/><Relationship Id="rId19" Target="../media/eq_2628f8d79b40cae1.png" Type="http://schemas.openxmlformats.org/officeDocument/2006/relationships/image"/><Relationship Id="rId20" Target="../media/eq_c2ca0916c41a6a4a.png" Type="http://schemas.openxmlformats.org/officeDocument/2006/relationships/image"/><Relationship Id="rId21" Target="../media/eq_0134d63463d8427c.png" Type="http://schemas.openxmlformats.org/officeDocument/2006/relationships/image"/><Relationship Id="rId22" Target="../media/eq_e259e3cf5d8bd807.png" Type="http://schemas.openxmlformats.org/officeDocument/2006/relationships/image"/><Relationship Id="rId23" Target="../media/eq_079cc582b37a0659.png" Type="http://schemas.openxmlformats.org/officeDocument/2006/relationships/image"/><Relationship Id="rId24" Target="../media/eq_3fab0ae5ff0ed062.png" Type="http://schemas.openxmlformats.org/officeDocument/2006/relationships/image"/><Relationship Id="rId25" Target="../media/eq_1eb578f24c804159.png" Type="http://schemas.openxmlformats.org/officeDocument/2006/relationships/image"/><Relationship Id="rId26" Target="../media/eq_17690de418fb9b74.png" Type="http://schemas.openxmlformats.org/officeDocument/2006/relationships/image"/><Relationship Id="rId27" Target="../media/eq_cd12f74349fe2412.png" Type="http://schemas.openxmlformats.org/officeDocument/2006/relationships/image"/><Relationship Id="rId28" Target="../media/eq_21dcd685c03c8b36.png" Type="http://schemas.openxmlformats.org/officeDocument/2006/relationships/image"/><Relationship Id="rId29" Target="../media/eq_056c2e8b515b7661.png" Type="http://schemas.openxmlformats.org/officeDocument/2006/relationships/image"/><Relationship Id="rId30" Target="../media/eq_f34c239c2d061db9.png" Type="http://schemas.openxmlformats.org/officeDocument/2006/relationships/image"/><Relationship Id="rId31" Target="../media/eq_cf449c797d059398.png" Type="http://schemas.openxmlformats.org/officeDocument/2006/relationships/image"/><Relationship Id="rId32" Target="../media/eq_748b3f47ce11dac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eq_f68a4d7023f791ae.png" Type="http://schemas.openxmlformats.org/officeDocument/2006/relationships/image"/><Relationship Id="rId5" Target="../media/eq_1ea999b668bb5461.png" Type="http://schemas.openxmlformats.org/officeDocument/2006/relationships/image"/><Relationship Id="rId6" Target="../media/eq_ff2e65c8f74e56a1.png" Type="http://schemas.openxmlformats.org/officeDocument/2006/relationships/image"/><Relationship Id="rId7" Target="../media/eq_93842db057b2794c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eq_e5ed28088d67ac9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eq_2ff9892277e6f7df.png" Type="http://schemas.openxmlformats.org/officeDocument/2006/relationships/image"/><Relationship Id="rId5" Target="../media/eq_c3a6f54661252db3.png" Type="http://schemas.openxmlformats.org/officeDocument/2006/relationships/image"/><Relationship Id="rId6" Target="../media/eq_33903ed2fb422f91.png" Type="http://schemas.openxmlformats.org/officeDocument/2006/relationships/image"/><Relationship Id="rId7" Target="../media/eq_8e6ee1b9b92f36da.png" Type="http://schemas.openxmlformats.org/officeDocument/2006/relationships/image"/><Relationship Id="rId8" Target="../media/eq_2743a559aeb20258.png" Type="http://schemas.openxmlformats.org/officeDocument/2006/relationships/image"/><Relationship Id="rId9" Target="../media/eq_2b741f9bd2ac2f86.png" Type="http://schemas.openxmlformats.org/officeDocument/2006/relationships/image"/><Relationship Id="rId10" Target="../media/eq_1479e7868a4b4f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73481" y="9584350"/>
            <a:ext cx="525780" cy="487489"/>
          </a:xfrm>
          <a:custGeom>
            <a:avLst/>
            <a:gdLst/>
            <a:ahLst/>
            <a:cxnLst/>
            <a:rect r="r" b="b" t="t" l="l"/>
            <a:pathLst>
              <a:path h="487489" w="525780">
                <a:moveTo>
                  <a:pt x="0" y="0"/>
                </a:moveTo>
                <a:lnTo>
                  <a:pt x="525780" y="0"/>
                </a:lnTo>
                <a:lnTo>
                  <a:pt x="525780" y="487490"/>
                </a:lnTo>
                <a:lnTo>
                  <a:pt x="0" y="487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0081" y="856594"/>
            <a:ext cx="16379352" cy="2422673"/>
            <a:chOff x="0" y="0"/>
            <a:chExt cx="21839136" cy="3230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39132" cy="3230230"/>
            </a:xfrm>
            <a:custGeom>
              <a:avLst/>
              <a:gdLst/>
              <a:ahLst/>
              <a:cxnLst/>
              <a:rect r="r" b="b" t="t" l="l"/>
              <a:pathLst>
                <a:path h="3230230" w="21839132">
                  <a:moveTo>
                    <a:pt x="0" y="0"/>
                  </a:moveTo>
                  <a:lnTo>
                    <a:pt x="21839132" y="0"/>
                  </a:lnTo>
                  <a:lnTo>
                    <a:pt x="21839132" y="3230230"/>
                  </a:lnTo>
                  <a:lnTo>
                    <a:pt x="0" y="32302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735" r="0" b="-817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839136" cy="32111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35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Online Joint Optimization of the Order Picking Process with Split Orders </a:t>
              </a:r>
            </a:p>
            <a:p>
              <a:pPr algn="ctr">
                <a:lnSpc>
                  <a:spcPts val="3780"/>
                </a:lnSpc>
              </a:pPr>
              <a:r>
                <a:rPr lang="en-US" sz="35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 Robotic Mobile Fulfillment Systems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60371" y="6453530"/>
            <a:ext cx="13716000" cy="281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Kai-Hsiang, Chuang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2026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Industrial Management Department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Internet of Things Innovation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National Taiwan University of Science and 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4069" y="4650867"/>
            <a:ext cx="12324531" cy="48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5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考慮訂單拆分之機器人移動履行系統揀貨流程線上聯合最佳化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2" r="-3" b="-13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78650" r="0" b="-17864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1565" y="9624127"/>
            <a:ext cx="69379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Copyright@2026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 頁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73481" y="9584350"/>
            <a:ext cx="525780" cy="487489"/>
          </a:xfrm>
          <a:custGeom>
            <a:avLst/>
            <a:gdLst/>
            <a:ahLst/>
            <a:cxnLst/>
            <a:rect r="r" b="b" t="t" l="l"/>
            <a:pathLst>
              <a:path h="487489" w="525780">
                <a:moveTo>
                  <a:pt x="0" y="0"/>
                </a:moveTo>
                <a:lnTo>
                  <a:pt x="525780" y="0"/>
                </a:lnTo>
                <a:lnTo>
                  <a:pt x="525780" y="487490"/>
                </a:lnTo>
                <a:lnTo>
                  <a:pt x="0" y="487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18288000" cy="49371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60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" r="-3" b="-13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78650" r="0" b="-17864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 頁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8090" y="9594056"/>
            <a:ext cx="525780" cy="487489"/>
          </a:xfrm>
          <a:custGeom>
            <a:avLst/>
            <a:gdLst/>
            <a:ahLst/>
            <a:cxnLst/>
            <a:rect r="r" b="b" t="t" l="l"/>
            <a:pathLst>
              <a:path h="487489" w="525780">
                <a:moveTo>
                  <a:pt x="0" y="0"/>
                </a:moveTo>
                <a:lnTo>
                  <a:pt x="525780" y="0"/>
                </a:lnTo>
                <a:lnTo>
                  <a:pt x="525780" y="487490"/>
                </a:lnTo>
                <a:lnTo>
                  <a:pt x="0" y="487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2" r="-3" b="-13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8650" r="0" b="-17864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1673" y="1330947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1666" y="1330947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Background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901666" y="2249996"/>
            <a:ext cx="6792325" cy="20003"/>
            <a:chOff x="0" y="0"/>
            <a:chExt cx="9056434" cy="26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51673" y="3320948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1666" y="3320948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Gap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901666" y="4239997"/>
            <a:ext cx="6792325" cy="20003"/>
            <a:chOff x="0" y="0"/>
            <a:chExt cx="9056434" cy="26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51673" y="5310950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01666" y="5310950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901666" y="6229998"/>
            <a:ext cx="6792325" cy="20003"/>
            <a:chOff x="0" y="0"/>
            <a:chExt cx="9056434" cy="266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51673" y="7300951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1666" y="7300951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901666" y="8219999"/>
            <a:ext cx="6792325" cy="20003"/>
            <a:chOff x="0" y="0"/>
            <a:chExt cx="9056434" cy="266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593999" y="1330947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44002" y="1330947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144002" y="2249996"/>
            <a:ext cx="6792325" cy="20003"/>
            <a:chOff x="0" y="0"/>
            <a:chExt cx="9056434" cy="266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593999" y="3342437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44002" y="3342437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 and Results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144002" y="4261485"/>
            <a:ext cx="6792325" cy="20003"/>
            <a:chOff x="0" y="0"/>
            <a:chExt cx="9056434" cy="266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593999" y="5353926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44002" y="5353926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144002" y="6272975"/>
            <a:ext cx="6792325" cy="20003"/>
            <a:chOff x="0" y="0"/>
            <a:chExt cx="9056434" cy="266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588560" y="7214159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38554" y="7214159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138554" y="8133207"/>
            <a:ext cx="6792325" cy="20003"/>
            <a:chOff x="0" y="0"/>
            <a:chExt cx="9056434" cy="266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 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  Research Background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 頁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268" y="1469527"/>
            <a:ext cx="8674732" cy="725408"/>
            <a:chOff x="0" y="0"/>
            <a:chExt cx="5492148" cy="459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2161" cy="459321"/>
            </a:xfrm>
            <a:custGeom>
              <a:avLst/>
              <a:gdLst/>
              <a:ahLst/>
              <a:cxnLst/>
              <a:rect r="r" b="b" t="t" l="l"/>
              <a:pathLst>
                <a:path h="459321" w="5492161">
                  <a:moveTo>
                    <a:pt x="0" y="0"/>
                  </a:moveTo>
                  <a:lnTo>
                    <a:pt x="5492161" y="0"/>
                  </a:lnTo>
                  <a:lnTo>
                    <a:pt x="5492161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83528" y="7955982"/>
            <a:ext cx="5665215" cy="1302318"/>
            <a:chOff x="0" y="0"/>
            <a:chExt cx="1492073" cy="3429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2073" cy="342997"/>
            </a:xfrm>
            <a:custGeom>
              <a:avLst/>
              <a:gdLst/>
              <a:ahLst/>
              <a:cxnLst/>
              <a:rect r="r" b="b" t="t" l="l"/>
              <a:pathLst>
                <a:path h="342997" w="1492073">
                  <a:moveTo>
                    <a:pt x="69695" y="0"/>
                  </a:moveTo>
                  <a:lnTo>
                    <a:pt x="1422378" y="0"/>
                  </a:lnTo>
                  <a:cubicBezTo>
                    <a:pt x="1440862" y="0"/>
                    <a:pt x="1458589" y="7343"/>
                    <a:pt x="1471660" y="20413"/>
                  </a:cubicBezTo>
                  <a:cubicBezTo>
                    <a:pt x="1484730" y="33484"/>
                    <a:pt x="1492073" y="51211"/>
                    <a:pt x="1492073" y="69695"/>
                  </a:cubicBezTo>
                  <a:lnTo>
                    <a:pt x="1492073" y="273302"/>
                  </a:lnTo>
                  <a:cubicBezTo>
                    <a:pt x="1492073" y="311794"/>
                    <a:pt x="1460870" y="342997"/>
                    <a:pt x="1422378" y="342997"/>
                  </a:cubicBezTo>
                  <a:lnTo>
                    <a:pt x="69695" y="342997"/>
                  </a:lnTo>
                  <a:cubicBezTo>
                    <a:pt x="31204" y="342997"/>
                    <a:pt x="0" y="311794"/>
                    <a:pt x="0" y="273302"/>
                  </a:cubicBezTo>
                  <a:lnTo>
                    <a:pt x="0" y="69695"/>
                  </a:lnTo>
                  <a:cubicBezTo>
                    <a:pt x="0" y="31204"/>
                    <a:pt x="31204" y="0"/>
                    <a:pt x="69695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92073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E-commerce growth drives higher order demand and shorter turnaround times.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33016" y="7955982"/>
            <a:ext cx="6878212" cy="1302318"/>
            <a:chOff x="0" y="0"/>
            <a:chExt cx="1811546" cy="342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1546" cy="342997"/>
            </a:xfrm>
            <a:custGeom>
              <a:avLst/>
              <a:gdLst/>
              <a:ahLst/>
              <a:cxnLst/>
              <a:rect r="r" b="b" t="t" l="l"/>
              <a:pathLst>
                <a:path h="342997" w="1811546">
                  <a:moveTo>
                    <a:pt x="57404" y="0"/>
                  </a:moveTo>
                  <a:lnTo>
                    <a:pt x="1754142" y="0"/>
                  </a:lnTo>
                  <a:cubicBezTo>
                    <a:pt x="1785845" y="0"/>
                    <a:pt x="1811546" y="25701"/>
                    <a:pt x="1811546" y="57404"/>
                  </a:cubicBezTo>
                  <a:lnTo>
                    <a:pt x="1811546" y="285593"/>
                  </a:lnTo>
                  <a:cubicBezTo>
                    <a:pt x="1811546" y="300818"/>
                    <a:pt x="1805498" y="315419"/>
                    <a:pt x="1794732" y="326184"/>
                  </a:cubicBezTo>
                  <a:cubicBezTo>
                    <a:pt x="1783967" y="336949"/>
                    <a:pt x="1769366" y="342997"/>
                    <a:pt x="1754142" y="342997"/>
                  </a:cubicBezTo>
                  <a:lnTo>
                    <a:pt x="57404" y="342997"/>
                  </a:lnTo>
                  <a:cubicBezTo>
                    <a:pt x="25701" y="342997"/>
                    <a:pt x="0" y="317297"/>
                    <a:pt x="0" y="285593"/>
                  </a:cubicBezTo>
                  <a:lnTo>
                    <a:pt x="0" y="57404"/>
                  </a:lnTo>
                  <a:cubicBezTo>
                    <a:pt x="0" y="25701"/>
                    <a:pt x="25701" y="0"/>
                    <a:pt x="57404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11546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traditional person-to-goods picking,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worker travel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accounts for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up to 50% of picking time.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53120" y="4790082"/>
            <a:ext cx="1043980" cy="474646"/>
            <a:chOff x="0" y="0"/>
            <a:chExt cx="274958" cy="1250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958" cy="125010"/>
            </a:xfrm>
            <a:custGeom>
              <a:avLst/>
              <a:gdLst/>
              <a:ahLst/>
              <a:cxnLst/>
              <a:rect r="r" b="b" t="t" l="l"/>
              <a:pathLst>
                <a:path h="125010" w="274958">
                  <a:moveTo>
                    <a:pt x="62505" y="0"/>
                  </a:moveTo>
                  <a:lnTo>
                    <a:pt x="212453" y="0"/>
                  </a:lnTo>
                  <a:cubicBezTo>
                    <a:pt x="246973" y="0"/>
                    <a:pt x="274958" y="27984"/>
                    <a:pt x="274958" y="62505"/>
                  </a:cubicBezTo>
                  <a:lnTo>
                    <a:pt x="274958" y="62505"/>
                  </a:lnTo>
                  <a:cubicBezTo>
                    <a:pt x="274958" y="97025"/>
                    <a:pt x="246973" y="125010"/>
                    <a:pt x="212453" y="125010"/>
                  </a:cubicBezTo>
                  <a:lnTo>
                    <a:pt x="62505" y="125010"/>
                  </a:lnTo>
                  <a:cubicBezTo>
                    <a:pt x="27984" y="125010"/>
                    <a:pt x="0" y="97025"/>
                    <a:pt x="0" y="62505"/>
                  </a:cubicBezTo>
                  <a:lnTo>
                    <a:pt x="0" y="62505"/>
                  </a:lnTo>
                  <a:cubicBezTo>
                    <a:pt x="0" y="27984"/>
                    <a:pt x="27984" y="0"/>
                    <a:pt x="62505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4958" cy="163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1673" y="531428"/>
            <a:ext cx="1600000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5 頁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69268" y="2193575"/>
            <a:ext cx="8693735" cy="4993242"/>
          </a:xfrm>
          <a:custGeom>
            <a:avLst/>
            <a:gdLst/>
            <a:ahLst/>
            <a:cxnLst/>
            <a:rect r="r" b="b" t="t" l="l"/>
            <a:pathLst>
              <a:path h="4993242" w="8693735">
                <a:moveTo>
                  <a:pt x="0" y="0"/>
                </a:moveTo>
                <a:lnTo>
                  <a:pt x="8693734" y="0"/>
                </a:lnTo>
                <a:lnTo>
                  <a:pt x="8693734" y="4993242"/>
                </a:lnTo>
                <a:lnTo>
                  <a:pt x="0" y="4993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480718" y="7298757"/>
            <a:ext cx="865183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Statista Research Department, “Retail E-Commerce Sales Worldwide from 2022 to 2028,” Statista.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2657" y="1535436"/>
            <a:ext cx="8586957" cy="73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Global retail e-commerce revenue projections between 2022 and 2028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041609" y="1468168"/>
            <a:ext cx="6310063" cy="725408"/>
            <a:chOff x="0" y="0"/>
            <a:chExt cx="3995028" cy="4592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95041" cy="459321"/>
            </a:xfrm>
            <a:custGeom>
              <a:avLst/>
              <a:gdLst/>
              <a:ahLst/>
              <a:cxnLst/>
              <a:rect r="r" b="b" t="t" l="l"/>
              <a:pathLst>
                <a:path h="459321" w="3995041">
                  <a:moveTo>
                    <a:pt x="0" y="0"/>
                  </a:moveTo>
                  <a:lnTo>
                    <a:pt x="3995041" y="0"/>
                  </a:lnTo>
                  <a:lnTo>
                    <a:pt x="3995041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0041609" y="2117281"/>
            <a:ext cx="6334123" cy="3923211"/>
          </a:xfrm>
          <a:custGeom>
            <a:avLst/>
            <a:gdLst/>
            <a:ahLst/>
            <a:cxnLst/>
            <a:rect r="r" b="b" t="t" l="l"/>
            <a:pathLst>
              <a:path h="3923211" w="6334123">
                <a:moveTo>
                  <a:pt x="0" y="0"/>
                </a:moveTo>
                <a:lnTo>
                  <a:pt x="6334123" y="0"/>
                </a:lnTo>
                <a:lnTo>
                  <a:pt x="6334123" y="3923210"/>
                </a:lnTo>
                <a:lnTo>
                  <a:pt x="0" y="3923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10548975" y="1450477"/>
            <a:ext cx="5750743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Percentage of order-picker’s time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305373" y="4203187"/>
            <a:ext cx="957388" cy="405373"/>
            <a:chOff x="0" y="0"/>
            <a:chExt cx="252152" cy="1067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152" cy="106765"/>
            </a:xfrm>
            <a:custGeom>
              <a:avLst/>
              <a:gdLst/>
              <a:ahLst/>
              <a:cxnLst/>
              <a:rect r="r" b="b" t="t" l="l"/>
              <a:pathLst>
                <a:path h="106765" w="252152">
                  <a:moveTo>
                    <a:pt x="53382" y="0"/>
                  </a:moveTo>
                  <a:lnTo>
                    <a:pt x="198769" y="0"/>
                  </a:lnTo>
                  <a:cubicBezTo>
                    <a:pt x="212927" y="0"/>
                    <a:pt x="226505" y="5624"/>
                    <a:pt x="236516" y="15635"/>
                  </a:cubicBezTo>
                  <a:cubicBezTo>
                    <a:pt x="246527" y="25646"/>
                    <a:pt x="252152" y="39225"/>
                    <a:pt x="252152" y="53382"/>
                  </a:cubicBezTo>
                  <a:lnTo>
                    <a:pt x="252152" y="53382"/>
                  </a:lnTo>
                  <a:cubicBezTo>
                    <a:pt x="252152" y="82865"/>
                    <a:pt x="228251" y="106765"/>
                    <a:pt x="198769" y="106765"/>
                  </a:cubicBezTo>
                  <a:lnTo>
                    <a:pt x="53382" y="106765"/>
                  </a:lnTo>
                  <a:cubicBezTo>
                    <a:pt x="23900" y="106765"/>
                    <a:pt x="0" y="82865"/>
                    <a:pt x="0" y="53382"/>
                  </a:cubicBezTo>
                  <a:lnTo>
                    <a:pt x="0" y="53382"/>
                  </a:lnTo>
                  <a:cubicBezTo>
                    <a:pt x="0" y="23900"/>
                    <a:pt x="23900" y="0"/>
                    <a:pt x="53382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152" cy="14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96415" y="4587396"/>
            <a:ext cx="957388" cy="405373"/>
            <a:chOff x="0" y="0"/>
            <a:chExt cx="252152" cy="1067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2152" cy="106765"/>
            </a:xfrm>
            <a:custGeom>
              <a:avLst/>
              <a:gdLst/>
              <a:ahLst/>
              <a:cxnLst/>
              <a:rect r="r" b="b" t="t" l="l"/>
              <a:pathLst>
                <a:path h="106765" w="252152">
                  <a:moveTo>
                    <a:pt x="53382" y="0"/>
                  </a:moveTo>
                  <a:lnTo>
                    <a:pt x="198769" y="0"/>
                  </a:lnTo>
                  <a:cubicBezTo>
                    <a:pt x="212927" y="0"/>
                    <a:pt x="226505" y="5624"/>
                    <a:pt x="236516" y="15635"/>
                  </a:cubicBezTo>
                  <a:cubicBezTo>
                    <a:pt x="246527" y="25646"/>
                    <a:pt x="252152" y="39225"/>
                    <a:pt x="252152" y="53382"/>
                  </a:cubicBezTo>
                  <a:lnTo>
                    <a:pt x="252152" y="53382"/>
                  </a:lnTo>
                  <a:cubicBezTo>
                    <a:pt x="252152" y="82865"/>
                    <a:pt x="228251" y="106765"/>
                    <a:pt x="198769" y="106765"/>
                  </a:cubicBezTo>
                  <a:lnTo>
                    <a:pt x="53382" y="106765"/>
                  </a:lnTo>
                  <a:cubicBezTo>
                    <a:pt x="23900" y="106765"/>
                    <a:pt x="0" y="82865"/>
                    <a:pt x="0" y="53382"/>
                  </a:cubicBezTo>
                  <a:lnTo>
                    <a:pt x="0" y="53382"/>
                  </a:lnTo>
                  <a:cubicBezTo>
                    <a:pt x="0" y="23900"/>
                    <a:pt x="23900" y="0"/>
                    <a:pt x="53382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2152" cy="14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41609" y="6250041"/>
            <a:ext cx="743586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 Koster, R., Le-Duc, T., &amp; Roodbergen, K. J. (2007). Design and control of warehouse order picking: A literature review. European journal of operational research, 182(2), 481-501.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1600000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RMFS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6 頁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984961"/>
            <a:ext cx="18288000" cy="8023603"/>
            <a:chOff x="0" y="0"/>
            <a:chExt cx="24384000" cy="106981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967305"/>
              <a:ext cx="24384000" cy="6751006"/>
            </a:xfrm>
            <a:custGeom>
              <a:avLst/>
              <a:gdLst/>
              <a:ahLst/>
              <a:cxnLst/>
              <a:rect r="r" b="b" t="t" l="l"/>
              <a:pathLst>
                <a:path h="6751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51007"/>
                  </a:lnTo>
                  <a:lnTo>
                    <a:pt x="0" y="6751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1" r="0" b="-611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4556220" y="8891859"/>
              <a:ext cx="14641097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24"/>
                </a:lnSpc>
                <a:spcBef>
                  <a:spcPct val="0"/>
                </a:spcBef>
              </a:pPr>
              <a:r>
                <a:rPr lang="en-US" b="true" sz="1603" strike="noStrike" u="non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Xie, L., Thieme, N., Krenzler, R., &amp; Li, H. (2021). Introducing split orders and optimizing operational policies in robotic mobile fulfillment systems. European Journal of Operational Research, 288(1), 80-97.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952543" y="1983787"/>
              <a:ext cx="2462750" cy="2057400"/>
              <a:chOff x="0" y="0"/>
              <a:chExt cx="486469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Operation Station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971869" y="8340554"/>
              <a:ext cx="2462750" cy="2057400"/>
              <a:chOff x="0" y="0"/>
              <a:chExt cx="486469" cy="406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Movable Shelf</a:t>
                </a:r>
              </a:p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(Pod)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0150000" y="8640738"/>
              <a:ext cx="2462750" cy="2057400"/>
              <a:chOff x="0" y="0"/>
              <a:chExt cx="486469" cy="406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Conveyor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5447537" y="0"/>
              <a:ext cx="2462750" cy="2057400"/>
              <a:chOff x="0" y="0"/>
              <a:chExt cx="486469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Picker</a:t>
                </a:r>
              </a:p>
            </p:txBody>
          </p:sp>
        </p:grpSp>
        <p:sp>
          <p:nvSpPr>
            <p:cNvPr name="AutoShape 30" id="30"/>
            <p:cNvSpPr/>
            <p:nvPr/>
          </p:nvSpPr>
          <p:spPr>
            <a:xfrm>
              <a:off x="3415293" y="3012487"/>
              <a:ext cx="773344" cy="1028700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3262119" y="7095954"/>
              <a:ext cx="926518" cy="260878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32" id="32"/>
            <p:cNvGrpSpPr/>
            <p:nvPr/>
          </p:nvGrpSpPr>
          <p:grpSpPr>
            <a:xfrm rot="0">
              <a:off x="799369" y="6067254"/>
              <a:ext cx="2462750" cy="2057400"/>
              <a:chOff x="0" y="0"/>
              <a:chExt cx="486469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Autonomous Mobile Robot</a:t>
                </a:r>
              </a:p>
            </p:txBody>
          </p:sp>
        </p:grpSp>
        <p:sp>
          <p:nvSpPr>
            <p:cNvPr name="AutoShape 35" id="35"/>
            <p:cNvSpPr/>
            <p:nvPr/>
          </p:nvSpPr>
          <p:spPr>
            <a:xfrm flipV="true">
              <a:off x="3434619" y="7806814"/>
              <a:ext cx="2311279" cy="1562439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6" id="36"/>
            <p:cNvSpPr/>
            <p:nvPr/>
          </p:nvSpPr>
          <p:spPr>
            <a:xfrm flipH="true" flipV="true">
              <a:off x="17350919" y="7095954"/>
              <a:ext cx="3051927" cy="1679019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7" id="37"/>
            <p:cNvSpPr/>
            <p:nvPr/>
          </p:nvSpPr>
          <p:spPr>
            <a:xfrm flipH="true">
              <a:off x="14430696" y="1028700"/>
              <a:ext cx="1016841" cy="1488253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018616" y="8221397"/>
            <a:ext cx="6878212" cy="1302318"/>
            <a:chOff x="0" y="0"/>
            <a:chExt cx="1811546" cy="3429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11546" cy="342997"/>
            </a:xfrm>
            <a:custGeom>
              <a:avLst/>
              <a:gdLst/>
              <a:ahLst/>
              <a:cxnLst/>
              <a:rect r="r" b="b" t="t" l="l"/>
              <a:pathLst>
                <a:path h="342997" w="1811546">
                  <a:moveTo>
                    <a:pt x="57404" y="0"/>
                  </a:moveTo>
                  <a:lnTo>
                    <a:pt x="1754142" y="0"/>
                  </a:lnTo>
                  <a:cubicBezTo>
                    <a:pt x="1785845" y="0"/>
                    <a:pt x="1811546" y="25701"/>
                    <a:pt x="1811546" y="57404"/>
                  </a:cubicBezTo>
                  <a:lnTo>
                    <a:pt x="1811546" y="285593"/>
                  </a:lnTo>
                  <a:cubicBezTo>
                    <a:pt x="1811546" y="300818"/>
                    <a:pt x="1805498" y="315419"/>
                    <a:pt x="1794732" y="326184"/>
                  </a:cubicBezTo>
                  <a:cubicBezTo>
                    <a:pt x="1783967" y="336949"/>
                    <a:pt x="1769366" y="342997"/>
                    <a:pt x="1754142" y="342997"/>
                  </a:cubicBezTo>
                  <a:lnTo>
                    <a:pt x="57404" y="342997"/>
                  </a:lnTo>
                  <a:cubicBezTo>
                    <a:pt x="25701" y="342997"/>
                    <a:pt x="0" y="317297"/>
                    <a:pt x="0" y="285593"/>
                  </a:cubicBezTo>
                  <a:lnTo>
                    <a:pt x="0" y="57404"/>
                  </a:lnTo>
                  <a:cubicBezTo>
                    <a:pt x="0" y="25701"/>
                    <a:pt x="25701" y="0"/>
                    <a:pt x="57404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811546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Unlike traditional person-to-goods systems,</a:t>
              </a: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RMFS automates non-value-added travel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allowing workers to focus on value-added picking tasks.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7314268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Operational Decisions in RMFS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7 頁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3553" y="1418265"/>
            <a:ext cx="12330635" cy="725408"/>
            <a:chOff x="0" y="0"/>
            <a:chExt cx="7806774" cy="4592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06786" cy="459321"/>
            </a:xfrm>
            <a:custGeom>
              <a:avLst/>
              <a:gdLst/>
              <a:ahLst/>
              <a:cxnLst/>
              <a:rect r="r" b="b" t="t" l="l"/>
              <a:pathLst>
                <a:path h="459321" w="7806786">
                  <a:moveTo>
                    <a:pt x="0" y="0"/>
                  </a:moveTo>
                  <a:lnTo>
                    <a:pt x="7806786" y="0"/>
                  </a:lnTo>
                  <a:lnTo>
                    <a:pt x="7806786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583553" y="2225779"/>
            <a:ext cx="12330635" cy="5776144"/>
          </a:xfrm>
          <a:custGeom>
            <a:avLst/>
            <a:gdLst/>
            <a:ahLst/>
            <a:cxnLst/>
            <a:rect r="r" b="b" t="t" l="l"/>
            <a:pathLst>
              <a:path h="5776144" w="12330635">
                <a:moveTo>
                  <a:pt x="0" y="0"/>
                </a:moveTo>
                <a:lnTo>
                  <a:pt x="12330634" y="0"/>
                </a:lnTo>
                <a:lnTo>
                  <a:pt x="12330634" y="5776144"/>
                </a:lnTo>
                <a:lnTo>
                  <a:pt x="0" y="577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583553" y="8210841"/>
            <a:ext cx="8684265" cy="49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Jiao, G., Huang, M., Song, Y., Li, H., &amp; Wang, X. (2026). Online joint optimization of order picking process in robotic mobile fulfillment systems. Omega, 138, 103374.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08806" y="1590432"/>
            <a:ext cx="5947341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RMFS  Picking process operationa</a:t>
            </a:r>
            <a:r>
              <a:rPr lang="en-US" b="true" sz="2400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 decision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93422" y="8141206"/>
            <a:ext cx="6878212" cy="1302318"/>
            <a:chOff x="0" y="0"/>
            <a:chExt cx="1811546" cy="3429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1546" cy="342997"/>
            </a:xfrm>
            <a:custGeom>
              <a:avLst/>
              <a:gdLst/>
              <a:ahLst/>
              <a:cxnLst/>
              <a:rect r="r" b="b" t="t" l="l"/>
              <a:pathLst>
                <a:path h="342997" w="1811546">
                  <a:moveTo>
                    <a:pt x="57404" y="0"/>
                  </a:moveTo>
                  <a:lnTo>
                    <a:pt x="1754142" y="0"/>
                  </a:lnTo>
                  <a:cubicBezTo>
                    <a:pt x="1785845" y="0"/>
                    <a:pt x="1811546" y="25701"/>
                    <a:pt x="1811546" y="57404"/>
                  </a:cubicBezTo>
                  <a:lnTo>
                    <a:pt x="1811546" y="285593"/>
                  </a:lnTo>
                  <a:cubicBezTo>
                    <a:pt x="1811546" y="300818"/>
                    <a:pt x="1805498" y="315419"/>
                    <a:pt x="1794732" y="326184"/>
                  </a:cubicBezTo>
                  <a:cubicBezTo>
                    <a:pt x="1783967" y="336949"/>
                    <a:pt x="1769366" y="342997"/>
                    <a:pt x="1754142" y="342997"/>
                  </a:cubicBezTo>
                  <a:lnTo>
                    <a:pt x="57404" y="342997"/>
                  </a:lnTo>
                  <a:cubicBezTo>
                    <a:pt x="25701" y="342997"/>
                    <a:pt x="0" y="317297"/>
                    <a:pt x="0" y="285593"/>
                  </a:cubicBezTo>
                  <a:lnTo>
                    <a:pt x="0" y="57404"/>
                  </a:lnTo>
                  <a:cubicBezTo>
                    <a:pt x="0" y="25701"/>
                    <a:pt x="25701" y="0"/>
                    <a:pt x="57404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11546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RMFS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tional deci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sio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ns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highly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erdependent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evol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 wi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 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yste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tes,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creat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ing a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 effec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ive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ord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ination.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76902" y="3104115"/>
            <a:ext cx="2814175" cy="609400"/>
            <a:chOff x="0" y="0"/>
            <a:chExt cx="741182" cy="1605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1182" cy="160501"/>
            </a:xfrm>
            <a:custGeom>
              <a:avLst/>
              <a:gdLst/>
              <a:ahLst/>
              <a:cxnLst/>
              <a:rect r="r" b="b" t="t" l="l"/>
              <a:pathLst>
                <a:path h="160501" w="741182">
                  <a:moveTo>
                    <a:pt x="80250" y="0"/>
                  </a:moveTo>
                  <a:lnTo>
                    <a:pt x="660932" y="0"/>
                  </a:lnTo>
                  <a:cubicBezTo>
                    <a:pt x="682215" y="0"/>
                    <a:pt x="702627" y="8455"/>
                    <a:pt x="717677" y="23505"/>
                  </a:cubicBezTo>
                  <a:cubicBezTo>
                    <a:pt x="732727" y="38555"/>
                    <a:pt x="741182" y="58967"/>
                    <a:pt x="741182" y="80250"/>
                  </a:cubicBezTo>
                  <a:lnTo>
                    <a:pt x="741182" y="80250"/>
                  </a:lnTo>
                  <a:cubicBezTo>
                    <a:pt x="741182" y="101534"/>
                    <a:pt x="732727" y="121946"/>
                    <a:pt x="717677" y="136996"/>
                  </a:cubicBezTo>
                  <a:cubicBezTo>
                    <a:pt x="702627" y="152046"/>
                    <a:pt x="682215" y="160501"/>
                    <a:pt x="660932" y="160501"/>
                  </a:cubicBezTo>
                  <a:lnTo>
                    <a:pt x="80250" y="160501"/>
                  </a:lnTo>
                  <a:cubicBezTo>
                    <a:pt x="58967" y="160501"/>
                    <a:pt x="38555" y="152046"/>
                    <a:pt x="23505" y="136996"/>
                  </a:cubicBezTo>
                  <a:cubicBezTo>
                    <a:pt x="8455" y="121946"/>
                    <a:pt x="0" y="101534"/>
                    <a:pt x="0" y="80250"/>
                  </a:cubicBezTo>
                  <a:lnTo>
                    <a:pt x="0" y="80250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0" y="0"/>
                  </a:cubicBezTo>
                  <a:close/>
                </a:path>
              </a:pathLst>
            </a:custGeom>
            <a:solidFill>
              <a:srgbClr val="B0B7BA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41182" cy="21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Strategic Level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976902" y="4275490"/>
            <a:ext cx="2814175" cy="609400"/>
            <a:chOff x="0" y="0"/>
            <a:chExt cx="741182" cy="1605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1182" cy="160501"/>
            </a:xfrm>
            <a:custGeom>
              <a:avLst/>
              <a:gdLst/>
              <a:ahLst/>
              <a:cxnLst/>
              <a:rect r="r" b="b" t="t" l="l"/>
              <a:pathLst>
                <a:path h="160501" w="741182">
                  <a:moveTo>
                    <a:pt x="80250" y="0"/>
                  </a:moveTo>
                  <a:lnTo>
                    <a:pt x="660932" y="0"/>
                  </a:lnTo>
                  <a:cubicBezTo>
                    <a:pt x="682215" y="0"/>
                    <a:pt x="702627" y="8455"/>
                    <a:pt x="717677" y="23505"/>
                  </a:cubicBezTo>
                  <a:cubicBezTo>
                    <a:pt x="732727" y="38555"/>
                    <a:pt x="741182" y="58967"/>
                    <a:pt x="741182" y="80250"/>
                  </a:cubicBezTo>
                  <a:lnTo>
                    <a:pt x="741182" y="80250"/>
                  </a:lnTo>
                  <a:cubicBezTo>
                    <a:pt x="741182" y="101534"/>
                    <a:pt x="732727" y="121946"/>
                    <a:pt x="717677" y="136996"/>
                  </a:cubicBezTo>
                  <a:cubicBezTo>
                    <a:pt x="702627" y="152046"/>
                    <a:pt x="682215" y="160501"/>
                    <a:pt x="660932" y="160501"/>
                  </a:cubicBezTo>
                  <a:lnTo>
                    <a:pt x="80250" y="160501"/>
                  </a:lnTo>
                  <a:cubicBezTo>
                    <a:pt x="58967" y="160501"/>
                    <a:pt x="38555" y="152046"/>
                    <a:pt x="23505" y="136996"/>
                  </a:cubicBezTo>
                  <a:cubicBezTo>
                    <a:pt x="8455" y="121946"/>
                    <a:pt x="0" y="101534"/>
                    <a:pt x="0" y="80250"/>
                  </a:cubicBezTo>
                  <a:lnTo>
                    <a:pt x="0" y="80250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0" y="0"/>
                  </a:cubicBezTo>
                  <a:close/>
                </a:path>
              </a:pathLst>
            </a:custGeom>
            <a:solidFill>
              <a:srgbClr val="B0B7BA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41182" cy="21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</a:t>
              </a: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</a:t>
              </a: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tical Level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76902" y="5446866"/>
            <a:ext cx="2814175" cy="609400"/>
            <a:chOff x="0" y="0"/>
            <a:chExt cx="741182" cy="1605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1182" cy="160501"/>
            </a:xfrm>
            <a:custGeom>
              <a:avLst/>
              <a:gdLst/>
              <a:ahLst/>
              <a:cxnLst/>
              <a:rect r="r" b="b" t="t" l="l"/>
              <a:pathLst>
                <a:path h="160501" w="741182">
                  <a:moveTo>
                    <a:pt x="80250" y="0"/>
                  </a:moveTo>
                  <a:lnTo>
                    <a:pt x="660932" y="0"/>
                  </a:lnTo>
                  <a:cubicBezTo>
                    <a:pt x="682215" y="0"/>
                    <a:pt x="702627" y="8455"/>
                    <a:pt x="717677" y="23505"/>
                  </a:cubicBezTo>
                  <a:cubicBezTo>
                    <a:pt x="732727" y="38555"/>
                    <a:pt x="741182" y="58967"/>
                    <a:pt x="741182" y="80250"/>
                  </a:cubicBezTo>
                  <a:lnTo>
                    <a:pt x="741182" y="80250"/>
                  </a:lnTo>
                  <a:cubicBezTo>
                    <a:pt x="741182" y="101534"/>
                    <a:pt x="732727" y="121946"/>
                    <a:pt x="717677" y="136996"/>
                  </a:cubicBezTo>
                  <a:cubicBezTo>
                    <a:pt x="702627" y="152046"/>
                    <a:pt x="682215" y="160501"/>
                    <a:pt x="660932" y="160501"/>
                  </a:cubicBezTo>
                  <a:lnTo>
                    <a:pt x="80250" y="160501"/>
                  </a:lnTo>
                  <a:cubicBezTo>
                    <a:pt x="58967" y="160501"/>
                    <a:pt x="38555" y="152046"/>
                    <a:pt x="23505" y="136996"/>
                  </a:cubicBezTo>
                  <a:cubicBezTo>
                    <a:pt x="8455" y="121946"/>
                    <a:pt x="0" y="101534"/>
                    <a:pt x="0" y="80250"/>
                  </a:cubicBezTo>
                  <a:lnTo>
                    <a:pt x="0" y="80250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0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41182" cy="21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Operational Level</a:t>
              </a:r>
            </a:p>
          </p:txBody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2914187" y="5638354"/>
            <a:ext cx="830834" cy="226424"/>
          </a:xfrm>
          <a:custGeom>
            <a:avLst/>
            <a:gdLst/>
            <a:ahLst/>
            <a:cxnLst/>
            <a:rect r="r" b="b" t="t" l="l"/>
            <a:pathLst>
              <a:path h="226424" w="830834">
                <a:moveTo>
                  <a:pt x="0" y="0"/>
                </a:moveTo>
                <a:lnTo>
                  <a:pt x="830835" y="0"/>
                </a:lnTo>
                <a:lnTo>
                  <a:pt x="830835" y="226424"/>
                </a:lnTo>
                <a:lnTo>
                  <a:pt x="0" y="226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518" r="0" b="-350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7314268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Performance of RMFS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8 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1673" y="1222256"/>
            <a:ext cx="16573872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B6F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ultimate goal of operational decision-making is to improve overall RMFS performance rather than individual decisions in isolation.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322687" y="8475156"/>
            <a:ext cx="12177462" cy="968367"/>
            <a:chOff x="0" y="0"/>
            <a:chExt cx="16236616" cy="129115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6236616" cy="1291157"/>
              <a:chOff x="0" y="0"/>
              <a:chExt cx="22984841" cy="18277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984842" cy="1827784"/>
              </a:xfrm>
              <a:custGeom>
                <a:avLst/>
                <a:gdLst/>
                <a:ahLst/>
                <a:cxnLst/>
                <a:rect r="r" b="b" t="t" l="l"/>
                <a:pathLst>
                  <a:path h="1827784" w="22984842">
                    <a:moveTo>
                      <a:pt x="0" y="154305"/>
                    </a:moveTo>
                    <a:cubicBezTo>
                      <a:pt x="0" y="69088"/>
                      <a:pt x="69088" y="0"/>
                      <a:pt x="154305" y="0"/>
                    </a:cubicBezTo>
                    <a:lnTo>
                      <a:pt x="22830537" y="0"/>
                    </a:lnTo>
                    <a:cubicBezTo>
                      <a:pt x="22915753" y="0"/>
                      <a:pt x="22984842" y="69088"/>
                      <a:pt x="22984842" y="154305"/>
                    </a:cubicBezTo>
                    <a:lnTo>
                      <a:pt x="22984842" y="1673479"/>
                    </a:lnTo>
                    <a:cubicBezTo>
                      <a:pt x="22984842" y="1758696"/>
                      <a:pt x="22915753" y="1827784"/>
                      <a:pt x="22830537" y="1827784"/>
                    </a:cubicBezTo>
                    <a:lnTo>
                      <a:pt x="154305" y="1827784"/>
                    </a:lnTo>
                    <a:cubicBezTo>
                      <a:pt x="69088" y="1827784"/>
                      <a:pt x="0" y="1758696"/>
                      <a:pt x="0" y="1673479"/>
                    </a:cubicBezTo>
                    <a:close/>
                  </a:path>
                </a:pathLst>
              </a:custGeom>
              <a:solidFill>
                <a:srgbClr val="FFF9F1"/>
              </a:solidFill>
              <a:ln w="19050" cap="sq">
                <a:solidFill>
                  <a:srgbClr val="E1701A"/>
                </a:solidFill>
                <a:prstDash val="solid"/>
                <a:miter/>
              </a:ln>
            </p:spPr>
          </p:sp>
        </p:grpSp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419132" y="295642"/>
              <a:ext cx="699738" cy="699738"/>
            </a:xfrm>
            <a:custGeom>
              <a:avLst/>
              <a:gdLst/>
              <a:ahLst/>
              <a:cxnLst/>
              <a:rect r="r" b="b" t="t" l="l"/>
              <a:pathLst>
                <a:path h="699738" w="699738">
                  <a:moveTo>
                    <a:pt x="0" y="0"/>
                  </a:moveTo>
                  <a:lnTo>
                    <a:pt x="699739" y="0"/>
                  </a:lnTo>
                  <a:lnTo>
                    <a:pt x="699739" y="699738"/>
                  </a:lnTo>
                  <a:lnTo>
                    <a:pt x="0" y="699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265418" y="207553"/>
              <a:ext cx="13705781" cy="817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0"/>
                </a:lnSpc>
              </a:pPr>
              <a:r>
                <a:rPr lang="en-US" sz="1854" b="tru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Effective RMFS decision-making should be assessed from a system-level perspective, considering both operational efficiency and resource consumption.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13445" y="2520071"/>
            <a:ext cx="905805" cy="36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2314" b="tru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3445" y="2860065"/>
            <a:ext cx="1340197" cy="28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3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Level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236206" y="2831635"/>
            <a:ext cx="781491" cy="18269"/>
            <a:chOff x="0" y="0"/>
            <a:chExt cx="1080580" cy="252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0643" cy="25273"/>
            </a:xfrm>
            <a:custGeom>
              <a:avLst/>
              <a:gdLst/>
              <a:ahLst/>
              <a:cxnLst/>
              <a:rect r="r" b="b" t="t" l="l"/>
              <a:pathLst>
                <a:path h="25273" w="1080643">
                  <a:moveTo>
                    <a:pt x="0" y="0"/>
                  </a:moveTo>
                  <a:lnTo>
                    <a:pt x="1080643" y="0"/>
                  </a:lnTo>
                  <a:lnTo>
                    <a:pt x="108064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017697" y="2781146"/>
            <a:ext cx="119375" cy="119375"/>
            <a:chOff x="0" y="0"/>
            <a:chExt cx="165062" cy="1650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100" cy="165100"/>
            </a:xfrm>
            <a:custGeom>
              <a:avLst/>
              <a:gdLst/>
              <a:ahLst/>
              <a:cxnLst/>
              <a:rect r="r" b="b" t="t" l="l"/>
              <a:pathLst>
                <a:path h="165100" w="165100">
                  <a:moveTo>
                    <a:pt x="0" y="82550"/>
                  </a:moveTo>
                  <a:cubicBezTo>
                    <a:pt x="0" y="36957"/>
                    <a:pt x="36957" y="0"/>
                    <a:pt x="82550" y="0"/>
                  </a:cubicBezTo>
                  <a:cubicBezTo>
                    <a:pt x="128143" y="0"/>
                    <a:pt x="165100" y="36957"/>
                    <a:pt x="165100" y="82550"/>
                  </a:cubicBezTo>
                  <a:cubicBezTo>
                    <a:pt x="165100" y="128143"/>
                    <a:pt x="128143" y="165100"/>
                    <a:pt x="82550" y="165100"/>
                  </a:cubicBezTo>
                  <a:cubicBezTo>
                    <a:pt x="36957" y="165100"/>
                    <a:pt x="0" y="128143"/>
                    <a:pt x="0" y="82550"/>
                  </a:cubicBez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367482" y="1938594"/>
            <a:ext cx="14088001" cy="1804606"/>
            <a:chOff x="0" y="0"/>
            <a:chExt cx="19479704" cy="24952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479640" cy="2495169"/>
            </a:xfrm>
            <a:custGeom>
              <a:avLst/>
              <a:gdLst/>
              <a:ahLst/>
              <a:cxnLst/>
              <a:rect r="r" b="b" t="t" l="l"/>
              <a:pathLst>
                <a:path h="2495169" w="19479640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19325844" y="0"/>
                  </a:lnTo>
                  <a:cubicBezTo>
                    <a:pt x="19410807" y="0"/>
                    <a:pt x="19479640" y="68834"/>
                    <a:pt x="19479640" y="153797"/>
                  </a:cubicBezTo>
                  <a:lnTo>
                    <a:pt x="19479640" y="2341372"/>
                  </a:lnTo>
                  <a:cubicBezTo>
                    <a:pt x="19479640" y="2426335"/>
                    <a:pt x="19410807" y="2495169"/>
                    <a:pt x="19325844" y="2495169"/>
                  </a:cubicBezTo>
                  <a:lnTo>
                    <a:pt x="153797" y="2495169"/>
                  </a:lnTo>
                  <a:cubicBezTo>
                    <a:pt x="68834" y="2495296"/>
                    <a:pt x="0" y="2426335"/>
                    <a:pt x="0" y="2341372"/>
                  </a:cubicBezTo>
                  <a:close/>
                </a:path>
              </a:pathLst>
            </a:custGeom>
            <a:solidFill>
              <a:srgbClr val="F4F8FD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8941614" y="2115998"/>
            <a:ext cx="2939728" cy="3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458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Decisions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586136" y="2596411"/>
            <a:ext cx="4353137" cy="946404"/>
            <a:chOff x="0" y="0"/>
            <a:chExt cx="6019152" cy="1308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19165" cy="1308608"/>
            </a:xfrm>
            <a:custGeom>
              <a:avLst/>
              <a:gdLst/>
              <a:ahLst/>
              <a:cxnLst/>
              <a:rect r="r" b="b" t="t" l="l"/>
              <a:pathLst>
                <a:path h="1308608" w="6019165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889879" y="0"/>
                  </a:lnTo>
                  <a:cubicBezTo>
                    <a:pt x="5961253" y="0"/>
                    <a:pt x="6019165" y="57912"/>
                    <a:pt x="6019165" y="129286"/>
                  </a:cubicBezTo>
                  <a:lnTo>
                    <a:pt x="6019165" y="1179322"/>
                  </a:lnTo>
                  <a:cubicBezTo>
                    <a:pt x="6019165" y="1250696"/>
                    <a:pt x="5961253" y="1308608"/>
                    <a:pt x="5889879" y="1308608"/>
                  </a:cubicBezTo>
                  <a:lnTo>
                    <a:pt x="129286" y="1308608"/>
                  </a:lnTo>
                  <a:cubicBezTo>
                    <a:pt x="57912" y="1308608"/>
                    <a:pt x="0" y="1250696"/>
                    <a:pt x="0" y="11793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3776491" y="2830854"/>
            <a:ext cx="477510" cy="477510"/>
          </a:xfrm>
          <a:custGeom>
            <a:avLst/>
            <a:gdLst/>
            <a:ahLst/>
            <a:cxnLst/>
            <a:rect r="r" b="b" t="t" l="l"/>
            <a:pathLst>
              <a:path h="477510" w="477510">
                <a:moveTo>
                  <a:pt x="0" y="0"/>
                </a:moveTo>
                <a:lnTo>
                  <a:pt x="477510" y="0"/>
                </a:lnTo>
                <a:lnTo>
                  <a:pt x="477510" y="477509"/>
                </a:lnTo>
                <a:lnTo>
                  <a:pt x="0" y="477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236172" y="2913905"/>
            <a:ext cx="3399477" cy="32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97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Assigment (OA)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930924" y="3060474"/>
            <a:ext cx="312201" cy="18269"/>
            <a:chOff x="0" y="0"/>
            <a:chExt cx="431686" cy="252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1673" cy="25273"/>
            </a:xfrm>
            <a:custGeom>
              <a:avLst/>
              <a:gdLst/>
              <a:ahLst/>
              <a:cxnLst/>
              <a:rect r="r" b="b" t="t" l="l"/>
              <a:pathLst>
                <a:path h="25273" w="431673">
                  <a:moveTo>
                    <a:pt x="0" y="0"/>
                  </a:moveTo>
                  <a:lnTo>
                    <a:pt x="431673" y="0"/>
                  </a:lnTo>
                  <a:lnTo>
                    <a:pt x="43167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34785" y="2596411"/>
            <a:ext cx="4353266" cy="946404"/>
            <a:chOff x="0" y="0"/>
            <a:chExt cx="6019330" cy="1308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19292" cy="1308608"/>
            </a:xfrm>
            <a:custGeom>
              <a:avLst/>
              <a:gdLst/>
              <a:ahLst/>
              <a:cxnLst/>
              <a:rect r="r" b="b" t="t" l="l"/>
              <a:pathLst>
                <a:path h="1308608" w="6019292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890006" y="0"/>
                  </a:lnTo>
                  <a:cubicBezTo>
                    <a:pt x="5961380" y="0"/>
                    <a:pt x="6019292" y="57912"/>
                    <a:pt x="6019292" y="129286"/>
                  </a:cubicBezTo>
                  <a:lnTo>
                    <a:pt x="6019292" y="1179322"/>
                  </a:lnTo>
                  <a:cubicBezTo>
                    <a:pt x="6019292" y="1250696"/>
                    <a:pt x="5961380" y="1308608"/>
                    <a:pt x="5890006" y="1308608"/>
                  </a:cubicBezTo>
                  <a:lnTo>
                    <a:pt x="129286" y="1308608"/>
                  </a:lnTo>
                  <a:cubicBezTo>
                    <a:pt x="57912" y="1308608"/>
                    <a:pt x="0" y="1250696"/>
                    <a:pt x="0" y="11793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8425132" y="2830854"/>
            <a:ext cx="477510" cy="477510"/>
          </a:xfrm>
          <a:custGeom>
            <a:avLst/>
            <a:gdLst/>
            <a:ahLst/>
            <a:cxnLst/>
            <a:rect r="r" b="b" t="t" l="l"/>
            <a:pathLst>
              <a:path h="477510" w="477510">
                <a:moveTo>
                  <a:pt x="0" y="0"/>
                </a:moveTo>
                <a:lnTo>
                  <a:pt x="477509" y="0"/>
                </a:lnTo>
                <a:lnTo>
                  <a:pt x="477509" y="477509"/>
                </a:lnTo>
                <a:lnTo>
                  <a:pt x="0" y="477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952062" y="2913905"/>
            <a:ext cx="3399615" cy="32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97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 Selection (PS)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579693" y="3060474"/>
            <a:ext cx="312201" cy="18269"/>
            <a:chOff x="0" y="0"/>
            <a:chExt cx="431686" cy="252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1673" cy="25273"/>
            </a:xfrm>
            <a:custGeom>
              <a:avLst/>
              <a:gdLst/>
              <a:ahLst/>
              <a:cxnLst/>
              <a:rect r="r" b="b" t="t" l="l"/>
              <a:pathLst>
                <a:path h="25273" w="431673">
                  <a:moveTo>
                    <a:pt x="0" y="0"/>
                  </a:moveTo>
                  <a:lnTo>
                    <a:pt x="431673" y="0"/>
                  </a:lnTo>
                  <a:lnTo>
                    <a:pt x="43167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883554" y="2596411"/>
            <a:ext cx="4353266" cy="946404"/>
            <a:chOff x="0" y="0"/>
            <a:chExt cx="6019330" cy="1308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19292" cy="1308608"/>
            </a:xfrm>
            <a:custGeom>
              <a:avLst/>
              <a:gdLst/>
              <a:ahLst/>
              <a:cxnLst/>
              <a:rect r="r" b="b" t="t" l="l"/>
              <a:pathLst>
                <a:path h="1308608" w="6019292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890006" y="0"/>
                  </a:lnTo>
                  <a:cubicBezTo>
                    <a:pt x="5961380" y="0"/>
                    <a:pt x="6019292" y="57912"/>
                    <a:pt x="6019292" y="129286"/>
                  </a:cubicBezTo>
                  <a:lnTo>
                    <a:pt x="6019292" y="1179322"/>
                  </a:lnTo>
                  <a:cubicBezTo>
                    <a:pt x="6019292" y="1250696"/>
                    <a:pt x="5961380" y="1308608"/>
                    <a:pt x="5890006" y="1308608"/>
                  </a:cubicBezTo>
                  <a:lnTo>
                    <a:pt x="129286" y="1308608"/>
                  </a:lnTo>
                  <a:cubicBezTo>
                    <a:pt x="57912" y="1308608"/>
                    <a:pt x="0" y="1250696"/>
                    <a:pt x="0" y="11793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44" id="44" descr="preencoded.png"/>
          <p:cNvSpPr/>
          <p:nvPr/>
        </p:nvSpPr>
        <p:spPr>
          <a:xfrm flipH="false" flipV="false" rot="0">
            <a:off x="13073900" y="2830854"/>
            <a:ext cx="477510" cy="477510"/>
          </a:xfrm>
          <a:custGeom>
            <a:avLst/>
            <a:gdLst/>
            <a:ahLst/>
            <a:cxnLst/>
            <a:rect r="r" b="b" t="t" l="l"/>
            <a:pathLst>
              <a:path h="477510" w="477510">
                <a:moveTo>
                  <a:pt x="0" y="0"/>
                </a:moveTo>
                <a:lnTo>
                  <a:pt x="477510" y="0"/>
                </a:lnTo>
                <a:lnTo>
                  <a:pt x="477510" y="477509"/>
                </a:lnTo>
                <a:lnTo>
                  <a:pt x="0" y="477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3551410" y="2913905"/>
            <a:ext cx="3399615" cy="32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97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Allocation (TA)</a:t>
            </a:r>
          </a:p>
        </p:txBody>
      </p:sp>
      <p:sp>
        <p:nvSpPr>
          <p:cNvPr name="Freeform 46" id="46" descr="preencoded.png"/>
          <p:cNvSpPr/>
          <p:nvPr/>
        </p:nvSpPr>
        <p:spPr>
          <a:xfrm flipH="false" flipV="false" rot="0">
            <a:off x="10154330" y="3789914"/>
            <a:ext cx="514295" cy="404049"/>
          </a:xfrm>
          <a:custGeom>
            <a:avLst/>
            <a:gdLst/>
            <a:ahLst/>
            <a:cxnLst/>
            <a:rect r="r" b="b" t="t" l="l"/>
            <a:pathLst>
              <a:path h="404049" w="514295">
                <a:moveTo>
                  <a:pt x="0" y="0"/>
                </a:moveTo>
                <a:lnTo>
                  <a:pt x="514295" y="0"/>
                </a:lnTo>
                <a:lnTo>
                  <a:pt x="514295" y="404050"/>
                </a:lnTo>
                <a:lnTo>
                  <a:pt x="0" y="404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3641" r="0" b="-13643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713445" y="4903409"/>
            <a:ext cx="905805" cy="36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2314" b="tru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 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3445" y="5243403"/>
            <a:ext cx="2047829" cy="28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3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Efficiency 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3017697" y="5161897"/>
            <a:ext cx="119375" cy="119375"/>
            <a:chOff x="0" y="0"/>
            <a:chExt cx="165062" cy="16506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5100" cy="165100"/>
            </a:xfrm>
            <a:custGeom>
              <a:avLst/>
              <a:gdLst/>
              <a:ahLst/>
              <a:cxnLst/>
              <a:rect r="r" b="b" t="t" l="l"/>
              <a:pathLst>
                <a:path h="165100" w="165100">
                  <a:moveTo>
                    <a:pt x="0" y="82550"/>
                  </a:moveTo>
                  <a:cubicBezTo>
                    <a:pt x="0" y="36957"/>
                    <a:pt x="36957" y="0"/>
                    <a:pt x="82550" y="0"/>
                  </a:cubicBezTo>
                  <a:cubicBezTo>
                    <a:pt x="128143" y="0"/>
                    <a:pt x="165100" y="36957"/>
                    <a:pt x="165100" y="82550"/>
                  </a:cubicBezTo>
                  <a:cubicBezTo>
                    <a:pt x="165100" y="128143"/>
                    <a:pt x="128143" y="165100"/>
                    <a:pt x="82550" y="165100"/>
                  </a:cubicBezTo>
                  <a:cubicBezTo>
                    <a:pt x="36957" y="165100"/>
                    <a:pt x="0" y="128143"/>
                    <a:pt x="0" y="82550"/>
                  </a:cubicBez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367482" y="4240678"/>
            <a:ext cx="14088001" cy="1961951"/>
            <a:chOff x="0" y="0"/>
            <a:chExt cx="19479704" cy="27128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479640" cy="2712720"/>
            </a:xfrm>
            <a:custGeom>
              <a:avLst/>
              <a:gdLst/>
              <a:ahLst/>
              <a:cxnLst/>
              <a:rect r="r" b="b" t="t" l="l"/>
              <a:pathLst>
                <a:path h="2712720" w="194796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9325971" y="0"/>
                  </a:lnTo>
                  <a:cubicBezTo>
                    <a:pt x="19410807" y="0"/>
                    <a:pt x="19479640" y="68834"/>
                    <a:pt x="19479640" y="153670"/>
                  </a:cubicBezTo>
                  <a:lnTo>
                    <a:pt x="19479640" y="2559050"/>
                  </a:lnTo>
                  <a:cubicBezTo>
                    <a:pt x="19479640" y="2643886"/>
                    <a:pt x="19410807" y="2712720"/>
                    <a:pt x="19325971" y="2712720"/>
                  </a:cubicBezTo>
                  <a:lnTo>
                    <a:pt x="153670" y="2712720"/>
                  </a:lnTo>
                  <a:cubicBezTo>
                    <a:pt x="68834" y="2712720"/>
                    <a:pt x="0" y="2643886"/>
                    <a:pt x="0" y="2559050"/>
                  </a:cubicBezTo>
                  <a:close/>
                </a:path>
              </a:pathLst>
            </a:custGeom>
            <a:solidFill>
              <a:srgbClr val="F4F8FD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8174312" y="4418073"/>
            <a:ext cx="4474332" cy="3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458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Efficiency Indicators</a:t>
            </a:r>
          </a:p>
        </p:txBody>
      </p:sp>
      <p:sp>
        <p:nvSpPr>
          <p:cNvPr name="Freeform 54" id="54" descr="preencoded.png"/>
          <p:cNvSpPr/>
          <p:nvPr/>
        </p:nvSpPr>
        <p:spPr>
          <a:xfrm flipH="false" flipV="false" rot="0">
            <a:off x="4845092" y="4808635"/>
            <a:ext cx="881688" cy="771442"/>
          </a:xfrm>
          <a:custGeom>
            <a:avLst/>
            <a:gdLst/>
            <a:ahLst/>
            <a:cxnLst/>
            <a:rect r="r" b="b" t="t" l="l"/>
            <a:pathLst>
              <a:path h="771442" w="881688">
                <a:moveTo>
                  <a:pt x="0" y="0"/>
                </a:moveTo>
                <a:lnTo>
                  <a:pt x="881688" y="0"/>
                </a:lnTo>
                <a:lnTo>
                  <a:pt x="881688" y="771442"/>
                </a:lnTo>
                <a:lnTo>
                  <a:pt x="0" y="7714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518" t="0" r="-518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4760161" y="5674465"/>
            <a:ext cx="1002543" cy="3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Pile-on ↑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7479380" y="4870169"/>
            <a:ext cx="18269" cy="1142105"/>
            <a:chOff x="0" y="0"/>
            <a:chExt cx="25260" cy="157920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273" cy="1579245"/>
            </a:xfrm>
            <a:custGeom>
              <a:avLst/>
              <a:gdLst/>
              <a:ahLst/>
              <a:cxnLst/>
              <a:rect r="r" b="b" t="t" l="l"/>
              <a:pathLst>
                <a:path h="1579245" w="25273">
                  <a:moveTo>
                    <a:pt x="0" y="0"/>
                  </a:moveTo>
                  <a:lnTo>
                    <a:pt x="25273" y="0"/>
                  </a:lnTo>
                  <a:lnTo>
                    <a:pt x="25273" y="1579245"/>
                  </a:lnTo>
                  <a:lnTo>
                    <a:pt x="0" y="1579245"/>
                  </a:lnTo>
                  <a:close/>
                </a:path>
              </a:pathLst>
            </a:custGeom>
            <a:solidFill>
              <a:srgbClr val="C7D9EF"/>
            </a:solidFill>
          </p:spPr>
        </p:sp>
      </p:grpSp>
      <p:sp>
        <p:nvSpPr>
          <p:cNvPr name="Freeform 58" id="58" descr="preencoded.png"/>
          <p:cNvSpPr/>
          <p:nvPr/>
        </p:nvSpPr>
        <p:spPr>
          <a:xfrm flipH="false" flipV="false" rot="0">
            <a:off x="8354023" y="4879308"/>
            <a:ext cx="697991" cy="771442"/>
          </a:xfrm>
          <a:custGeom>
            <a:avLst/>
            <a:gdLst/>
            <a:ahLst/>
            <a:cxnLst/>
            <a:rect r="r" b="b" t="t" l="l"/>
            <a:pathLst>
              <a:path h="771442" w="697991">
                <a:moveTo>
                  <a:pt x="0" y="0"/>
                </a:moveTo>
                <a:lnTo>
                  <a:pt x="697991" y="0"/>
                </a:lnTo>
                <a:lnTo>
                  <a:pt x="697991" y="771442"/>
                </a:lnTo>
                <a:lnTo>
                  <a:pt x="0" y="7714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656" t="0" r="-656" b="0"/>
            </a:stretch>
          </a:blipFill>
        </p:spPr>
      </p:sp>
      <p:sp>
        <p:nvSpPr>
          <p:cNvPr name="Freeform 59" id="59" descr="preencoded.png"/>
          <p:cNvSpPr/>
          <p:nvPr/>
        </p:nvSpPr>
        <p:spPr>
          <a:xfrm flipH="false" flipV="false" rot="0">
            <a:off x="9180528" y="5163982"/>
            <a:ext cx="1028599" cy="201965"/>
          </a:xfrm>
          <a:custGeom>
            <a:avLst/>
            <a:gdLst/>
            <a:ahLst/>
            <a:cxnLst/>
            <a:rect r="r" b="b" t="t" l="l"/>
            <a:pathLst>
              <a:path h="201965" w="1028599">
                <a:moveTo>
                  <a:pt x="0" y="0"/>
                </a:moveTo>
                <a:lnTo>
                  <a:pt x="1028599" y="0"/>
                </a:lnTo>
                <a:lnTo>
                  <a:pt x="1028599" y="201965"/>
                </a:lnTo>
                <a:lnTo>
                  <a:pt x="0" y="2019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2296" r="0" b="-2292"/>
            </a:stretch>
          </a:blipFill>
        </p:spPr>
      </p:sp>
      <p:sp>
        <p:nvSpPr>
          <p:cNvPr name="Freeform 60" id="60" descr="preencoded.png"/>
          <p:cNvSpPr/>
          <p:nvPr/>
        </p:nvSpPr>
        <p:spPr>
          <a:xfrm flipH="false" flipV="false" rot="0">
            <a:off x="10337632" y="4915964"/>
            <a:ext cx="771442" cy="697991"/>
          </a:xfrm>
          <a:custGeom>
            <a:avLst/>
            <a:gdLst/>
            <a:ahLst/>
            <a:cxnLst/>
            <a:rect r="r" b="b" t="t" l="l"/>
            <a:pathLst>
              <a:path h="697991" w="771442">
                <a:moveTo>
                  <a:pt x="0" y="0"/>
                </a:moveTo>
                <a:lnTo>
                  <a:pt x="771442" y="0"/>
                </a:lnTo>
                <a:lnTo>
                  <a:pt x="771442" y="697992"/>
                </a:lnTo>
                <a:lnTo>
                  <a:pt x="0" y="6979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656" r="0" b="-656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8597310" y="5674465"/>
            <a:ext cx="2265722" cy="3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Pod–Station Visits ↓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965467" y="4870169"/>
            <a:ext cx="18269" cy="1142105"/>
            <a:chOff x="0" y="0"/>
            <a:chExt cx="25260" cy="15792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273" cy="1579245"/>
            </a:xfrm>
            <a:custGeom>
              <a:avLst/>
              <a:gdLst/>
              <a:ahLst/>
              <a:cxnLst/>
              <a:rect r="r" b="b" t="t" l="l"/>
              <a:pathLst>
                <a:path h="1579245" w="25273">
                  <a:moveTo>
                    <a:pt x="0" y="0"/>
                  </a:moveTo>
                  <a:lnTo>
                    <a:pt x="25273" y="0"/>
                  </a:lnTo>
                  <a:lnTo>
                    <a:pt x="25273" y="1579245"/>
                  </a:lnTo>
                  <a:lnTo>
                    <a:pt x="0" y="1579245"/>
                  </a:lnTo>
                  <a:close/>
                </a:path>
              </a:pathLst>
            </a:custGeom>
            <a:solidFill>
              <a:srgbClr val="C7D9EF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3269565" y="5683723"/>
            <a:ext cx="2700858" cy="3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Travel Distance ↓</a:t>
            </a:r>
          </a:p>
        </p:txBody>
      </p:sp>
      <p:sp>
        <p:nvSpPr>
          <p:cNvPr name="Freeform 65" id="65" descr="preencoded.png"/>
          <p:cNvSpPr/>
          <p:nvPr/>
        </p:nvSpPr>
        <p:spPr>
          <a:xfrm flipH="false" flipV="false" rot="0">
            <a:off x="13193411" y="4907165"/>
            <a:ext cx="2701089" cy="595583"/>
          </a:xfrm>
          <a:custGeom>
            <a:avLst/>
            <a:gdLst/>
            <a:ahLst/>
            <a:cxnLst/>
            <a:rect r="r" b="b" t="t" l="l"/>
            <a:pathLst>
              <a:path h="595583" w="2701089">
                <a:moveTo>
                  <a:pt x="0" y="0"/>
                </a:moveTo>
                <a:lnTo>
                  <a:pt x="2701088" y="0"/>
                </a:lnTo>
                <a:lnTo>
                  <a:pt x="2701088" y="595583"/>
                </a:lnTo>
                <a:lnTo>
                  <a:pt x="0" y="59558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13957" r="0" b="-13957"/>
            </a:stretch>
          </a:blipFill>
        </p:spPr>
      </p:sp>
      <p:sp>
        <p:nvSpPr>
          <p:cNvPr name="Freeform 66" id="66" descr="preencoded.png"/>
          <p:cNvSpPr/>
          <p:nvPr/>
        </p:nvSpPr>
        <p:spPr>
          <a:xfrm flipH="false" flipV="false" rot="0">
            <a:off x="10154330" y="6249334"/>
            <a:ext cx="514295" cy="404049"/>
          </a:xfrm>
          <a:custGeom>
            <a:avLst/>
            <a:gdLst/>
            <a:ahLst/>
            <a:cxnLst/>
            <a:rect r="r" b="b" t="t" l="l"/>
            <a:pathLst>
              <a:path h="404049" w="514295">
                <a:moveTo>
                  <a:pt x="0" y="0"/>
                </a:moveTo>
                <a:lnTo>
                  <a:pt x="514295" y="0"/>
                </a:lnTo>
                <a:lnTo>
                  <a:pt x="514295" y="404050"/>
                </a:lnTo>
                <a:lnTo>
                  <a:pt x="0" y="404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-13641" r="0" b="-13643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713445" y="7234186"/>
            <a:ext cx="905805" cy="36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2314" b="tru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 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13445" y="7574171"/>
            <a:ext cx="1863802" cy="28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3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2808687" y="7549299"/>
            <a:ext cx="209010" cy="18269"/>
            <a:chOff x="0" y="0"/>
            <a:chExt cx="289001" cy="252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89052" cy="25273"/>
            </a:xfrm>
            <a:custGeom>
              <a:avLst/>
              <a:gdLst/>
              <a:ahLst/>
              <a:cxnLst/>
              <a:rect r="r" b="b" t="t" l="l"/>
              <a:pathLst>
                <a:path h="25273" w="289052">
                  <a:moveTo>
                    <a:pt x="0" y="0"/>
                  </a:moveTo>
                  <a:lnTo>
                    <a:pt x="289052" y="0"/>
                  </a:lnTo>
                  <a:lnTo>
                    <a:pt x="289052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3017697" y="7498810"/>
            <a:ext cx="119375" cy="119375"/>
            <a:chOff x="0" y="0"/>
            <a:chExt cx="165062" cy="16506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5100" cy="165100"/>
            </a:xfrm>
            <a:custGeom>
              <a:avLst/>
              <a:gdLst/>
              <a:ahLst/>
              <a:cxnLst/>
              <a:rect r="r" b="b" t="t" l="l"/>
              <a:pathLst>
                <a:path h="165100" w="165100">
                  <a:moveTo>
                    <a:pt x="0" y="82550"/>
                  </a:moveTo>
                  <a:cubicBezTo>
                    <a:pt x="0" y="36957"/>
                    <a:pt x="36957" y="0"/>
                    <a:pt x="82550" y="0"/>
                  </a:cubicBezTo>
                  <a:cubicBezTo>
                    <a:pt x="128143" y="0"/>
                    <a:pt x="165100" y="36957"/>
                    <a:pt x="165100" y="82550"/>
                  </a:cubicBezTo>
                  <a:cubicBezTo>
                    <a:pt x="165100" y="128143"/>
                    <a:pt x="128143" y="165100"/>
                    <a:pt x="82550" y="165100"/>
                  </a:cubicBezTo>
                  <a:cubicBezTo>
                    <a:pt x="36957" y="165100"/>
                    <a:pt x="0" y="128143"/>
                    <a:pt x="0" y="82550"/>
                  </a:cubicBez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3367482" y="6700088"/>
            <a:ext cx="3410517" cy="1716937"/>
            <a:chOff x="0" y="0"/>
            <a:chExt cx="4715777" cy="23740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15764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5764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494" y="0"/>
                  </a:lnTo>
                  <a:cubicBezTo>
                    <a:pt x="4658360" y="0"/>
                    <a:pt x="4715764" y="57404"/>
                    <a:pt x="4715764" y="128270"/>
                  </a:cubicBezTo>
                  <a:lnTo>
                    <a:pt x="4715764" y="2245741"/>
                  </a:lnTo>
                  <a:cubicBezTo>
                    <a:pt x="4715764" y="2316607"/>
                    <a:pt x="4658360" y="2374011"/>
                    <a:pt x="4587494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75" id="75" descr="preencoded.png"/>
          <p:cNvSpPr/>
          <p:nvPr/>
        </p:nvSpPr>
        <p:spPr>
          <a:xfrm flipH="false" flipV="false" rot="0">
            <a:off x="3557828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4720677" y="7197006"/>
            <a:ext cx="1420378" cy="31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Productivity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4274088" y="7552293"/>
            <a:ext cx="2313555" cy="18269"/>
            <a:chOff x="0" y="0"/>
            <a:chExt cx="3198990" cy="252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99003" cy="25273"/>
            </a:xfrm>
            <a:custGeom>
              <a:avLst/>
              <a:gdLst/>
              <a:ahLst/>
              <a:cxnLst/>
              <a:rect r="r" b="b" t="t" l="l"/>
              <a:pathLst>
                <a:path h="25273" w="3199003">
                  <a:moveTo>
                    <a:pt x="0" y="0"/>
                  </a:moveTo>
                  <a:lnTo>
                    <a:pt x="3199003" y="0"/>
                  </a:lnTo>
                  <a:lnTo>
                    <a:pt x="319900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4752675" y="7649458"/>
            <a:ext cx="1356382" cy="31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Throughput ↑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6926600" y="6700088"/>
            <a:ext cx="3410517" cy="1716937"/>
            <a:chOff x="0" y="0"/>
            <a:chExt cx="4715777" cy="23740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15764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5764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494" y="0"/>
                  </a:lnTo>
                  <a:cubicBezTo>
                    <a:pt x="4658360" y="0"/>
                    <a:pt x="4715764" y="57404"/>
                    <a:pt x="4715764" y="128270"/>
                  </a:cubicBezTo>
                  <a:lnTo>
                    <a:pt x="4715764" y="2245741"/>
                  </a:lnTo>
                  <a:cubicBezTo>
                    <a:pt x="4715764" y="2316607"/>
                    <a:pt x="4658360" y="2374011"/>
                    <a:pt x="4587494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82" id="82" descr="preencoded.png"/>
          <p:cNvSpPr/>
          <p:nvPr/>
        </p:nvSpPr>
        <p:spPr>
          <a:xfrm flipH="false" flipV="false" rot="0">
            <a:off x="7116947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7820963" y="6896543"/>
            <a:ext cx="2338051" cy="60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Fulfillment Efficiency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7833207" y="7558171"/>
            <a:ext cx="2313555" cy="18269"/>
            <a:chOff x="0" y="0"/>
            <a:chExt cx="3198990" cy="252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99003" cy="25273"/>
            </a:xfrm>
            <a:custGeom>
              <a:avLst/>
              <a:gdLst/>
              <a:ahLst/>
              <a:cxnLst/>
              <a:rect r="r" b="b" t="t" l="l"/>
              <a:pathLst>
                <a:path h="25273" w="3199003">
                  <a:moveTo>
                    <a:pt x="0" y="0"/>
                  </a:moveTo>
                  <a:lnTo>
                    <a:pt x="3199003" y="0"/>
                  </a:lnTo>
                  <a:lnTo>
                    <a:pt x="319900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7820963" y="7655328"/>
            <a:ext cx="2338051" cy="59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Completion Time ↓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0485719" y="6700088"/>
            <a:ext cx="3410517" cy="1716937"/>
            <a:chOff x="0" y="0"/>
            <a:chExt cx="4715777" cy="23740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15764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5764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494" y="0"/>
                  </a:lnTo>
                  <a:cubicBezTo>
                    <a:pt x="4658360" y="0"/>
                    <a:pt x="4715764" y="57404"/>
                    <a:pt x="4715764" y="128270"/>
                  </a:cubicBezTo>
                  <a:lnTo>
                    <a:pt x="4715764" y="2245741"/>
                  </a:lnTo>
                  <a:cubicBezTo>
                    <a:pt x="4715764" y="2316607"/>
                    <a:pt x="4658360" y="2374011"/>
                    <a:pt x="4587494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89" id="89" descr="preencoded.png"/>
          <p:cNvSpPr/>
          <p:nvPr/>
        </p:nvSpPr>
        <p:spPr>
          <a:xfrm flipH="false" flipV="false" rot="0">
            <a:off x="10676065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11380082" y="7043840"/>
            <a:ext cx="2338051" cy="31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Resource Efficiency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1431273" y="7558171"/>
            <a:ext cx="2313555" cy="18269"/>
            <a:chOff x="0" y="0"/>
            <a:chExt cx="3198990" cy="252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99003" cy="25273"/>
            </a:xfrm>
            <a:custGeom>
              <a:avLst/>
              <a:gdLst/>
              <a:ahLst/>
              <a:cxnLst/>
              <a:rect r="r" b="b" t="t" l="l"/>
              <a:pathLst>
                <a:path h="25273" w="3199003">
                  <a:moveTo>
                    <a:pt x="0" y="0"/>
                  </a:moveTo>
                  <a:lnTo>
                    <a:pt x="3199003" y="0"/>
                  </a:lnTo>
                  <a:lnTo>
                    <a:pt x="319900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1685155" y="7802625"/>
            <a:ext cx="1727895" cy="31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Utilization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4044828" y="6700088"/>
            <a:ext cx="3410646" cy="1716937"/>
            <a:chOff x="0" y="0"/>
            <a:chExt cx="4715954" cy="237403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716018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6018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748" y="0"/>
                  </a:lnTo>
                  <a:cubicBezTo>
                    <a:pt x="4658614" y="0"/>
                    <a:pt x="4716018" y="57404"/>
                    <a:pt x="4716018" y="128270"/>
                  </a:cubicBezTo>
                  <a:lnTo>
                    <a:pt x="4716018" y="2245741"/>
                  </a:lnTo>
                  <a:cubicBezTo>
                    <a:pt x="4716018" y="2316607"/>
                    <a:pt x="4658614" y="2374011"/>
                    <a:pt x="4587748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96" id="96" descr="preencoded.png"/>
          <p:cNvSpPr/>
          <p:nvPr/>
        </p:nvSpPr>
        <p:spPr>
          <a:xfrm flipH="false" flipV="false" rot="0">
            <a:off x="14235183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7" id="97"/>
          <p:cNvSpPr txBox="true"/>
          <p:nvPr/>
        </p:nvSpPr>
        <p:spPr>
          <a:xfrm rot="0">
            <a:off x="15323677" y="7049709"/>
            <a:ext cx="1569207" cy="31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Sustainability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14951443" y="7405005"/>
            <a:ext cx="2313684" cy="18269"/>
            <a:chOff x="0" y="0"/>
            <a:chExt cx="3199168" cy="252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199130" cy="25273"/>
            </a:xfrm>
            <a:custGeom>
              <a:avLst/>
              <a:gdLst/>
              <a:ahLst/>
              <a:cxnLst/>
              <a:rect r="r" b="b" t="t" l="l"/>
              <a:pathLst>
                <a:path h="25273" w="3199130">
                  <a:moveTo>
                    <a:pt x="0" y="0"/>
                  </a:moveTo>
                  <a:lnTo>
                    <a:pt x="3199130" y="0"/>
                  </a:lnTo>
                  <a:lnTo>
                    <a:pt x="319913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4939191" y="7502161"/>
            <a:ext cx="2338180" cy="3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Consumption ↓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2832779" y="5212519"/>
            <a:ext cx="209010" cy="18269"/>
            <a:chOff x="0" y="0"/>
            <a:chExt cx="289001" cy="252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89052" cy="25273"/>
            </a:xfrm>
            <a:custGeom>
              <a:avLst/>
              <a:gdLst/>
              <a:ahLst/>
              <a:cxnLst/>
              <a:rect r="r" b="b" t="t" l="l"/>
              <a:pathLst>
                <a:path h="25273" w="289052">
                  <a:moveTo>
                    <a:pt x="0" y="0"/>
                  </a:moveTo>
                  <a:lnTo>
                    <a:pt x="289052" y="0"/>
                  </a:lnTo>
                  <a:lnTo>
                    <a:pt x="289052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0C3D7E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  Literature Reviews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9 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3060" y="1346705"/>
            <a:ext cx="9571015" cy="7023182"/>
            <a:chOff x="0" y="0"/>
            <a:chExt cx="6059603" cy="44465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59628" cy="4446486"/>
            </a:xfrm>
            <a:custGeom>
              <a:avLst/>
              <a:gdLst/>
              <a:ahLst/>
              <a:cxnLst/>
              <a:rect r="r" b="b" t="t" l="l"/>
              <a:pathLst>
                <a:path h="4446486" w="6059628">
                  <a:moveTo>
                    <a:pt x="0" y="0"/>
                  </a:moveTo>
                  <a:lnTo>
                    <a:pt x="6059628" y="0"/>
                  </a:lnTo>
                  <a:lnTo>
                    <a:pt x="6059628" y="4446486"/>
                  </a:lnTo>
                  <a:lnTo>
                    <a:pt x="0" y="44464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251" t="0" r="-98964" b="-57845"/>
              </a:stretch>
            </a:blipFill>
            <a:ln w="9525" cap="sq">
              <a:solidFill>
                <a:srgbClr val="1F386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13060" y="1346705"/>
            <a:ext cx="9571015" cy="725408"/>
            <a:chOff x="0" y="0"/>
            <a:chExt cx="6059603" cy="459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59616" cy="459321"/>
            </a:xfrm>
            <a:custGeom>
              <a:avLst/>
              <a:gdLst/>
              <a:ahLst/>
              <a:cxnLst/>
              <a:rect r="r" b="b" t="t" l="l"/>
              <a:pathLst>
                <a:path h="459321" w="6059616">
                  <a:moveTo>
                    <a:pt x="0" y="0"/>
                  </a:moveTo>
                  <a:lnTo>
                    <a:pt x="6059616" y="0"/>
                  </a:lnTo>
                  <a:lnTo>
                    <a:pt x="6059616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3926" y="2308316"/>
            <a:ext cx="2671087" cy="1199912"/>
            <a:chOff x="0" y="0"/>
            <a:chExt cx="1691119" cy="7596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1132" cy="759714"/>
            </a:xfrm>
            <a:custGeom>
              <a:avLst/>
              <a:gdLst/>
              <a:ahLst/>
              <a:cxnLst/>
              <a:rect r="r" b="b" t="t" l="l"/>
              <a:pathLst>
                <a:path h="759714" w="1691132">
                  <a:moveTo>
                    <a:pt x="0" y="0"/>
                  </a:moveTo>
                  <a:lnTo>
                    <a:pt x="1691132" y="0"/>
                  </a:lnTo>
                  <a:lnTo>
                    <a:pt x="1691132" y="759714"/>
                  </a:lnTo>
                  <a:lnTo>
                    <a:pt x="0" y="759714"/>
                  </a:lnTo>
                  <a:close/>
                </a:path>
              </a:pathLst>
            </a:custGeom>
            <a:solidFill>
              <a:srgbClr val="F2F6FC"/>
            </a:solidFill>
            <a:ln w="9525" cap="sq">
              <a:solidFill>
                <a:srgbClr val="4A7CC0"/>
              </a:solidFill>
              <a:prstDash val="solid"/>
              <a:miter/>
            </a:ln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780089" y="2662244"/>
            <a:ext cx="492057" cy="492057"/>
          </a:xfrm>
          <a:custGeom>
            <a:avLst/>
            <a:gdLst/>
            <a:ahLst/>
            <a:cxnLst/>
            <a:rect r="r" b="b" t="t" l="l"/>
            <a:pathLst>
              <a:path h="492057" w="492057">
                <a:moveTo>
                  <a:pt x="0" y="0"/>
                </a:moveTo>
                <a:lnTo>
                  <a:pt x="492056" y="0"/>
                </a:lnTo>
                <a:lnTo>
                  <a:pt x="492056" y="492057"/>
                </a:lnTo>
                <a:lnTo>
                  <a:pt x="0" y="492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3412281" y="2747797"/>
            <a:ext cx="320950" cy="320950"/>
          </a:xfrm>
          <a:custGeom>
            <a:avLst/>
            <a:gdLst/>
            <a:ahLst/>
            <a:cxnLst/>
            <a:rect r="r" b="b" t="t" l="l"/>
            <a:pathLst>
              <a:path h="320950" w="320950">
                <a:moveTo>
                  <a:pt x="0" y="0"/>
                </a:moveTo>
                <a:lnTo>
                  <a:pt x="320950" y="0"/>
                </a:lnTo>
                <a:lnTo>
                  <a:pt x="320950" y="320950"/>
                </a:lnTo>
                <a:lnTo>
                  <a:pt x="0" y="3209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830499" y="2308316"/>
            <a:ext cx="2671087" cy="1199912"/>
            <a:chOff x="0" y="0"/>
            <a:chExt cx="1691119" cy="7596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1132" cy="759714"/>
            </a:xfrm>
            <a:custGeom>
              <a:avLst/>
              <a:gdLst/>
              <a:ahLst/>
              <a:cxnLst/>
              <a:rect r="r" b="b" t="t" l="l"/>
              <a:pathLst>
                <a:path h="759714" w="1691132">
                  <a:moveTo>
                    <a:pt x="0" y="0"/>
                  </a:moveTo>
                  <a:lnTo>
                    <a:pt x="1691132" y="0"/>
                  </a:lnTo>
                  <a:lnTo>
                    <a:pt x="1691132" y="759714"/>
                  </a:lnTo>
                  <a:lnTo>
                    <a:pt x="0" y="759714"/>
                  </a:lnTo>
                  <a:close/>
                </a:path>
              </a:pathLst>
            </a:custGeom>
            <a:solidFill>
              <a:srgbClr val="F2F6FC"/>
            </a:solidFill>
            <a:ln w="9525" cap="sq">
              <a:solidFill>
                <a:srgbClr val="4A7CC0"/>
              </a:solidFill>
              <a:prstDash val="solid"/>
              <a:miter/>
            </a:ln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6598834" y="2747797"/>
            <a:ext cx="320950" cy="320950"/>
          </a:xfrm>
          <a:custGeom>
            <a:avLst/>
            <a:gdLst/>
            <a:ahLst/>
            <a:cxnLst/>
            <a:rect r="r" b="b" t="t" l="l"/>
            <a:pathLst>
              <a:path h="320950" w="320950">
                <a:moveTo>
                  <a:pt x="0" y="0"/>
                </a:moveTo>
                <a:lnTo>
                  <a:pt x="320950" y="0"/>
                </a:lnTo>
                <a:lnTo>
                  <a:pt x="320950" y="320950"/>
                </a:lnTo>
                <a:lnTo>
                  <a:pt x="0" y="3209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017052" y="2308316"/>
            <a:ext cx="2671087" cy="1199912"/>
            <a:chOff x="0" y="0"/>
            <a:chExt cx="1691119" cy="7596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91132" cy="759714"/>
            </a:xfrm>
            <a:custGeom>
              <a:avLst/>
              <a:gdLst/>
              <a:ahLst/>
              <a:cxnLst/>
              <a:rect r="r" b="b" t="t" l="l"/>
              <a:pathLst>
                <a:path h="759714" w="1691132">
                  <a:moveTo>
                    <a:pt x="0" y="0"/>
                  </a:moveTo>
                  <a:lnTo>
                    <a:pt x="1691132" y="0"/>
                  </a:lnTo>
                  <a:lnTo>
                    <a:pt x="1691132" y="759714"/>
                  </a:lnTo>
                  <a:lnTo>
                    <a:pt x="0" y="759714"/>
                  </a:lnTo>
                  <a:close/>
                </a:path>
              </a:pathLst>
            </a:custGeom>
            <a:solidFill>
              <a:srgbClr val="F2F6FC"/>
            </a:solidFill>
            <a:ln w="9525" cap="sq">
              <a:solidFill>
                <a:srgbClr val="4A7CC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43926" y="4276422"/>
            <a:ext cx="6626437" cy="3822837"/>
            <a:chOff x="0" y="0"/>
            <a:chExt cx="4195331" cy="24203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5318" cy="2420366"/>
            </a:xfrm>
            <a:custGeom>
              <a:avLst/>
              <a:gdLst/>
              <a:ahLst/>
              <a:cxnLst/>
              <a:rect r="r" b="b" t="t" l="l"/>
              <a:pathLst>
                <a:path h="2420366" w="4195318">
                  <a:moveTo>
                    <a:pt x="0" y="0"/>
                  </a:moveTo>
                  <a:lnTo>
                    <a:pt x="4195318" y="0"/>
                  </a:lnTo>
                  <a:lnTo>
                    <a:pt x="4195318" y="2420366"/>
                  </a:lnTo>
                  <a:lnTo>
                    <a:pt x="0" y="2420366"/>
                  </a:lnTo>
                  <a:close/>
                </a:path>
              </a:pathLst>
            </a:custGeom>
            <a:solidFill>
              <a:srgbClr val="F7FAFE"/>
            </a:solidFill>
            <a:ln w="9525" cap="sq">
              <a:solidFill>
                <a:srgbClr val="C7D9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8620" y="4935654"/>
            <a:ext cx="6117049" cy="2908911"/>
            <a:chOff x="0" y="0"/>
            <a:chExt cx="3872827" cy="1841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72865" cy="1841754"/>
            </a:xfrm>
            <a:custGeom>
              <a:avLst/>
              <a:gdLst/>
              <a:ahLst/>
              <a:cxnLst/>
              <a:rect r="r" b="b" t="t" l="l"/>
              <a:pathLst>
                <a:path h="1841754" w="3872865">
                  <a:moveTo>
                    <a:pt x="0" y="0"/>
                  </a:moveTo>
                  <a:lnTo>
                    <a:pt x="3872865" y="0"/>
                  </a:lnTo>
                  <a:lnTo>
                    <a:pt x="3872865" y="1841754"/>
                  </a:lnTo>
                  <a:lnTo>
                    <a:pt x="0" y="1841754"/>
                  </a:lnTo>
                  <a:close/>
                </a:path>
              </a:pathLst>
            </a:custGeom>
            <a:solidFill>
              <a:srgbClr val="F3F8F1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32051" y="5573442"/>
            <a:ext cx="5650207" cy="2037692"/>
            <a:chOff x="0" y="0"/>
            <a:chExt cx="3577260" cy="12901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77209" cy="1290066"/>
            </a:xfrm>
            <a:custGeom>
              <a:avLst/>
              <a:gdLst/>
              <a:ahLst/>
              <a:cxnLst/>
              <a:rect r="r" b="b" t="t" l="l"/>
              <a:pathLst>
                <a:path h="1290066" w="3577209">
                  <a:moveTo>
                    <a:pt x="0" y="0"/>
                  </a:moveTo>
                  <a:lnTo>
                    <a:pt x="3577209" y="0"/>
                  </a:lnTo>
                  <a:lnTo>
                    <a:pt x="3577209" y="1290066"/>
                  </a:lnTo>
                  <a:lnTo>
                    <a:pt x="0" y="1290066"/>
                  </a:lnTo>
                  <a:close/>
                </a:path>
              </a:pathLst>
            </a:custGeom>
            <a:solidFill>
              <a:srgbClr val="FEFAF0"/>
            </a:solidFill>
            <a:ln w="9525" cap="sq">
              <a:solidFill>
                <a:srgbClr val="E8C87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65462" y="6211250"/>
            <a:ext cx="5183365" cy="1166473"/>
            <a:chOff x="0" y="0"/>
            <a:chExt cx="3281693" cy="7385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81680" cy="738505"/>
            </a:xfrm>
            <a:custGeom>
              <a:avLst/>
              <a:gdLst/>
              <a:ahLst/>
              <a:cxnLst/>
              <a:rect r="r" b="b" t="t" l="l"/>
              <a:pathLst>
                <a:path h="738505" w="3281680">
                  <a:moveTo>
                    <a:pt x="0" y="0"/>
                  </a:moveTo>
                  <a:lnTo>
                    <a:pt x="3281680" y="0"/>
                  </a:lnTo>
                  <a:lnTo>
                    <a:pt x="3281680" y="738505"/>
                  </a:lnTo>
                  <a:lnTo>
                    <a:pt x="0" y="738505"/>
                  </a:lnTo>
                  <a:close/>
                </a:path>
              </a:pathLst>
            </a:custGeom>
            <a:solidFill>
              <a:srgbClr val="FDECEC"/>
            </a:solidFill>
            <a:ln w="9525" cap="sq">
              <a:solidFill>
                <a:srgbClr val="E0A3A1"/>
              </a:solidFill>
              <a:prstDash val="solid"/>
              <a:miter/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7330173" y="6123711"/>
            <a:ext cx="470633" cy="128260"/>
          </a:xfrm>
          <a:custGeom>
            <a:avLst/>
            <a:gdLst/>
            <a:ahLst/>
            <a:cxnLst/>
            <a:rect r="r" b="b" t="t" l="l"/>
            <a:pathLst>
              <a:path h="128260" w="470633">
                <a:moveTo>
                  <a:pt x="0" y="0"/>
                </a:moveTo>
                <a:lnTo>
                  <a:pt x="470633" y="0"/>
                </a:lnTo>
                <a:lnTo>
                  <a:pt x="470633" y="128260"/>
                </a:lnTo>
                <a:lnTo>
                  <a:pt x="0" y="128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518" r="0" b="-3503"/>
            </a:stretch>
          </a:blipFill>
        </p:spPr>
      </p:sp>
      <p:sp>
        <p:nvSpPr>
          <p:cNvPr name="Freeform 30" id="30" descr="preencoded.png"/>
          <p:cNvSpPr/>
          <p:nvPr/>
        </p:nvSpPr>
        <p:spPr>
          <a:xfrm flipH="false" flipV="false" rot="0">
            <a:off x="4047276" y="2662244"/>
            <a:ext cx="550172" cy="550172"/>
          </a:xfrm>
          <a:custGeom>
            <a:avLst/>
            <a:gdLst/>
            <a:ahLst/>
            <a:cxnLst/>
            <a:rect r="r" b="b" t="t" l="l"/>
            <a:pathLst>
              <a:path h="550172" w="550172">
                <a:moveTo>
                  <a:pt x="0" y="0"/>
                </a:moveTo>
                <a:lnTo>
                  <a:pt x="550172" y="0"/>
                </a:lnTo>
                <a:lnTo>
                  <a:pt x="550172" y="550172"/>
                </a:lnTo>
                <a:lnTo>
                  <a:pt x="0" y="5501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4099372" y="2920095"/>
            <a:ext cx="445980" cy="0"/>
          </a:xfrm>
          <a:prstGeom prst="line">
            <a:avLst/>
          </a:prstGeom>
          <a:ln cap="flat" w="57150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7176545" y="2645856"/>
            <a:ext cx="564289" cy="524832"/>
            <a:chOff x="0" y="0"/>
            <a:chExt cx="461250" cy="4289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1250" cy="428997"/>
            </a:xfrm>
            <a:custGeom>
              <a:avLst/>
              <a:gdLst/>
              <a:ahLst/>
              <a:cxnLst/>
              <a:rect r="r" b="b" t="t" l="l"/>
              <a:pathLst>
                <a:path h="428997" w="461250">
                  <a:moveTo>
                    <a:pt x="214499" y="0"/>
                  </a:moveTo>
                  <a:lnTo>
                    <a:pt x="246751" y="0"/>
                  </a:lnTo>
                  <a:cubicBezTo>
                    <a:pt x="303640" y="0"/>
                    <a:pt x="358198" y="22599"/>
                    <a:pt x="398424" y="62825"/>
                  </a:cubicBezTo>
                  <a:cubicBezTo>
                    <a:pt x="438651" y="103051"/>
                    <a:pt x="461250" y="157610"/>
                    <a:pt x="461250" y="214499"/>
                  </a:cubicBezTo>
                  <a:lnTo>
                    <a:pt x="461250" y="214499"/>
                  </a:lnTo>
                  <a:cubicBezTo>
                    <a:pt x="461250" y="332963"/>
                    <a:pt x="365215" y="428997"/>
                    <a:pt x="246751" y="428997"/>
                  </a:cubicBezTo>
                  <a:lnTo>
                    <a:pt x="214499" y="428997"/>
                  </a:lnTo>
                  <a:cubicBezTo>
                    <a:pt x="96034" y="428997"/>
                    <a:pt x="0" y="332963"/>
                    <a:pt x="0" y="214499"/>
                  </a:cubicBezTo>
                  <a:lnTo>
                    <a:pt x="0" y="214499"/>
                  </a:lnTo>
                  <a:cubicBezTo>
                    <a:pt x="0" y="96034"/>
                    <a:pt x="96034" y="0"/>
                    <a:pt x="214499" y="0"/>
                  </a:cubicBezTo>
                  <a:close/>
                </a:path>
              </a:pathLst>
            </a:custGeom>
            <a:ln w="19050" cap="rnd">
              <a:solidFill>
                <a:srgbClr val="1F3864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61250" cy="457572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47288" y="2745979"/>
            <a:ext cx="165771" cy="16577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00218" y="2744115"/>
            <a:ext cx="165771" cy="16577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279821" y="2934111"/>
            <a:ext cx="357736" cy="178868"/>
            <a:chOff x="0" y="0"/>
            <a:chExt cx="812800" cy="40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 marL="0" indent="0" lvl="0">
                <a:lnSpc>
                  <a:spcPts val="1644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7380190" y="2942221"/>
            <a:ext cx="0" cy="170758"/>
          </a:xfrm>
          <a:prstGeom prst="line">
            <a:avLst/>
          </a:prstGeom>
          <a:ln cap="flat" w="952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7458689" y="2938166"/>
            <a:ext cx="0" cy="170758"/>
          </a:xfrm>
          <a:prstGeom prst="line">
            <a:avLst/>
          </a:prstGeom>
          <a:ln cap="flat" w="952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7529286" y="2938166"/>
            <a:ext cx="0" cy="170758"/>
          </a:xfrm>
          <a:prstGeom prst="line">
            <a:avLst/>
          </a:prstGeom>
          <a:ln cap="flat" w="952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203150" y="1378905"/>
            <a:ext cx="7671790" cy="7633121"/>
            <a:chOff x="0" y="0"/>
            <a:chExt cx="7156315" cy="71202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56341" cy="7120193"/>
            </a:xfrm>
            <a:custGeom>
              <a:avLst/>
              <a:gdLst/>
              <a:ahLst/>
              <a:cxnLst/>
              <a:rect r="r" b="b" t="t" l="l"/>
              <a:pathLst>
                <a:path h="7120193" w="7156341">
                  <a:moveTo>
                    <a:pt x="0" y="0"/>
                  </a:moveTo>
                  <a:lnTo>
                    <a:pt x="7156341" y="0"/>
                  </a:lnTo>
                  <a:lnTo>
                    <a:pt x="7156341" y="7120193"/>
                  </a:lnTo>
                  <a:lnTo>
                    <a:pt x="0" y="71201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194" t="0" r="-68473" b="1427"/>
              </a:stretch>
            </a:blipFill>
            <a:ln w="9525" cap="sq">
              <a:solidFill>
                <a:srgbClr val="E1701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203150" y="1346705"/>
            <a:ext cx="7671790" cy="725408"/>
            <a:chOff x="0" y="0"/>
            <a:chExt cx="7156315" cy="67666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56328" cy="676718"/>
            </a:xfrm>
            <a:custGeom>
              <a:avLst/>
              <a:gdLst/>
              <a:ahLst/>
              <a:cxnLst/>
              <a:rect r="r" b="b" t="t" l="l"/>
              <a:pathLst>
                <a:path h="676718" w="7156328">
                  <a:moveTo>
                    <a:pt x="0" y="0"/>
                  </a:moveTo>
                  <a:lnTo>
                    <a:pt x="7156328" y="0"/>
                  </a:lnTo>
                  <a:lnTo>
                    <a:pt x="7156328" y="676718"/>
                  </a:lnTo>
                  <a:lnTo>
                    <a:pt x="0" y="676718"/>
                  </a:lnTo>
                  <a:close/>
                </a:path>
              </a:pathLst>
            </a:custGeom>
            <a:solidFill>
              <a:srgbClr val="E1701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12786" y="2190102"/>
            <a:ext cx="794709" cy="794709"/>
            <a:chOff x="0" y="0"/>
            <a:chExt cx="741312" cy="7413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1299" cy="741299"/>
            </a:xfrm>
            <a:custGeom>
              <a:avLst/>
              <a:gdLst/>
              <a:ahLst/>
              <a:cxnLst/>
              <a:rect r="r" b="b" t="t" l="l"/>
              <a:pathLst>
                <a:path h="741299" w="741299">
                  <a:moveTo>
                    <a:pt x="0" y="370713"/>
                  </a:moveTo>
                  <a:cubicBezTo>
                    <a:pt x="0" y="165989"/>
                    <a:pt x="165989" y="0"/>
                    <a:pt x="370713" y="0"/>
                  </a:cubicBezTo>
                  <a:cubicBezTo>
                    <a:pt x="575437" y="0"/>
                    <a:pt x="741299" y="165989"/>
                    <a:pt x="741299" y="370713"/>
                  </a:cubicBezTo>
                  <a:cubicBezTo>
                    <a:pt x="741299" y="575437"/>
                    <a:pt x="575310" y="741299"/>
                    <a:pt x="370713" y="741299"/>
                  </a:cubicBezTo>
                  <a:cubicBezTo>
                    <a:pt x="166116" y="741299"/>
                    <a:pt x="0" y="575310"/>
                    <a:pt x="0" y="370713"/>
                  </a:cubicBez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7BA3D6"/>
              </a:solidFill>
              <a:prstDash val="solid"/>
              <a:miter/>
            </a:ln>
          </p:spPr>
        </p:sp>
      </p:grpSp>
      <p:sp>
        <p:nvSpPr>
          <p:cNvPr name="Freeform 53" id="53" descr="preencoded.png"/>
          <p:cNvSpPr/>
          <p:nvPr/>
        </p:nvSpPr>
        <p:spPr>
          <a:xfrm flipH="false" flipV="false" rot="0">
            <a:off x="13821337" y="2398667"/>
            <a:ext cx="377497" cy="377497"/>
          </a:xfrm>
          <a:custGeom>
            <a:avLst/>
            <a:gdLst/>
            <a:ahLst/>
            <a:cxnLst/>
            <a:rect r="r" b="b" t="t" l="l"/>
            <a:pathLst>
              <a:path h="377497" w="377497">
                <a:moveTo>
                  <a:pt x="0" y="0"/>
                </a:moveTo>
                <a:lnTo>
                  <a:pt x="377497" y="0"/>
                </a:lnTo>
                <a:lnTo>
                  <a:pt x="377497" y="377498"/>
                </a:lnTo>
                <a:lnTo>
                  <a:pt x="0" y="377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0550889" y="5209731"/>
            <a:ext cx="4149458" cy="1785298"/>
            <a:chOff x="0" y="0"/>
            <a:chExt cx="3715233" cy="159847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15258" cy="1598422"/>
            </a:xfrm>
            <a:custGeom>
              <a:avLst/>
              <a:gdLst/>
              <a:ahLst/>
              <a:cxnLst/>
              <a:rect r="r" b="b" t="t" l="l"/>
              <a:pathLst>
                <a:path h="1598422" w="3715258">
                  <a:moveTo>
                    <a:pt x="0" y="0"/>
                  </a:moveTo>
                  <a:lnTo>
                    <a:pt x="3715258" y="0"/>
                  </a:lnTo>
                  <a:lnTo>
                    <a:pt x="3715258" y="1598422"/>
                  </a:lnTo>
                  <a:lnTo>
                    <a:pt x="0" y="1598422"/>
                  </a:lnTo>
                  <a:close/>
                </a:path>
              </a:pathLst>
            </a:custGeom>
            <a:solidFill>
              <a:srgbClr val="FFF9F3"/>
            </a:solidFill>
            <a:ln w="9525" cap="sq">
              <a:solidFill>
                <a:srgbClr val="F0C9A6"/>
              </a:solidFill>
              <a:prstDash val="solid"/>
              <a:miter/>
            </a:ln>
          </p:spPr>
        </p:sp>
      </p:grpSp>
      <p:sp>
        <p:nvSpPr>
          <p:cNvPr name="Freeform 56" id="56" descr="preencoded.png"/>
          <p:cNvSpPr/>
          <p:nvPr/>
        </p:nvSpPr>
        <p:spPr>
          <a:xfrm flipH="false" flipV="false" rot="0">
            <a:off x="10721767" y="5426483"/>
            <a:ext cx="3814629" cy="1365656"/>
          </a:xfrm>
          <a:custGeom>
            <a:avLst/>
            <a:gdLst/>
            <a:ahLst/>
            <a:cxnLst/>
            <a:rect r="r" b="b" t="t" l="l"/>
            <a:pathLst>
              <a:path h="1365656" w="3814629">
                <a:moveTo>
                  <a:pt x="0" y="0"/>
                </a:moveTo>
                <a:lnTo>
                  <a:pt x="3814629" y="0"/>
                </a:lnTo>
                <a:lnTo>
                  <a:pt x="3814629" y="1365655"/>
                </a:lnTo>
                <a:lnTo>
                  <a:pt x="0" y="13656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369" r="-13712" b="-24335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0550889" y="7316060"/>
            <a:ext cx="7137329" cy="1504497"/>
            <a:chOff x="0" y="0"/>
            <a:chExt cx="6657765" cy="14034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57750" cy="1403335"/>
            </a:xfrm>
            <a:custGeom>
              <a:avLst/>
              <a:gdLst/>
              <a:ahLst/>
              <a:cxnLst/>
              <a:rect r="r" b="b" t="t" l="l"/>
              <a:pathLst>
                <a:path h="1403335" w="6657750">
                  <a:moveTo>
                    <a:pt x="0" y="0"/>
                  </a:moveTo>
                  <a:lnTo>
                    <a:pt x="6657750" y="0"/>
                  </a:lnTo>
                  <a:lnTo>
                    <a:pt x="6657750" y="1403335"/>
                  </a:lnTo>
                  <a:lnTo>
                    <a:pt x="0" y="14033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576" r="13994" b="-5434"/>
              </a:stretch>
            </a:blipFill>
            <a:ln w="9525" cap="sq">
              <a:solidFill>
                <a:srgbClr val="404040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0695038" y="7537953"/>
            <a:ext cx="6849032" cy="25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Interactions among OA, PS, and TA </a:t>
            </a:r>
            <a:r>
              <a:rPr lang="en-US" sz="1429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preserve a richer set of feasible combinations.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654141" y="3561892"/>
            <a:ext cx="794709" cy="794709"/>
            <a:chOff x="0" y="0"/>
            <a:chExt cx="741312" cy="7413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1299" cy="741299"/>
            </a:xfrm>
            <a:custGeom>
              <a:avLst/>
              <a:gdLst/>
              <a:ahLst/>
              <a:cxnLst/>
              <a:rect r="r" b="b" t="t" l="l"/>
              <a:pathLst>
                <a:path h="741299" w="741299">
                  <a:moveTo>
                    <a:pt x="0" y="370713"/>
                  </a:moveTo>
                  <a:cubicBezTo>
                    <a:pt x="0" y="165989"/>
                    <a:pt x="165989" y="0"/>
                    <a:pt x="370713" y="0"/>
                  </a:cubicBezTo>
                  <a:cubicBezTo>
                    <a:pt x="575437" y="0"/>
                    <a:pt x="741299" y="165989"/>
                    <a:pt x="741299" y="370713"/>
                  </a:cubicBezTo>
                  <a:cubicBezTo>
                    <a:pt x="741299" y="575437"/>
                    <a:pt x="575310" y="741299"/>
                    <a:pt x="370713" y="741299"/>
                  </a:cubicBezTo>
                  <a:cubicBezTo>
                    <a:pt x="166116" y="741299"/>
                    <a:pt x="0" y="575310"/>
                    <a:pt x="0" y="370713"/>
                  </a:cubicBezTo>
                  <a:close/>
                </a:path>
              </a:pathLst>
            </a:custGeom>
            <a:solidFill>
              <a:srgbClr val="FDF6E3"/>
            </a:solidFill>
            <a:ln w="9525" cap="sq">
              <a:solidFill>
                <a:srgbClr val="E0C079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757802" y="3686035"/>
            <a:ext cx="587386" cy="546314"/>
            <a:chOff x="0" y="0"/>
            <a:chExt cx="461250" cy="42899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1250" cy="428997"/>
            </a:xfrm>
            <a:custGeom>
              <a:avLst/>
              <a:gdLst/>
              <a:ahLst/>
              <a:cxnLst/>
              <a:rect r="r" b="b" t="t" l="l"/>
              <a:pathLst>
                <a:path h="428997" w="461250">
                  <a:moveTo>
                    <a:pt x="214499" y="0"/>
                  </a:moveTo>
                  <a:lnTo>
                    <a:pt x="246751" y="0"/>
                  </a:lnTo>
                  <a:cubicBezTo>
                    <a:pt x="303640" y="0"/>
                    <a:pt x="358198" y="22599"/>
                    <a:pt x="398424" y="62825"/>
                  </a:cubicBezTo>
                  <a:cubicBezTo>
                    <a:pt x="438651" y="103051"/>
                    <a:pt x="461250" y="157610"/>
                    <a:pt x="461250" y="214499"/>
                  </a:cubicBezTo>
                  <a:lnTo>
                    <a:pt x="461250" y="214499"/>
                  </a:lnTo>
                  <a:cubicBezTo>
                    <a:pt x="461250" y="332963"/>
                    <a:pt x="365215" y="428997"/>
                    <a:pt x="246751" y="428997"/>
                  </a:cubicBezTo>
                  <a:lnTo>
                    <a:pt x="214499" y="428997"/>
                  </a:lnTo>
                  <a:cubicBezTo>
                    <a:pt x="96034" y="428997"/>
                    <a:pt x="0" y="332963"/>
                    <a:pt x="0" y="214499"/>
                  </a:cubicBezTo>
                  <a:lnTo>
                    <a:pt x="0" y="214499"/>
                  </a:lnTo>
                  <a:cubicBezTo>
                    <a:pt x="0" y="96034"/>
                    <a:pt x="96034" y="0"/>
                    <a:pt x="214499" y="0"/>
                  </a:cubicBezTo>
                  <a:close/>
                </a:path>
              </a:pathLst>
            </a:custGeom>
            <a:ln w="19050" cap="rnd">
              <a:solidFill>
                <a:srgbClr val="E0C079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61250" cy="457572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831441" y="3790257"/>
            <a:ext cx="172556" cy="172556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0C079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094724" y="3788316"/>
            <a:ext cx="172556" cy="172556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0C079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865306" y="3986089"/>
            <a:ext cx="372379" cy="186189"/>
            <a:chOff x="0" y="0"/>
            <a:chExt cx="812800" cy="406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0C079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 marL="0" indent="0" lvl="0">
                <a:lnSpc>
                  <a:spcPts val="1644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4" id="74"/>
          <p:cNvSpPr/>
          <p:nvPr/>
        </p:nvSpPr>
        <p:spPr>
          <a:xfrm flipV="true">
            <a:off x="14969783" y="3994531"/>
            <a:ext cx="0" cy="177748"/>
          </a:xfrm>
          <a:prstGeom prst="line">
            <a:avLst/>
          </a:prstGeom>
          <a:ln cap="flat" w="9525">
            <a:solidFill>
              <a:srgbClr val="E0C0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V="true">
            <a:off x="15051496" y="3990310"/>
            <a:ext cx="0" cy="177748"/>
          </a:xfrm>
          <a:prstGeom prst="line">
            <a:avLst/>
          </a:prstGeom>
          <a:ln cap="flat" w="9525">
            <a:solidFill>
              <a:srgbClr val="E0C0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V="true">
            <a:off x="15124982" y="3990310"/>
            <a:ext cx="0" cy="177748"/>
          </a:xfrm>
          <a:prstGeom prst="line">
            <a:avLst/>
          </a:prstGeom>
          <a:ln cap="flat" w="9525">
            <a:solidFill>
              <a:srgbClr val="E0C07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2625618" y="3561892"/>
            <a:ext cx="794709" cy="794709"/>
            <a:chOff x="0" y="0"/>
            <a:chExt cx="741312" cy="7413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41299" cy="741299"/>
            </a:xfrm>
            <a:custGeom>
              <a:avLst/>
              <a:gdLst/>
              <a:ahLst/>
              <a:cxnLst/>
              <a:rect r="r" b="b" t="t" l="l"/>
              <a:pathLst>
                <a:path h="741299" w="741299">
                  <a:moveTo>
                    <a:pt x="0" y="370713"/>
                  </a:moveTo>
                  <a:cubicBezTo>
                    <a:pt x="0" y="165989"/>
                    <a:pt x="165989" y="0"/>
                    <a:pt x="370713" y="0"/>
                  </a:cubicBezTo>
                  <a:cubicBezTo>
                    <a:pt x="575437" y="0"/>
                    <a:pt x="741299" y="165989"/>
                    <a:pt x="741299" y="370713"/>
                  </a:cubicBezTo>
                  <a:cubicBezTo>
                    <a:pt x="741299" y="575437"/>
                    <a:pt x="575310" y="741299"/>
                    <a:pt x="370713" y="741299"/>
                  </a:cubicBezTo>
                  <a:cubicBezTo>
                    <a:pt x="166116" y="741299"/>
                    <a:pt x="0" y="575310"/>
                    <a:pt x="0" y="370713"/>
                  </a:cubicBezTo>
                  <a:close/>
                </a:path>
              </a:pathLst>
            </a:custGeom>
            <a:solidFill>
              <a:srgbClr val="EFF6EB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sp>
        <p:nvSpPr>
          <p:cNvPr name="Freeform 79" id="79" descr="preencoded.png"/>
          <p:cNvSpPr/>
          <p:nvPr/>
        </p:nvSpPr>
        <p:spPr>
          <a:xfrm flipH="false" flipV="false" rot="0">
            <a:off x="12822656" y="3758931"/>
            <a:ext cx="400632" cy="400632"/>
          </a:xfrm>
          <a:custGeom>
            <a:avLst/>
            <a:gdLst/>
            <a:ahLst/>
            <a:cxnLst/>
            <a:rect r="r" b="b" t="t" l="l"/>
            <a:pathLst>
              <a:path h="400632" w="400632">
                <a:moveTo>
                  <a:pt x="0" y="0"/>
                </a:moveTo>
                <a:lnTo>
                  <a:pt x="400633" y="0"/>
                </a:lnTo>
                <a:lnTo>
                  <a:pt x="400633" y="400632"/>
                </a:lnTo>
                <a:lnTo>
                  <a:pt x="0" y="4006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0" id="80"/>
          <p:cNvSpPr/>
          <p:nvPr/>
        </p:nvSpPr>
        <p:spPr>
          <a:xfrm>
            <a:off x="12860592" y="3946697"/>
            <a:ext cx="324760" cy="0"/>
          </a:xfrm>
          <a:prstGeom prst="line">
            <a:avLst/>
          </a:prstGeom>
          <a:ln cap="flat" w="2857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V="true">
            <a:off x="13161607" y="2714901"/>
            <a:ext cx="451178" cy="846991"/>
          </a:xfrm>
          <a:prstGeom prst="line">
            <a:avLst/>
          </a:prstGeom>
          <a:ln cap="flat" w="47625">
            <a:solidFill>
              <a:srgbClr val="1F386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82" id="82"/>
          <p:cNvSpPr/>
          <p:nvPr/>
        </p:nvSpPr>
        <p:spPr>
          <a:xfrm flipH="true" flipV="true">
            <a:off x="14453155" y="2714901"/>
            <a:ext cx="476153" cy="846991"/>
          </a:xfrm>
          <a:prstGeom prst="line">
            <a:avLst/>
          </a:prstGeom>
          <a:ln cap="flat" w="47625">
            <a:solidFill>
              <a:srgbClr val="1F386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83" id="83"/>
          <p:cNvSpPr/>
          <p:nvPr/>
        </p:nvSpPr>
        <p:spPr>
          <a:xfrm flipH="true">
            <a:off x="13420327" y="3959247"/>
            <a:ext cx="1233814" cy="0"/>
          </a:xfrm>
          <a:prstGeom prst="line">
            <a:avLst/>
          </a:prstGeom>
          <a:ln cap="flat" w="47625">
            <a:solidFill>
              <a:srgbClr val="1F386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84" id="84" descr="preencoded.png"/>
          <p:cNvSpPr/>
          <p:nvPr/>
        </p:nvSpPr>
        <p:spPr>
          <a:xfrm flipH="false" flipV="false" rot="0">
            <a:off x="15031963" y="5821267"/>
            <a:ext cx="470633" cy="128260"/>
          </a:xfrm>
          <a:custGeom>
            <a:avLst/>
            <a:gdLst/>
            <a:ahLst/>
            <a:cxnLst/>
            <a:rect r="r" b="b" t="t" l="l"/>
            <a:pathLst>
              <a:path h="128260" w="470633">
                <a:moveTo>
                  <a:pt x="0" y="0"/>
                </a:moveTo>
                <a:lnTo>
                  <a:pt x="470633" y="0"/>
                </a:lnTo>
                <a:lnTo>
                  <a:pt x="470633" y="128260"/>
                </a:lnTo>
                <a:lnTo>
                  <a:pt x="0" y="128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518" r="0" b="-3503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15683822" y="5426483"/>
            <a:ext cx="1734853" cy="885966"/>
            <a:chOff x="0" y="0"/>
            <a:chExt cx="456916" cy="23334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6916" cy="233341"/>
            </a:xfrm>
            <a:custGeom>
              <a:avLst/>
              <a:gdLst/>
              <a:ahLst/>
              <a:cxnLst/>
              <a:rect r="r" b="b" t="t" l="l"/>
              <a:pathLst>
                <a:path h="233341" w="456916">
                  <a:moveTo>
                    <a:pt x="0" y="0"/>
                  </a:moveTo>
                  <a:lnTo>
                    <a:pt x="456916" y="0"/>
                  </a:lnTo>
                  <a:lnTo>
                    <a:pt x="456916" y="233341"/>
                  </a:lnTo>
                  <a:lnTo>
                    <a:pt x="0" y="233341"/>
                  </a:lnTo>
                  <a:close/>
                </a:path>
              </a:pathLst>
            </a:custGeom>
            <a:solidFill>
              <a:srgbClr val="C0504D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456916" cy="261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7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5778259" y="5519859"/>
            <a:ext cx="1640415" cy="67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37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Obtain the soultion from full solution space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503048" y="1475264"/>
            <a:ext cx="5325989" cy="41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69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Traditional Sequential Optimization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892127" y="2500211"/>
            <a:ext cx="795020" cy="33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2105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1: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23407" y="2821161"/>
            <a:ext cx="1732462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Assignment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2041236" y="3103196"/>
            <a:ext cx="496804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(OA)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078681" y="2500211"/>
            <a:ext cx="795020" cy="33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2105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2: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825710" y="2821161"/>
            <a:ext cx="1300962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 Selection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266905" y="3103196"/>
            <a:ext cx="418572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(PS)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265234" y="2500211"/>
            <a:ext cx="795020" cy="33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2105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3: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7907731" y="2821161"/>
            <a:ext cx="1510026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Allocation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8427492" y="3103196"/>
            <a:ext cx="470504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(TA)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32051" y="3787676"/>
            <a:ext cx="5449689" cy="36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358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Progressive Shrinkage of the Search Space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859906" y="4511164"/>
            <a:ext cx="2194496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19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Solution Space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061057" y="5148952"/>
            <a:ext cx="1792194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190">
                <a:solidFill>
                  <a:srgbClr val="3B6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fixing OA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107193" y="5786740"/>
            <a:ext cx="1699921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190">
                <a:solidFill>
                  <a:srgbClr val="9A711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fixing PS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069241" y="6444357"/>
            <a:ext cx="3057431" cy="70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190">
                <a:solidFill>
                  <a:srgbClr val="9433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Search Region for TA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7896056" y="5594935"/>
            <a:ext cx="1918739" cy="1274928"/>
            <a:chOff x="0" y="0"/>
            <a:chExt cx="2191838" cy="14563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191863" cy="1456345"/>
            </a:xfrm>
            <a:custGeom>
              <a:avLst/>
              <a:gdLst/>
              <a:ahLst/>
              <a:cxnLst/>
              <a:rect r="r" b="b" t="t" l="l"/>
              <a:pathLst>
                <a:path h="1456345" w="2191863">
                  <a:moveTo>
                    <a:pt x="0" y="0"/>
                  </a:moveTo>
                  <a:lnTo>
                    <a:pt x="2191863" y="0"/>
                  </a:lnTo>
                  <a:lnTo>
                    <a:pt x="2191863" y="1456345"/>
                  </a:lnTo>
                  <a:lnTo>
                    <a:pt x="0" y="1456345"/>
                  </a:lnTo>
                  <a:close/>
                </a:path>
              </a:pathLst>
            </a:custGeom>
            <a:solidFill>
              <a:srgbClr val="C0504D"/>
            </a:solidFill>
            <a:ln w="9525" cap="sq">
              <a:solidFill>
                <a:srgbClr val="FF3131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8000102" y="5671135"/>
            <a:ext cx="1824849" cy="108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6"/>
              </a:lnSpc>
              <a:spcBef>
                <a:spcPct val="0"/>
              </a:spcBef>
            </a:pPr>
            <a:r>
              <a:rPr lang="en-US" b="true" sz="137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Fixing ups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am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ions 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independently 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may exclude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globally better coor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inated combinations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65462" y="5153064"/>
            <a:ext cx="2288809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  <a:spcBef>
                <a:spcPct val="0"/>
              </a:spcBef>
            </a:pPr>
            <a:r>
              <a:rPr lang="en-US" sz="2190" strike="noStrike" u="none">
                <a:solidFill>
                  <a:srgbClr val="3B6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996113" y="5766435"/>
            <a:ext cx="1013870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  <a:spcBef>
                <a:spcPct val="0"/>
              </a:spcBef>
            </a:pPr>
            <a:r>
              <a:rPr lang="en-US" sz="2190" strike="noStrike" u="none">
                <a:solidFill>
                  <a:srgbClr val="9A711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892127" y="6452326"/>
            <a:ext cx="1239908" cy="35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2190">
                <a:solidFill>
                  <a:srgbClr val="9433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262666" y="1471690"/>
            <a:ext cx="3494839" cy="4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4"/>
              </a:lnSpc>
              <a:spcBef>
                <a:spcPct val="0"/>
              </a:spcBef>
            </a:pPr>
            <a:r>
              <a:rPr lang="en-US" b="true" sz="2695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Joint Optimization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4567938" y="2457291"/>
            <a:ext cx="2047318" cy="2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486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Assignment  (OA)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1031544" y="3831073"/>
            <a:ext cx="1501490" cy="2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4"/>
              </a:lnSpc>
            </a:pPr>
            <a:r>
              <a:rPr lang="en-US" sz="1486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Pod Selection (PS)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832741" y="4627609"/>
            <a:ext cx="2536133" cy="26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1"/>
              </a:lnSpc>
            </a:pPr>
            <a:r>
              <a:rPr lang="en-US" sz="1600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Joint Feasible Solution Space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5600920" y="3805537"/>
            <a:ext cx="1900656" cy="2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486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Task Allocation (TA)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0721767" y="8219982"/>
            <a:ext cx="6932759" cy="50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the trade-off is that searching within a larger solution space </a:t>
            </a:r>
            <a:r>
              <a:rPr lang="en-US" b="true" sz="1429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requires significantly more computational time, leading to scalability issues. </a:t>
            </a:r>
          </a:p>
        </p:txBody>
      </p:sp>
      <p:sp>
        <p:nvSpPr>
          <p:cNvPr name="AutoShape 116" id="116"/>
          <p:cNvSpPr/>
          <p:nvPr/>
        </p:nvSpPr>
        <p:spPr>
          <a:xfrm>
            <a:off x="10550889" y="8068308"/>
            <a:ext cx="7137313" cy="0"/>
          </a:xfrm>
          <a:prstGeom prst="line">
            <a:avLst/>
          </a:prstGeom>
          <a:ln cap="flat" w="38100">
            <a:solidFill>
              <a:srgbClr val="000000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1132051" y="8465137"/>
            <a:ext cx="7962383" cy="793163"/>
            <a:chOff x="0" y="0"/>
            <a:chExt cx="2097089" cy="20889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97089" cy="208899"/>
            </a:xfrm>
            <a:custGeom>
              <a:avLst/>
              <a:gdLst/>
              <a:ahLst/>
              <a:cxnLst/>
              <a:rect r="r" b="b" t="t" l="l"/>
              <a:pathLst>
                <a:path h="208899" w="2097089">
                  <a:moveTo>
                    <a:pt x="49588" y="0"/>
                  </a:moveTo>
                  <a:lnTo>
                    <a:pt x="2047501" y="0"/>
                  </a:lnTo>
                  <a:cubicBezTo>
                    <a:pt x="2074887" y="0"/>
                    <a:pt x="2097089" y="22201"/>
                    <a:pt x="2097089" y="49588"/>
                  </a:cubicBezTo>
                  <a:lnTo>
                    <a:pt x="2097089" y="159311"/>
                  </a:lnTo>
                  <a:cubicBezTo>
                    <a:pt x="2097089" y="186698"/>
                    <a:pt x="2074887" y="208899"/>
                    <a:pt x="2047501" y="208899"/>
                  </a:cubicBezTo>
                  <a:lnTo>
                    <a:pt x="49588" y="208899"/>
                  </a:lnTo>
                  <a:cubicBezTo>
                    <a:pt x="22201" y="208899"/>
                    <a:pt x="0" y="186698"/>
                    <a:pt x="0" y="159311"/>
                  </a:cubicBezTo>
                  <a:lnTo>
                    <a:pt x="0" y="49588"/>
                  </a:lnTo>
                  <a:cubicBezTo>
                    <a:pt x="0" y="22201"/>
                    <a:pt x="22201" y="0"/>
                    <a:pt x="49588" y="0"/>
                  </a:cubicBezTo>
                  <a:close/>
                </a:path>
              </a:pathLst>
            </a:custGeom>
            <a:solidFill>
              <a:srgbClr val="E0A3A1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2097089" cy="22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This study focuses only on the </a:t>
              </a:r>
              <a:r>
                <a:rPr lang="en-US" b="true" sz="2000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picking process</a:t>
              </a: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, excluding replenishment.</a:t>
              </a: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351673" y="531428"/>
            <a:ext cx="8144046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Sequential Optimization vs Joint Optimization 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10 頁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5239" y="1266203"/>
            <a:ext cx="14377523" cy="936307"/>
            <a:chOff x="0" y="0"/>
            <a:chExt cx="23075036" cy="1502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75012" cy="1502664"/>
            </a:xfrm>
            <a:custGeom>
              <a:avLst/>
              <a:gdLst/>
              <a:ahLst/>
              <a:cxnLst/>
              <a:rect r="r" b="b" t="t" l="l"/>
              <a:pathLst>
                <a:path h="1502664" w="23075012">
                  <a:moveTo>
                    <a:pt x="0" y="0"/>
                  </a:moveTo>
                  <a:lnTo>
                    <a:pt x="23075012" y="0"/>
                  </a:lnTo>
                  <a:lnTo>
                    <a:pt x="23075012" y="1502664"/>
                  </a:lnTo>
                  <a:lnTo>
                    <a:pt x="0" y="1502664"/>
                  </a:ln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C7D9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58839" y="2372910"/>
            <a:ext cx="3998802" cy="441510"/>
            <a:chOff x="0" y="0"/>
            <a:chExt cx="6417831" cy="7085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17818" cy="708660"/>
            </a:xfrm>
            <a:custGeom>
              <a:avLst/>
              <a:gdLst/>
              <a:ahLst/>
              <a:cxnLst/>
              <a:rect r="r" b="b" t="t" l="l"/>
              <a:pathLst>
                <a:path h="708660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708660"/>
                  </a:lnTo>
                  <a:lnTo>
                    <a:pt x="0" y="708660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51646" y="3715522"/>
            <a:ext cx="4013188" cy="3435811"/>
            <a:chOff x="0" y="0"/>
            <a:chExt cx="6440919" cy="5514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40932" cy="5514327"/>
            </a:xfrm>
            <a:custGeom>
              <a:avLst/>
              <a:gdLst/>
              <a:ahLst/>
              <a:cxnLst/>
              <a:rect r="r" b="b" t="t" l="l"/>
              <a:pathLst>
                <a:path h="5514327" w="6440932">
                  <a:moveTo>
                    <a:pt x="0" y="0"/>
                  </a:moveTo>
                  <a:lnTo>
                    <a:pt x="6440932" y="0"/>
                  </a:lnTo>
                  <a:lnTo>
                    <a:pt x="6440932" y="5514327"/>
                  </a:lnTo>
                  <a:lnTo>
                    <a:pt x="0" y="55143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5761" t="0" r="-65761" b="-5386"/>
              </a:stretch>
            </a:blipFill>
            <a:ln w="19050" cap="sq">
              <a:solidFill>
                <a:srgbClr val="9DB8DA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008897" y="4387936"/>
            <a:ext cx="1898687" cy="510750"/>
            <a:chOff x="0" y="0"/>
            <a:chExt cx="3047276" cy="8197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7238" cy="819785"/>
            </a:xfrm>
            <a:custGeom>
              <a:avLst/>
              <a:gdLst/>
              <a:ahLst/>
              <a:cxnLst/>
              <a:rect r="r" b="b" t="t" l="l"/>
              <a:pathLst>
                <a:path h="819785" w="3047238">
                  <a:moveTo>
                    <a:pt x="0" y="0"/>
                  </a:moveTo>
                  <a:lnTo>
                    <a:pt x="3047238" y="0"/>
                  </a:lnTo>
                  <a:lnTo>
                    <a:pt x="3047238" y="819785"/>
                  </a:lnTo>
                  <a:lnTo>
                    <a:pt x="0" y="819785"/>
                  </a:ln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A9C4E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110951" y="4474259"/>
            <a:ext cx="369691" cy="338102"/>
            <a:chOff x="0" y="0"/>
            <a:chExt cx="593331" cy="5426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090093" y="4485053"/>
            <a:ext cx="411409" cy="348175"/>
            <a:chOff x="0" y="0"/>
            <a:chExt cx="660286" cy="55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52580" y="4474259"/>
            <a:ext cx="369691" cy="338102"/>
            <a:chOff x="0" y="0"/>
            <a:chExt cx="593331" cy="5426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531721" y="4485053"/>
            <a:ext cx="411409" cy="348175"/>
            <a:chOff x="0" y="0"/>
            <a:chExt cx="660286" cy="55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94209" y="4474259"/>
            <a:ext cx="369691" cy="338102"/>
            <a:chOff x="0" y="0"/>
            <a:chExt cx="593331" cy="5426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973342" y="4485053"/>
            <a:ext cx="411409" cy="348175"/>
            <a:chOff x="0" y="0"/>
            <a:chExt cx="660286" cy="55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35830" y="4474259"/>
            <a:ext cx="369691" cy="338102"/>
            <a:chOff x="0" y="0"/>
            <a:chExt cx="593331" cy="5426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414971" y="4485053"/>
            <a:ext cx="411409" cy="348175"/>
            <a:chOff x="0" y="0"/>
            <a:chExt cx="660286" cy="55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</a:p>
          </p:txBody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3871240" y="5005805"/>
            <a:ext cx="174001" cy="300673"/>
          </a:xfrm>
          <a:custGeom>
            <a:avLst/>
            <a:gdLst/>
            <a:ahLst/>
            <a:cxnLst/>
            <a:rect r="r" b="b" t="t" l="l"/>
            <a:pathLst>
              <a:path h="300673" w="174001">
                <a:moveTo>
                  <a:pt x="0" y="0"/>
                </a:moveTo>
                <a:lnTo>
                  <a:pt x="174001" y="0"/>
                </a:lnTo>
                <a:lnTo>
                  <a:pt x="174001" y="300673"/>
                </a:lnTo>
                <a:lnTo>
                  <a:pt x="0" y="300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296" t="0" r="-2292" b="0"/>
            </a:stretch>
          </a:blipFill>
        </p:spPr>
      </p:sp>
      <p:sp>
        <p:nvSpPr>
          <p:cNvPr name="Freeform 37" id="37" descr="preencoded.png"/>
          <p:cNvSpPr/>
          <p:nvPr/>
        </p:nvSpPr>
        <p:spPr>
          <a:xfrm flipH="false" flipV="false" rot="0">
            <a:off x="3364755" y="5417198"/>
            <a:ext cx="1186962" cy="886178"/>
          </a:xfrm>
          <a:custGeom>
            <a:avLst/>
            <a:gdLst/>
            <a:ahLst/>
            <a:cxnLst/>
            <a:rect r="r" b="b" t="t" l="l"/>
            <a:pathLst>
              <a:path h="886178" w="1186962">
                <a:moveTo>
                  <a:pt x="0" y="0"/>
                </a:moveTo>
                <a:lnTo>
                  <a:pt x="1186962" y="0"/>
                </a:lnTo>
                <a:lnTo>
                  <a:pt x="1186962" y="886177"/>
                </a:lnTo>
                <a:lnTo>
                  <a:pt x="0" y="88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51" r="0" b="-45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955239" y="7267101"/>
            <a:ext cx="4005995" cy="1046797"/>
            <a:chOff x="0" y="0"/>
            <a:chExt cx="6429375" cy="16800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29375" cy="1680083"/>
            </a:xfrm>
            <a:custGeom>
              <a:avLst/>
              <a:gdLst/>
              <a:ahLst/>
              <a:cxnLst/>
              <a:rect r="r" b="b" t="t" l="l"/>
              <a:pathLst>
                <a:path h="1680083" w="6429375">
                  <a:moveTo>
                    <a:pt x="0" y="0"/>
                  </a:moveTo>
                  <a:lnTo>
                    <a:pt x="6429375" y="0"/>
                  </a:lnTo>
                  <a:lnTo>
                    <a:pt x="6429375" y="1680083"/>
                  </a:lnTo>
                  <a:lnTo>
                    <a:pt x="0" y="1680083"/>
                  </a:ln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C7D9EF"/>
              </a:solidFill>
              <a:prstDash val="solid"/>
              <a:miter/>
            </a:ln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2124294" y="7420306"/>
            <a:ext cx="332262" cy="332262"/>
          </a:xfrm>
          <a:custGeom>
            <a:avLst/>
            <a:gdLst/>
            <a:ahLst/>
            <a:cxnLst/>
            <a:rect r="r" b="b" t="t" l="l"/>
            <a:pathLst>
              <a:path h="332262" w="332262">
                <a:moveTo>
                  <a:pt x="0" y="0"/>
                </a:moveTo>
                <a:lnTo>
                  <a:pt x="332262" y="0"/>
                </a:lnTo>
                <a:lnTo>
                  <a:pt x="332262" y="332262"/>
                </a:lnTo>
                <a:lnTo>
                  <a:pt x="0" y="3322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 descr="preencoded.png"/>
          <p:cNvSpPr/>
          <p:nvPr/>
        </p:nvSpPr>
        <p:spPr>
          <a:xfrm flipH="false" flipV="false" rot="0">
            <a:off x="6084203" y="4985460"/>
            <a:ext cx="933719" cy="712177"/>
          </a:xfrm>
          <a:custGeom>
            <a:avLst/>
            <a:gdLst/>
            <a:ahLst/>
            <a:cxnLst/>
            <a:rect r="r" b="b" t="t" l="l"/>
            <a:pathLst>
              <a:path h="712177" w="933719">
                <a:moveTo>
                  <a:pt x="0" y="0"/>
                </a:moveTo>
                <a:lnTo>
                  <a:pt x="933719" y="0"/>
                </a:lnTo>
                <a:lnTo>
                  <a:pt x="933719" y="712177"/>
                </a:lnTo>
                <a:lnTo>
                  <a:pt x="0" y="712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48" t="0" r="-849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144603" y="2372910"/>
            <a:ext cx="3998802" cy="441510"/>
            <a:chOff x="0" y="0"/>
            <a:chExt cx="6417831" cy="7085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17818" cy="708660"/>
            </a:xfrm>
            <a:custGeom>
              <a:avLst/>
              <a:gdLst/>
              <a:ahLst/>
              <a:cxnLst/>
              <a:rect r="r" b="b" t="t" l="l"/>
              <a:pathLst>
                <a:path h="708660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708660"/>
                  </a:lnTo>
                  <a:lnTo>
                    <a:pt x="0" y="708660"/>
                  </a:lnTo>
                  <a:close/>
                </a:path>
              </a:pathLst>
            </a:custGeom>
            <a:solidFill>
              <a:srgbClr val="3B613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37402" y="3610067"/>
            <a:ext cx="4013188" cy="3243512"/>
            <a:chOff x="0" y="0"/>
            <a:chExt cx="6440919" cy="52056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40932" cy="5205675"/>
            </a:xfrm>
            <a:custGeom>
              <a:avLst/>
              <a:gdLst/>
              <a:ahLst/>
              <a:cxnLst/>
              <a:rect r="r" b="b" t="t" l="l"/>
              <a:pathLst>
                <a:path h="5205675" w="6440932">
                  <a:moveTo>
                    <a:pt x="0" y="0"/>
                  </a:moveTo>
                  <a:lnTo>
                    <a:pt x="6440932" y="0"/>
                  </a:lnTo>
                  <a:lnTo>
                    <a:pt x="6440932" y="5205675"/>
                  </a:lnTo>
                  <a:lnTo>
                    <a:pt x="0" y="5205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242" t="0" r="-56242" b="-2454"/>
              </a:stretch>
            </a:blipFill>
            <a:ln w="19050" cap="sq">
              <a:solidFill>
                <a:srgbClr val="9CBE8C"/>
              </a:solidFill>
              <a:prstDash val="dash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194652" y="4006106"/>
            <a:ext cx="1898687" cy="510750"/>
            <a:chOff x="0" y="0"/>
            <a:chExt cx="3047276" cy="81972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7238" cy="819785"/>
            </a:xfrm>
            <a:custGeom>
              <a:avLst/>
              <a:gdLst/>
              <a:ahLst/>
              <a:cxnLst/>
              <a:rect r="r" b="b" t="t" l="l"/>
              <a:pathLst>
                <a:path h="819785" w="3047238">
                  <a:moveTo>
                    <a:pt x="0" y="0"/>
                  </a:moveTo>
                  <a:lnTo>
                    <a:pt x="3047238" y="0"/>
                  </a:lnTo>
                  <a:lnTo>
                    <a:pt x="3047238" y="819785"/>
                  </a:lnTo>
                  <a:lnTo>
                    <a:pt x="0" y="819785"/>
                  </a:lnTo>
                  <a:close/>
                </a:path>
              </a:pathLst>
            </a:custGeom>
            <a:solidFill>
              <a:srgbClr val="EEF5EA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296715" y="4092430"/>
            <a:ext cx="369691" cy="338102"/>
            <a:chOff x="0" y="0"/>
            <a:chExt cx="593331" cy="54263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275856" y="4103223"/>
            <a:ext cx="411409" cy="348175"/>
            <a:chOff x="0" y="0"/>
            <a:chExt cx="660286" cy="55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738344" y="4092430"/>
            <a:ext cx="369691" cy="338102"/>
            <a:chOff x="0" y="0"/>
            <a:chExt cx="593331" cy="54263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717477" y="4103223"/>
            <a:ext cx="411409" cy="348175"/>
            <a:chOff x="0" y="0"/>
            <a:chExt cx="660286" cy="55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79965" y="4092430"/>
            <a:ext cx="369691" cy="338102"/>
            <a:chOff x="0" y="0"/>
            <a:chExt cx="593331" cy="54263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159106" y="4103223"/>
            <a:ext cx="411409" cy="348175"/>
            <a:chOff x="0" y="0"/>
            <a:chExt cx="660286" cy="55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21594" y="4092430"/>
            <a:ext cx="369691" cy="338102"/>
            <a:chOff x="0" y="0"/>
            <a:chExt cx="593331" cy="54263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600735" y="4103223"/>
            <a:ext cx="411409" cy="348175"/>
            <a:chOff x="0" y="0"/>
            <a:chExt cx="660286" cy="55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</a:p>
          </p:txBody>
        </p:sp>
      </p:grpSp>
      <p:sp>
        <p:nvSpPr>
          <p:cNvPr name="Freeform 68" id="68" descr="preencoded.png"/>
          <p:cNvSpPr/>
          <p:nvPr/>
        </p:nvSpPr>
        <p:spPr>
          <a:xfrm flipH="false" flipV="false" rot="0">
            <a:off x="7798777" y="4592394"/>
            <a:ext cx="2690446" cy="411393"/>
          </a:xfrm>
          <a:custGeom>
            <a:avLst/>
            <a:gdLst/>
            <a:ahLst/>
            <a:cxnLst/>
            <a:rect r="r" b="b" t="t" l="l"/>
            <a:pathLst>
              <a:path h="411393" w="2690446">
                <a:moveTo>
                  <a:pt x="0" y="0"/>
                </a:moveTo>
                <a:lnTo>
                  <a:pt x="2690446" y="0"/>
                </a:lnTo>
                <a:lnTo>
                  <a:pt x="2690446" y="411393"/>
                </a:lnTo>
                <a:lnTo>
                  <a:pt x="0" y="4113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5781" r="0" b="-578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8009083" y="5079317"/>
            <a:ext cx="857287" cy="415547"/>
            <a:chOff x="0" y="0"/>
            <a:chExt cx="1375893" cy="6669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5918" cy="666877"/>
            </a:xfrm>
            <a:custGeom>
              <a:avLst/>
              <a:gdLst/>
              <a:ahLst/>
              <a:cxnLst/>
              <a:rect r="r" b="b" t="t" l="l"/>
              <a:pathLst>
                <a:path h="666877" w="1375918">
                  <a:moveTo>
                    <a:pt x="0" y="0"/>
                  </a:moveTo>
                  <a:lnTo>
                    <a:pt x="1375918" y="0"/>
                  </a:lnTo>
                  <a:lnTo>
                    <a:pt x="1375918" y="666877"/>
                  </a:lnTo>
                  <a:lnTo>
                    <a:pt x="0" y="666877"/>
                  </a:lnTo>
                  <a:close/>
                </a:path>
              </a:pathLst>
            </a:custGeom>
            <a:solidFill>
              <a:srgbClr val="EEF5EA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8087422" y="5141815"/>
            <a:ext cx="322252" cy="290560"/>
            <a:chOff x="0" y="0"/>
            <a:chExt cx="517195" cy="4663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8066563" y="5152608"/>
            <a:ext cx="363978" cy="300626"/>
            <a:chOff x="0" y="0"/>
            <a:chExt cx="584162" cy="48248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465770" y="5141815"/>
            <a:ext cx="322252" cy="290560"/>
            <a:chOff x="0" y="0"/>
            <a:chExt cx="517195" cy="4663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8444903" y="5152608"/>
            <a:ext cx="363978" cy="300626"/>
            <a:chOff x="0" y="0"/>
            <a:chExt cx="584162" cy="48248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</a:t>
              </a:r>
            </a:p>
          </p:txBody>
        </p:sp>
      </p:grpSp>
      <p:sp>
        <p:nvSpPr>
          <p:cNvPr name="Freeform 81" id="81" descr="preencoded.png"/>
          <p:cNvSpPr/>
          <p:nvPr/>
        </p:nvSpPr>
        <p:spPr>
          <a:xfrm flipH="false" flipV="false" rot="0">
            <a:off x="8390232" y="5538703"/>
            <a:ext cx="94870" cy="158262"/>
          </a:xfrm>
          <a:custGeom>
            <a:avLst/>
            <a:gdLst/>
            <a:ahLst/>
            <a:cxnLst/>
            <a:rect r="r" b="b" t="t" l="l"/>
            <a:pathLst>
              <a:path h="158262" w="94870">
                <a:moveTo>
                  <a:pt x="0" y="0"/>
                </a:moveTo>
                <a:lnTo>
                  <a:pt x="94870" y="0"/>
                </a:lnTo>
                <a:lnTo>
                  <a:pt x="94870" y="158261"/>
                </a:lnTo>
                <a:lnTo>
                  <a:pt x="0" y="15826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4950" r="0" b="-4944"/>
            </a:stretch>
          </a:blipFill>
        </p:spPr>
      </p:sp>
      <p:sp>
        <p:nvSpPr>
          <p:cNvPr name="Freeform 82" id="82" descr="preencoded.png"/>
          <p:cNvSpPr/>
          <p:nvPr/>
        </p:nvSpPr>
        <p:spPr>
          <a:xfrm flipH="false" flipV="false" rot="0">
            <a:off x="7970863" y="5744403"/>
            <a:ext cx="933719" cy="696327"/>
          </a:xfrm>
          <a:custGeom>
            <a:avLst/>
            <a:gdLst/>
            <a:ahLst/>
            <a:cxnLst/>
            <a:rect r="r" b="b" t="t" l="l"/>
            <a:pathLst>
              <a:path h="696327" w="933719">
                <a:moveTo>
                  <a:pt x="0" y="0"/>
                </a:moveTo>
                <a:lnTo>
                  <a:pt x="933719" y="0"/>
                </a:lnTo>
                <a:lnTo>
                  <a:pt x="933719" y="696327"/>
                </a:lnTo>
                <a:lnTo>
                  <a:pt x="0" y="69632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568" r="0" b="-569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9421630" y="5079317"/>
            <a:ext cx="857287" cy="415547"/>
            <a:chOff x="0" y="0"/>
            <a:chExt cx="1375893" cy="6669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75918" cy="666877"/>
            </a:xfrm>
            <a:custGeom>
              <a:avLst/>
              <a:gdLst/>
              <a:ahLst/>
              <a:cxnLst/>
              <a:rect r="r" b="b" t="t" l="l"/>
              <a:pathLst>
                <a:path h="666877" w="1375918">
                  <a:moveTo>
                    <a:pt x="0" y="0"/>
                  </a:moveTo>
                  <a:lnTo>
                    <a:pt x="1375918" y="0"/>
                  </a:lnTo>
                  <a:lnTo>
                    <a:pt x="1375918" y="666877"/>
                  </a:lnTo>
                  <a:lnTo>
                    <a:pt x="0" y="666877"/>
                  </a:lnTo>
                  <a:close/>
                </a:path>
              </a:pathLst>
            </a:custGeom>
            <a:solidFill>
              <a:srgbClr val="FDEEE4"/>
            </a:solidFill>
            <a:ln w="9525" cap="sq">
              <a:solidFill>
                <a:srgbClr val="E8A87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499978" y="5141815"/>
            <a:ext cx="322252" cy="290560"/>
            <a:chOff x="0" y="0"/>
            <a:chExt cx="517195" cy="46633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8A4E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479111" y="5152608"/>
            <a:ext cx="363978" cy="300626"/>
            <a:chOff x="0" y="0"/>
            <a:chExt cx="584162" cy="48248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C2571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878318" y="5141815"/>
            <a:ext cx="322252" cy="290560"/>
            <a:chOff x="0" y="0"/>
            <a:chExt cx="517195" cy="4663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8A4E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857459" y="5152608"/>
            <a:ext cx="363978" cy="300626"/>
            <a:chOff x="0" y="0"/>
            <a:chExt cx="584162" cy="48248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C2571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</a:p>
          </p:txBody>
        </p:sp>
      </p:grpSp>
      <p:sp>
        <p:nvSpPr>
          <p:cNvPr name="Freeform 95" id="95" descr="preencoded.png"/>
          <p:cNvSpPr/>
          <p:nvPr/>
        </p:nvSpPr>
        <p:spPr>
          <a:xfrm flipH="false" flipV="false" rot="0">
            <a:off x="9802787" y="5538703"/>
            <a:ext cx="94870" cy="158262"/>
          </a:xfrm>
          <a:custGeom>
            <a:avLst/>
            <a:gdLst/>
            <a:ahLst/>
            <a:cxnLst/>
            <a:rect r="r" b="b" t="t" l="l"/>
            <a:pathLst>
              <a:path h="158262" w="94870">
                <a:moveTo>
                  <a:pt x="0" y="0"/>
                </a:moveTo>
                <a:lnTo>
                  <a:pt x="94870" y="0"/>
                </a:lnTo>
                <a:lnTo>
                  <a:pt x="94870" y="158261"/>
                </a:lnTo>
                <a:lnTo>
                  <a:pt x="0" y="15826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4950" r="0" b="-4944"/>
            </a:stretch>
          </a:blipFill>
        </p:spPr>
      </p:sp>
      <p:sp>
        <p:nvSpPr>
          <p:cNvPr name="Freeform 96" id="96" descr="preencoded.png"/>
          <p:cNvSpPr/>
          <p:nvPr/>
        </p:nvSpPr>
        <p:spPr>
          <a:xfrm flipH="false" flipV="false" rot="0">
            <a:off x="9383418" y="5744403"/>
            <a:ext cx="933719" cy="696327"/>
          </a:xfrm>
          <a:custGeom>
            <a:avLst/>
            <a:gdLst/>
            <a:ahLst/>
            <a:cxnLst/>
            <a:rect r="r" b="b" t="t" l="l"/>
            <a:pathLst>
              <a:path h="696327" w="933719">
                <a:moveTo>
                  <a:pt x="0" y="0"/>
                </a:moveTo>
                <a:lnTo>
                  <a:pt x="933719" y="0"/>
                </a:lnTo>
                <a:lnTo>
                  <a:pt x="933719" y="696327"/>
                </a:lnTo>
                <a:lnTo>
                  <a:pt x="0" y="69632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568" r="0" b="-569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7141002" y="6969355"/>
            <a:ext cx="4005995" cy="1344550"/>
            <a:chOff x="0" y="0"/>
            <a:chExt cx="6429375" cy="21579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429375" cy="2157857"/>
            </a:xfrm>
            <a:custGeom>
              <a:avLst/>
              <a:gdLst/>
              <a:ahLst/>
              <a:cxnLst/>
              <a:rect r="r" b="b" t="t" l="l"/>
              <a:pathLst>
                <a:path h="2157857" w="6429375">
                  <a:moveTo>
                    <a:pt x="0" y="0"/>
                  </a:moveTo>
                  <a:lnTo>
                    <a:pt x="6429375" y="0"/>
                  </a:lnTo>
                  <a:lnTo>
                    <a:pt x="6429375" y="2157857"/>
                  </a:lnTo>
                  <a:lnTo>
                    <a:pt x="0" y="2157857"/>
                  </a:lnTo>
                  <a:close/>
                </a:path>
              </a:pathLst>
            </a:custGeom>
            <a:solidFill>
              <a:srgbClr val="F1F6EC"/>
            </a:solidFill>
            <a:ln w="9525" cap="sq">
              <a:solidFill>
                <a:srgbClr val="C4DBB4"/>
              </a:solidFill>
              <a:prstDash val="solid"/>
              <a:miter/>
            </a:ln>
          </p:spPr>
        </p:sp>
      </p:grpSp>
      <p:sp>
        <p:nvSpPr>
          <p:cNvPr name="Freeform 99" id="99" descr="preencoded.png"/>
          <p:cNvSpPr/>
          <p:nvPr/>
        </p:nvSpPr>
        <p:spPr>
          <a:xfrm flipH="false" flipV="false" rot="0">
            <a:off x="11269967" y="4985460"/>
            <a:ext cx="933719" cy="712177"/>
          </a:xfrm>
          <a:custGeom>
            <a:avLst/>
            <a:gdLst/>
            <a:ahLst/>
            <a:cxnLst/>
            <a:rect r="r" b="b" t="t" l="l"/>
            <a:pathLst>
              <a:path h="712177" w="933719">
                <a:moveTo>
                  <a:pt x="0" y="0"/>
                </a:moveTo>
                <a:lnTo>
                  <a:pt x="933719" y="0"/>
                </a:lnTo>
                <a:lnTo>
                  <a:pt x="933719" y="712177"/>
                </a:lnTo>
                <a:lnTo>
                  <a:pt x="0" y="7121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848" t="0" r="-849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2330359" y="2372910"/>
            <a:ext cx="3998802" cy="441510"/>
            <a:chOff x="0" y="0"/>
            <a:chExt cx="6417831" cy="70859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417818" cy="708660"/>
            </a:xfrm>
            <a:custGeom>
              <a:avLst/>
              <a:gdLst/>
              <a:ahLst/>
              <a:cxnLst/>
              <a:rect r="r" b="b" t="t" l="l"/>
              <a:pathLst>
                <a:path h="708660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708660"/>
                  </a:lnTo>
                  <a:lnTo>
                    <a:pt x="0" y="708660"/>
                  </a:lnTo>
                  <a:close/>
                </a:path>
              </a:pathLst>
            </a:custGeom>
            <a:solidFill>
              <a:srgbClr val="5B2D8E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322165" y="4120078"/>
            <a:ext cx="975376" cy="975376"/>
            <a:chOff x="0" y="0"/>
            <a:chExt cx="1567840" cy="15678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67942" cy="1567942"/>
            </a:xfrm>
            <a:custGeom>
              <a:avLst/>
              <a:gdLst/>
              <a:ahLst/>
              <a:cxnLst/>
              <a:rect r="r" b="b" t="t" l="l"/>
              <a:pathLst>
                <a:path h="1567942" w="1567942">
                  <a:moveTo>
                    <a:pt x="0" y="783971"/>
                  </a:moveTo>
                  <a:cubicBezTo>
                    <a:pt x="0" y="351028"/>
                    <a:pt x="351028" y="0"/>
                    <a:pt x="783971" y="0"/>
                  </a:cubicBezTo>
                  <a:cubicBezTo>
                    <a:pt x="1216914" y="0"/>
                    <a:pt x="1567942" y="351028"/>
                    <a:pt x="1567942" y="783971"/>
                  </a:cubicBezTo>
                  <a:cubicBezTo>
                    <a:pt x="1567942" y="1216914"/>
                    <a:pt x="1216914" y="1567942"/>
                    <a:pt x="783971" y="1567942"/>
                  </a:cubicBezTo>
                  <a:cubicBezTo>
                    <a:pt x="351028" y="1567942"/>
                    <a:pt x="0" y="1216914"/>
                    <a:pt x="0" y="78397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8" t="0" r="-78292" b="6"/>
              </a:stretch>
            </a:blip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104" id="104" descr="preencoded.png"/>
          <p:cNvSpPr/>
          <p:nvPr/>
        </p:nvSpPr>
        <p:spPr>
          <a:xfrm flipH="false" flipV="false" rot="0">
            <a:off x="12651781" y="4558891"/>
            <a:ext cx="316034" cy="316034"/>
          </a:xfrm>
          <a:custGeom>
            <a:avLst/>
            <a:gdLst/>
            <a:ahLst/>
            <a:cxnLst/>
            <a:rect r="r" b="b" t="t" l="l"/>
            <a:pathLst>
              <a:path h="316034" w="316034">
                <a:moveTo>
                  <a:pt x="0" y="0"/>
                </a:moveTo>
                <a:lnTo>
                  <a:pt x="316034" y="0"/>
                </a:lnTo>
                <a:lnTo>
                  <a:pt x="316034" y="316034"/>
                </a:lnTo>
                <a:lnTo>
                  <a:pt x="0" y="31603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 descr="preencoded.png"/>
          <p:cNvSpPr/>
          <p:nvPr/>
        </p:nvSpPr>
        <p:spPr>
          <a:xfrm flipH="false" flipV="false" rot="0">
            <a:off x="13393947" y="4520840"/>
            <a:ext cx="347566" cy="173732"/>
          </a:xfrm>
          <a:custGeom>
            <a:avLst/>
            <a:gdLst/>
            <a:ahLst/>
            <a:cxnLst/>
            <a:rect r="r" b="b" t="t" l="l"/>
            <a:pathLst>
              <a:path h="173732" w="347566">
                <a:moveTo>
                  <a:pt x="0" y="0"/>
                </a:moveTo>
                <a:lnTo>
                  <a:pt x="347567" y="0"/>
                </a:lnTo>
                <a:lnTo>
                  <a:pt x="347567" y="173732"/>
                </a:lnTo>
                <a:lnTo>
                  <a:pt x="0" y="17373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-18" r="0" b="-13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13838030" y="4120078"/>
            <a:ext cx="975376" cy="975376"/>
            <a:chOff x="0" y="0"/>
            <a:chExt cx="1567840" cy="15678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567942" cy="1567942"/>
            </a:xfrm>
            <a:custGeom>
              <a:avLst/>
              <a:gdLst/>
              <a:ahLst/>
              <a:cxnLst/>
              <a:rect r="r" b="b" t="t" l="l"/>
              <a:pathLst>
                <a:path h="1567942" w="1567942">
                  <a:moveTo>
                    <a:pt x="0" y="783971"/>
                  </a:moveTo>
                  <a:cubicBezTo>
                    <a:pt x="0" y="351028"/>
                    <a:pt x="351028" y="0"/>
                    <a:pt x="783971" y="0"/>
                  </a:cubicBezTo>
                  <a:cubicBezTo>
                    <a:pt x="1216914" y="0"/>
                    <a:pt x="1567942" y="351028"/>
                    <a:pt x="1567942" y="783971"/>
                  </a:cubicBezTo>
                  <a:cubicBezTo>
                    <a:pt x="1567942" y="1216914"/>
                    <a:pt x="1216914" y="1567942"/>
                    <a:pt x="783971" y="1567942"/>
                  </a:cubicBezTo>
                  <a:cubicBezTo>
                    <a:pt x="351028" y="1567942"/>
                    <a:pt x="0" y="1216914"/>
                    <a:pt x="0" y="78397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8" t="0" r="-78292" b="6"/>
              </a:stretch>
            </a:blipFill>
            <a:ln w="19050" cap="sq">
              <a:solidFill>
                <a:srgbClr val="3B6135"/>
              </a:solidFill>
              <a:prstDash val="solid"/>
              <a:miter/>
            </a:ln>
          </p:spPr>
        </p:sp>
      </p:grpSp>
      <p:sp>
        <p:nvSpPr>
          <p:cNvPr name="Freeform 108" id="108" descr="preencoded.png"/>
          <p:cNvSpPr/>
          <p:nvPr/>
        </p:nvSpPr>
        <p:spPr>
          <a:xfrm flipH="false" flipV="false" rot="0">
            <a:off x="14183471" y="4645974"/>
            <a:ext cx="284383" cy="284383"/>
          </a:xfrm>
          <a:custGeom>
            <a:avLst/>
            <a:gdLst/>
            <a:ahLst/>
            <a:cxnLst/>
            <a:rect r="r" b="b" t="t" l="l"/>
            <a:pathLst>
              <a:path h="284383" w="284383">
                <a:moveTo>
                  <a:pt x="0" y="0"/>
                </a:moveTo>
                <a:lnTo>
                  <a:pt x="284384" y="0"/>
                </a:lnTo>
                <a:lnTo>
                  <a:pt x="284384" y="284383"/>
                </a:lnTo>
                <a:lnTo>
                  <a:pt x="0" y="28438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 descr="preencoded.png"/>
          <p:cNvSpPr/>
          <p:nvPr/>
        </p:nvSpPr>
        <p:spPr>
          <a:xfrm flipH="false" flipV="false" rot="0">
            <a:off x="14909805" y="4520840"/>
            <a:ext cx="347566" cy="173732"/>
          </a:xfrm>
          <a:custGeom>
            <a:avLst/>
            <a:gdLst/>
            <a:ahLst/>
            <a:cxnLst/>
            <a:rect r="r" b="b" t="t" l="l"/>
            <a:pathLst>
              <a:path h="173732" w="347566">
                <a:moveTo>
                  <a:pt x="0" y="0"/>
                </a:moveTo>
                <a:lnTo>
                  <a:pt x="347566" y="0"/>
                </a:lnTo>
                <a:lnTo>
                  <a:pt x="347566" y="173732"/>
                </a:lnTo>
                <a:lnTo>
                  <a:pt x="0" y="17373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-18" r="0" b="-13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15353785" y="4120078"/>
            <a:ext cx="975376" cy="975376"/>
            <a:chOff x="0" y="0"/>
            <a:chExt cx="1567840" cy="15678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67942" cy="1567942"/>
            </a:xfrm>
            <a:custGeom>
              <a:avLst/>
              <a:gdLst/>
              <a:ahLst/>
              <a:cxnLst/>
              <a:rect r="r" b="b" t="t" l="l"/>
              <a:pathLst>
                <a:path h="1567942" w="1567942">
                  <a:moveTo>
                    <a:pt x="0" y="783971"/>
                  </a:moveTo>
                  <a:cubicBezTo>
                    <a:pt x="0" y="351028"/>
                    <a:pt x="351028" y="0"/>
                    <a:pt x="783971" y="0"/>
                  </a:cubicBezTo>
                  <a:cubicBezTo>
                    <a:pt x="1216914" y="0"/>
                    <a:pt x="1567942" y="351028"/>
                    <a:pt x="1567942" y="783971"/>
                  </a:cubicBezTo>
                  <a:cubicBezTo>
                    <a:pt x="1567942" y="1216914"/>
                    <a:pt x="1216914" y="1567942"/>
                    <a:pt x="783971" y="1567942"/>
                  </a:cubicBezTo>
                  <a:cubicBezTo>
                    <a:pt x="351028" y="1567942"/>
                    <a:pt x="0" y="1216914"/>
                    <a:pt x="0" y="78397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8" t="0" r="-78292" b="6"/>
              </a:stretch>
            </a:blipFill>
            <a:ln w="19050" cap="sq">
              <a:solidFill>
                <a:srgbClr val="D2581F"/>
              </a:solidFill>
              <a:prstDash val="solid"/>
              <a:miter/>
            </a:ln>
          </p:spPr>
        </p:sp>
      </p:grpSp>
      <p:sp>
        <p:nvSpPr>
          <p:cNvPr name="Freeform 112" id="112" descr="preencoded.png"/>
          <p:cNvSpPr/>
          <p:nvPr/>
        </p:nvSpPr>
        <p:spPr>
          <a:xfrm flipH="false" flipV="false" rot="0">
            <a:off x="15588677" y="4512205"/>
            <a:ext cx="505583" cy="379217"/>
          </a:xfrm>
          <a:custGeom>
            <a:avLst/>
            <a:gdLst/>
            <a:ahLst/>
            <a:cxnLst/>
            <a:rect r="r" b="b" t="t" l="l"/>
            <a:pathLst>
              <a:path h="379217" w="505583">
                <a:moveTo>
                  <a:pt x="0" y="0"/>
                </a:moveTo>
                <a:lnTo>
                  <a:pt x="505584" y="0"/>
                </a:lnTo>
                <a:lnTo>
                  <a:pt x="505584" y="379217"/>
                </a:lnTo>
                <a:lnTo>
                  <a:pt x="0" y="37921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-3" t="0" r="-4" b="0"/>
            </a:stretch>
          </a:blipFill>
        </p:spPr>
      </p:sp>
      <p:sp>
        <p:nvSpPr>
          <p:cNvPr name="Freeform 113" id="113" descr="preencoded.png"/>
          <p:cNvSpPr/>
          <p:nvPr/>
        </p:nvSpPr>
        <p:spPr>
          <a:xfrm flipH="false" flipV="false" rot="0">
            <a:off x="12359048" y="5494864"/>
            <a:ext cx="3992624" cy="347566"/>
          </a:xfrm>
          <a:custGeom>
            <a:avLst/>
            <a:gdLst/>
            <a:ahLst/>
            <a:cxnLst/>
            <a:rect r="r" b="b" t="t" l="l"/>
            <a:pathLst>
              <a:path h="347566" w="3992624">
                <a:moveTo>
                  <a:pt x="0" y="0"/>
                </a:moveTo>
                <a:lnTo>
                  <a:pt x="3992624" y="0"/>
                </a:lnTo>
                <a:lnTo>
                  <a:pt x="3992624" y="347567"/>
                </a:lnTo>
                <a:lnTo>
                  <a:pt x="0" y="34756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-16971" r="0" b="-16971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12322165" y="6096559"/>
            <a:ext cx="4005995" cy="1089512"/>
            <a:chOff x="0" y="0"/>
            <a:chExt cx="6429375" cy="17486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429375" cy="1748536"/>
            </a:xfrm>
            <a:custGeom>
              <a:avLst/>
              <a:gdLst/>
              <a:ahLst/>
              <a:cxnLst/>
              <a:rect r="r" b="b" t="t" l="l"/>
              <a:pathLst>
                <a:path h="1748536" w="6429375">
                  <a:moveTo>
                    <a:pt x="0" y="0"/>
                  </a:moveTo>
                  <a:lnTo>
                    <a:pt x="6429375" y="0"/>
                  </a:lnTo>
                  <a:lnTo>
                    <a:pt x="6429375" y="1748536"/>
                  </a:lnTo>
                  <a:lnTo>
                    <a:pt x="0" y="1748536"/>
                  </a:lnTo>
                  <a:close/>
                </a:path>
              </a:pathLst>
            </a:custGeom>
            <a:solidFill>
              <a:srgbClr val="F4EFFA"/>
            </a:solidFill>
            <a:ln w="9525" cap="sq">
              <a:solidFill>
                <a:srgbClr val="CDBBE4"/>
              </a:solidFill>
              <a:prstDash val="solid"/>
              <a:miter/>
            </a:ln>
          </p:spPr>
        </p:sp>
      </p:grpSp>
      <p:sp>
        <p:nvSpPr>
          <p:cNvPr name="Freeform 116" id="116" descr="preencoded.png"/>
          <p:cNvSpPr/>
          <p:nvPr/>
        </p:nvSpPr>
        <p:spPr>
          <a:xfrm flipH="false" flipV="false" rot="0">
            <a:off x="12506951" y="6427697"/>
            <a:ext cx="427235" cy="427235"/>
          </a:xfrm>
          <a:custGeom>
            <a:avLst/>
            <a:gdLst/>
            <a:ahLst/>
            <a:cxnLst/>
            <a:rect r="r" b="b" t="t" l="l"/>
            <a:pathLst>
              <a:path h="427235" w="427235">
                <a:moveTo>
                  <a:pt x="0" y="0"/>
                </a:moveTo>
                <a:lnTo>
                  <a:pt x="427235" y="0"/>
                </a:lnTo>
                <a:lnTo>
                  <a:pt x="427235" y="427235"/>
                </a:lnTo>
                <a:lnTo>
                  <a:pt x="0" y="42723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13653445" y="7293190"/>
            <a:ext cx="7913" cy="1020716"/>
            <a:chOff x="0" y="0"/>
            <a:chExt cx="12700" cy="163818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2700" cy="1638173"/>
            </a:xfrm>
            <a:custGeom>
              <a:avLst/>
              <a:gdLst/>
              <a:ahLst/>
              <a:cxnLst/>
              <a:rect r="r" b="b" t="t" l="l"/>
              <a:pathLst>
                <a:path h="1638173" w="12700">
                  <a:moveTo>
                    <a:pt x="0" y="0"/>
                  </a:moveTo>
                  <a:lnTo>
                    <a:pt x="12700" y="0"/>
                  </a:lnTo>
                  <a:lnTo>
                    <a:pt x="12700" y="1638173"/>
                  </a:lnTo>
                  <a:lnTo>
                    <a:pt x="0" y="1638173"/>
                  </a:lnTo>
                  <a:close/>
                </a:path>
              </a:pathLst>
            </a:custGeom>
            <a:solidFill>
              <a:srgbClr val="D6D6D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989007" y="7293190"/>
            <a:ext cx="7913" cy="1020716"/>
            <a:chOff x="0" y="0"/>
            <a:chExt cx="12700" cy="163818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700" cy="1638173"/>
            </a:xfrm>
            <a:custGeom>
              <a:avLst/>
              <a:gdLst/>
              <a:ahLst/>
              <a:cxnLst/>
              <a:rect r="r" b="b" t="t" l="l"/>
              <a:pathLst>
                <a:path h="1638173" w="12700">
                  <a:moveTo>
                    <a:pt x="0" y="0"/>
                  </a:moveTo>
                  <a:lnTo>
                    <a:pt x="12700" y="0"/>
                  </a:lnTo>
                  <a:lnTo>
                    <a:pt x="12700" y="1638173"/>
                  </a:lnTo>
                  <a:lnTo>
                    <a:pt x="0" y="1638173"/>
                  </a:lnTo>
                  <a:close/>
                </a:path>
              </a:pathLst>
            </a:custGeom>
            <a:solidFill>
              <a:srgbClr val="D6D6D6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983259" y="8504406"/>
            <a:ext cx="14384787" cy="793163"/>
            <a:chOff x="0" y="0"/>
            <a:chExt cx="3788586" cy="20889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788586" cy="208899"/>
            </a:xfrm>
            <a:custGeom>
              <a:avLst/>
              <a:gdLst/>
              <a:ahLst/>
              <a:cxnLst/>
              <a:rect r="r" b="b" t="t" l="l"/>
              <a:pathLst>
                <a:path h="208899" w="3788586">
                  <a:moveTo>
                    <a:pt x="27448" y="0"/>
                  </a:moveTo>
                  <a:lnTo>
                    <a:pt x="3761137" y="0"/>
                  </a:lnTo>
                  <a:cubicBezTo>
                    <a:pt x="3776297" y="0"/>
                    <a:pt x="3788586" y="12289"/>
                    <a:pt x="3788586" y="27448"/>
                  </a:cubicBezTo>
                  <a:lnTo>
                    <a:pt x="3788586" y="181451"/>
                  </a:lnTo>
                  <a:cubicBezTo>
                    <a:pt x="3788586" y="188730"/>
                    <a:pt x="3785694" y="195712"/>
                    <a:pt x="3780546" y="200859"/>
                  </a:cubicBezTo>
                  <a:cubicBezTo>
                    <a:pt x="3775399" y="206007"/>
                    <a:pt x="3768417" y="208899"/>
                    <a:pt x="3761137" y="208899"/>
                  </a:cubicBezTo>
                  <a:lnTo>
                    <a:pt x="27448" y="208899"/>
                  </a:lnTo>
                  <a:cubicBezTo>
                    <a:pt x="20169" y="208899"/>
                    <a:pt x="13187" y="206007"/>
                    <a:pt x="8039" y="200859"/>
                  </a:cubicBezTo>
                  <a:cubicBezTo>
                    <a:pt x="2892" y="195712"/>
                    <a:pt x="0" y="188730"/>
                    <a:pt x="0" y="181451"/>
                  </a:cubicBezTo>
                  <a:lnTo>
                    <a:pt x="0" y="27448"/>
                  </a:lnTo>
                  <a:cubicBezTo>
                    <a:pt x="0" y="20169"/>
                    <a:pt x="2892" y="13187"/>
                    <a:pt x="8039" y="8039"/>
                  </a:cubicBezTo>
                  <a:cubicBezTo>
                    <a:pt x="13187" y="2892"/>
                    <a:pt x="20169" y="0"/>
                    <a:pt x="27448" y="0"/>
                  </a:cubicBezTo>
                  <a:close/>
                </a:path>
              </a:pathLst>
            </a:custGeom>
            <a:solidFill>
              <a:srgbClr val="EBD79A"/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3788586" cy="22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Order splitting provides greater flexibility to coordinate orders, pods, and workstation resources in dynamic RMFS operations.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351673" y="531428"/>
            <a:ext cx="1600000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Split</a:t>
            </a: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ting in RMFS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11 頁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2024795" y="1408737"/>
            <a:ext cx="14238411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200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 order assignment is a key operational decision in RMFS, relaxing the one-order–one-workstation restriction can potentially provide greater fulfillment efficiency.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2749414" y="2469921"/>
            <a:ext cx="24176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62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Conventional Fulfillment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955239" y="2914469"/>
            <a:ext cx="3977975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2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order must be fully fulfilled at a single workstation.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3660451" y="4046713"/>
            <a:ext cx="695027" cy="21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70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O₁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3448468" y="6416141"/>
            <a:ext cx="1116887" cy="22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9"/>
              </a:lnSpc>
            </a:pPr>
            <a:r>
              <a:rPr lang="en-US" sz="1433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 1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604214" y="7393785"/>
            <a:ext cx="3487768" cy="2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370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Limited fulfillment flexibility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2587230" y="7636685"/>
            <a:ext cx="2467593" cy="47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308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Fewer options to coordinateorders, pods, and workstations.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5837412" y="5122765"/>
            <a:ext cx="1299990" cy="40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246" b="true">
                <a:solidFill>
                  <a:srgbClr val="4A4A4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allow order to muti-stations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8318072" y="2469921"/>
            <a:ext cx="165185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62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Split Fulfillment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7105718" y="2847794"/>
            <a:ext cx="4076564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2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order can be fulfilled across multiple workstations.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8846215" y="3696472"/>
            <a:ext cx="695027" cy="21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7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O₁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974091" y="6490215"/>
            <a:ext cx="10201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308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 1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9386647" y="6490215"/>
            <a:ext cx="10201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308" b="true">
                <a:solidFill>
                  <a:srgbClr val="D258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 2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7200010" y="7132950"/>
            <a:ext cx="3959909" cy="1017361"/>
            <a:chOff x="0" y="0"/>
            <a:chExt cx="5279879" cy="1356482"/>
          </a:xfrm>
        </p:grpSpPr>
        <p:sp>
          <p:nvSpPr>
            <p:cNvPr name="Freeform 144" id="144" descr="preencoded.png"/>
            <p:cNvSpPr/>
            <p:nvPr/>
          </p:nvSpPr>
          <p:spPr>
            <a:xfrm flipH="false" flipV="false" rot="0">
              <a:off x="0" y="0"/>
              <a:ext cx="443016" cy="443016"/>
            </a:xfrm>
            <a:custGeom>
              <a:avLst/>
              <a:gdLst/>
              <a:ahLst/>
              <a:cxnLst/>
              <a:rect r="r" b="b" t="t" l="l"/>
              <a:pathLst>
                <a:path h="443016" w="443016">
                  <a:moveTo>
                    <a:pt x="0" y="0"/>
                  </a:moveTo>
                  <a:lnTo>
                    <a:pt x="443016" y="0"/>
                  </a:lnTo>
                  <a:lnTo>
                    <a:pt x="443016" y="443016"/>
                  </a:lnTo>
                  <a:lnTo>
                    <a:pt x="0" y="443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 rot="0">
              <a:off x="639894" y="-19486"/>
              <a:ext cx="2954321" cy="319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0"/>
                </a:lnSpc>
              </a:pPr>
              <a:r>
                <a:rPr lang="en-US" sz="137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Greater fulfillment flexibility</a:t>
              </a:r>
            </a:p>
          </p:txBody>
        </p:sp>
        <p:sp>
          <p:nvSpPr>
            <p:cNvPr name="TextBox 146" id="146"/>
            <p:cNvSpPr txBox="true"/>
            <p:nvPr/>
          </p:nvSpPr>
          <p:spPr>
            <a:xfrm rot="0">
              <a:off x="639894" y="359234"/>
              <a:ext cx="2954321" cy="31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8"/>
                </a:lnSpc>
              </a:pPr>
              <a:r>
                <a:rPr lang="en-US" sz="1308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More assignment options</a:t>
              </a:r>
            </a:p>
          </p:txBody>
        </p:sp>
        <p:sp>
          <p:nvSpPr>
            <p:cNvPr name="TextBox 147" id="147"/>
            <p:cNvSpPr txBox="true"/>
            <p:nvPr/>
          </p:nvSpPr>
          <p:spPr>
            <a:xfrm rot="0">
              <a:off x="639894" y="701385"/>
              <a:ext cx="2954321" cy="31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8"/>
                </a:lnSpc>
              </a:pPr>
              <a:r>
                <a:rPr lang="en-US" sz="1308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Better pod utilization</a:t>
              </a:r>
            </a:p>
          </p:txBody>
        </p:sp>
        <p:sp>
          <p:nvSpPr>
            <p:cNvPr name="TextBox 148" id="148"/>
            <p:cNvSpPr txBox="true"/>
            <p:nvPr/>
          </p:nvSpPr>
          <p:spPr>
            <a:xfrm rot="0">
              <a:off x="639894" y="1043536"/>
              <a:ext cx="4639986" cy="31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8"/>
                </a:lnSpc>
              </a:pPr>
              <a:r>
                <a:rPr lang="en-US" sz="1308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Potentially less robot travel / energy consumption</a:t>
              </a: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12743865" y="2469921"/>
            <a:ext cx="317179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62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Why Does This Matter in RMFS?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2142765" y="2847794"/>
            <a:ext cx="4700022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2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Split fulfillment enables more flexible coordination among key system resources.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2580106" y="4287069"/>
            <a:ext cx="458493" cy="19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"/>
              </a:lnSpc>
            </a:pPr>
            <a:r>
              <a:rPr lang="en-US" sz="1182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Orders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3966324" y="4296594"/>
            <a:ext cx="718788" cy="34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1"/>
              </a:lnSpc>
            </a:pPr>
            <a:r>
              <a:rPr lang="en-US" sz="1182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Inventory / Pods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5471484" y="4335648"/>
            <a:ext cx="784634" cy="16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"/>
              </a:lnSpc>
            </a:pPr>
            <a:r>
              <a:rPr lang="en-US" sz="1069" b="true">
                <a:solidFill>
                  <a:srgbClr val="C257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Workstations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3036107" y="6242795"/>
            <a:ext cx="3200593" cy="74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370" b="tru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More flexible resource coordination </a:t>
            </a:r>
            <a:r>
              <a:rPr lang="en-US" sz="137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370" b="tru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matching opportunities </a:t>
            </a:r>
            <a:r>
              <a:rPr lang="en-US" sz="137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dynamic RMFS operations.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2343854" y="7376114"/>
            <a:ext cx="1222222" cy="92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"/>
              </a:lnSpc>
            </a:pPr>
            <a:r>
              <a:rPr lang="en-US" sz="2000" b="tru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Flexible order fulfillment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3687582" y="7376114"/>
            <a:ext cx="1222222" cy="92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4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Improved resource utilization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5040983" y="7376114"/>
            <a:ext cx="1310689" cy="92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4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operational efficiency</a:t>
            </a:r>
          </a:p>
        </p:txBody>
      </p:sp>
      <p:sp>
        <p:nvSpPr>
          <p:cNvPr name="Freeform 158" id="158" descr="preencoded.png"/>
          <p:cNvSpPr/>
          <p:nvPr/>
        </p:nvSpPr>
        <p:spPr>
          <a:xfrm flipH="false" flipV="false" rot="0">
            <a:off x="2053032" y="8663595"/>
            <a:ext cx="474785" cy="474785"/>
          </a:xfrm>
          <a:custGeom>
            <a:avLst/>
            <a:gdLst/>
            <a:ahLst/>
            <a:cxnLst/>
            <a:rect r="r" b="b" t="t" l="l"/>
            <a:pathLst>
              <a:path h="474785" w="474785">
                <a:moveTo>
                  <a:pt x="0" y="0"/>
                </a:moveTo>
                <a:lnTo>
                  <a:pt x="474785" y="0"/>
                </a:lnTo>
                <a:lnTo>
                  <a:pt x="474785" y="474785"/>
                </a:lnTo>
                <a:lnTo>
                  <a:pt x="0" y="47478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9" id="159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796422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spc="-32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Jiao &amp; Xie: Two Foundational Papers on Online Joint Optimization and Order Splitting in RMFS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12 頁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13060" y="1346705"/>
            <a:ext cx="9571015" cy="7776723"/>
            <a:chOff x="0" y="0"/>
            <a:chExt cx="6059603" cy="4923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59628" cy="4923565"/>
            </a:xfrm>
            <a:custGeom>
              <a:avLst/>
              <a:gdLst/>
              <a:ahLst/>
              <a:cxnLst/>
              <a:rect r="r" b="b" t="t" l="l"/>
              <a:pathLst>
                <a:path h="4923565" w="6059628">
                  <a:moveTo>
                    <a:pt x="0" y="0"/>
                  </a:moveTo>
                  <a:lnTo>
                    <a:pt x="6059628" y="0"/>
                  </a:lnTo>
                  <a:lnTo>
                    <a:pt x="6059628" y="4923565"/>
                  </a:lnTo>
                  <a:lnTo>
                    <a:pt x="0" y="4923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251" t="0" r="-98964" b="-42550"/>
              </a:stretch>
            </a:blipFill>
            <a:ln w="9525" cap="sq">
              <a:solidFill>
                <a:srgbClr val="1F386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13060" y="1346705"/>
            <a:ext cx="9571015" cy="725408"/>
            <a:chOff x="0" y="0"/>
            <a:chExt cx="6059603" cy="4592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59616" cy="459321"/>
            </a:xfrm>
            <a:custGeom>
              <a:avLst/>
              <a:gdLst/>
              <a:ahLst/>
              <a:cxnLst/>
              <a:rect r="r" b="b" t="t" l="l"/>
              <a:pathLst>
                <a:path h="459321" w="6059616">
                  <a:moveTo>
                    <a:pt x="0" y="0"/>
                  </a:moveTo>
                  <a:lnTo>
                    <a:pt x="6059616" y="0"/>
                  </a:lnTo>
                  <a:lnTo>
                    <a:pt x="6059616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03150" y="1378905"/>
            <a:ext cx="7671790" cy="7744524"/>
            <a:chOff x="0" y="0"/>
            <a:chExt cx="7156315" cy="7224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56341" cy="7224109"/>
            </a:xfrm>
            <a:custGeom>
              <a:avLst/>
              <a:gdLst/>
              <a:ahLst/>
              <a:cxnLst/>
              <a:rect r="r" b="b" t="t" l="l"/>
              <a:pathLst>
                <a:path h="7224109" w="7156341">
                  <a:moveTo>
                    <a:pt x="0" y="0"/>
                  </a:moveTo>
                  <a:lnTo>
                    <a:pt x="7156341" y="0"/>
                  </a:lnTo>
                  <a:lnTo>
                    <a:pt x="7156341" y="7224109"/>
                  </a:lnTo>
                  <a:lnTo>
                    <a:pt x="0" y="72241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194" t="0" r="-68473" b="2845"/>
              </a:stretch>
            </a:blipFill>
            <a:ln w="9525" cap="sq">
              <a:solidFill>
                <a:srgbClr val="E1701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203150" y="1346705"/>
            <a:ext cx="7671790" cy="725408"/>
            <a:chOff x="0" y="0"/>
            <a:chExt cx="7156315" cy="6766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56328" cy="676718"/>
            </a:xfrm>
            <a:custGeom>
              <a:avLst/>
              <a:gdLst/>
              <a:ahLst/>
              <a:cxnLst/>
              <a:rect r="r" b="b" t="t" l="l"/>
              <a:pathLst>
                <a:path h="676718" w="7156328">
                  <a:moveTo>
                    <a:pt x="0" y="0"/>
                  </a:moveTo>
                  <a:lnTo>
                    <a:pt x="7156328" y="0"/>
                  </a:lnTo>
                  <a:lnTo>
                    <a:pt x="7156328" y="676718"/>
                  </a:lnTo>
                  <a:lnTo>
                    <a:pt x="0" y="676718"/>
                  </a:lnTo>
                  <a:close/>
                </a:path>
              </a:pathLst>
            </a:custGeom>
            <a:solidFill>
              <a:srgbClr val="E1701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35626" y="1518872"/>
            <a:ext cx="9155233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39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Jiao et al. (2026) – Online Joint Optimization (OA–PS–TA)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84075" y="1522751"/>
            <a:ext cx="8364697" cy="36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4"/>
              </a:lnSpc>
              <a:spcBef>
                <a:spcPct val="0"/>
              </a:spcBef>
            </a:pPr>
            <a:r>
              <a:rPr lang="en-US" b="true" sz="2395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Xie et al. (2021) – Order Splitting (OA–PS with Split)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08682" y="2344265"/>
            <a:ext cx="8882177" cy="1284387"/>
            <a:chOff x="0" y="0"/>
            <a:chExt cx="11842902" cy="171251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1842902" cy="1712516"/>
              <a:chOff x="0" y="0"/>
              <a:chExt cx="11842902" cy="171251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842831" cy="1712349"/>
              </a:xfrm>
              <a:custGeom>
                <a:avLst/>
                <a:gdLst/>
                <a:ahLst/>
                <a:cxnLst/>
                <a:rect r="r" b="b" t="t" l="l"/>
                <a:pathLst>
                  <a:path h="1712349" w="11842831">
                    <a:moveTo>
                      <a:pt x="0" y="250649"/>
                    </a:moveTo>
                    <a:cubicBezTo>
                      <a:pt x="0" y="112374"/>
                      <a:pt x="37961" y="0"/>
                      <a:pt x="84672" y="0"/>
                    </a:cubicBezTo>
                    <a:lnTo>
                      <a:pt x="11758160" y="0"/>
                    </a:lnTo>
                    <a:cubicBezTo>
                      <a:pt x="11804870" y="0"/>
                      <a:pt x="11842831" y="112374"/>
                      <a:pt x="11842831" y="250649"/>
                    </a:cubicBezTo>
                    <a:lnTo>
                      <a:pt x="11842831" y="1461700"/>
                    </a:lnTo>
                    <a:cubicBezTo>
                      <a:pt x="11842831" y="1599975"/>
                      <a:pt x="11804870" y="1712349"/>
                      <a:pt x="11758160" y="1712349"/>
                    </a:cubicBezTo>
                    <a:lnTo>
                      <a:pt x="84672" y="1712349"/>
                    </a:lnTo>
                    <a:cubicBezTo>
                      <a:pt x="37961" y="1712349"/>
                      <a:pt x="0" y="1599975"/>
                      <a:pt x="0" y="1461700"/>
                    </a:cubicBezTo>
                    <a:close/>
                  </a:path>
                </a:pathLst>
              </a:custGeom>
              <a:solidFill>
                <a:srgbClr val="EAF1F9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33560" y="278053"/>
              <a:ext cx="11639241" cy="109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6"/>
                </a:lnSpc>
              </a:pPr>
              <a:r>
                <a:rPr lang="en-US" sz="2399" b="tru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Online joint optimization outperforms sequential optimization under dynamic RMFS environments.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8682" y="3869859"/>
            <a:ext cx="8401992" cy="2118125"/>
            <a:chOff x="0" y="0"/>
            <a:chExt cx="11202656" cy="282416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9525"/>
              <a:ext cx="2686348" cy="49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They Did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679549"/>
              <a:ext cx="11202656" cy="2144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7169" indent="-108585" lvl="1">
                <a:lnSpc>
                  <a:spcPts val="2583"/>
                </a:lnSpc>
                <a:buFont typeface="Arial"/>
                <a:buChar char="•"/>
              </a:pPr>
              <a:r>
                <a:rPr lang="en-US" sz="1799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Formulated an online joint optimization model integrating Order Assignment (OA), Pod Selection (PS), and Task Allocation (TA).</a:t>
              </a:r>
            </a:p>
            <a:p>
              <a:pPr algn="l" marL="217169" indent="-108585" lvl="1">
                <a:lnSpc>
                  <a:spcPts val="2583"/>
                </a:lnSpc>
                <a:buFont typeface="Arial"/>
                <a:buChar char="•"/>
              </a:pPr>
              <a:r>
                <a:rPr lang="en-US" sz="1799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Considered finite pod inventory, multi-quantity SKU demand, robot travel distance, and dynamic system states.</a:t>
              </a:r>
            </a:p>
            <a:p>
              <a:pPr algn="l" marL="217169" indent="-108585" lvl="1">
                <a:lnSpc>
                  <a:spcPts val="2583"/>
                </a:lnSpc>
                <a:buFont typeface="Arial"/>
                <a:buChar char="•"/>
              </a:pPr>
              <a:r>
                <a:rPr lang="en-US" sz="1799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Compared with sequential optimization through 2-hour RMFS simulations.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8682" y="8240389"/>
            <a:ext cx="9330241" cy="770901"/>
            <a:chOff x="0" y="0"/>
            <a:chExt cx="12440322" cy="102786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1904902" cy="1027868"/>
              <a:chOff x="0" y="0"/>
              <a:chExt cx="9036177" cy="78018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036124" cy="780221"/>
              </a:xfrm>
              <a:custGeom>
                <a:avLst/>
                <a:gdLst/>
                <a:ahLst/>
                <a:cxnLst/>
                <a:rect r="r" b="b" t="t" l="l"/>
                <a:pathLst>
                  <a:path h="780221" w="9036124">
                    <a:moveTo>
                      <a:pt x="0" y="136288"/>
                    </a:moveTo>
                    <a:cubicBezTo>
                      <a:pt x="0" y="61103"/>
                      <a:pt x="28965" y="0"/>
                      <a:pt x="64605" y="0"/>
                    </a:cubicBezTo>
                    <a:lnTo>
                      <a:pt x="8971518" y="0"/>
                    </a:lnTo>
                    <a:cubicBezTo>
                      <a:pt x="9007159" y="0"/>
                      <a:pt x="9036124" y="61103"/>
                      <a:pt x="9036124" y="136288"/>
                    </a:cubicBezTo>
                    <a:lnTo>
                      <a:pt x="9036124" y="643963"/>
                    </a:lnTo>
                    <a:cubicBezTo>
                      <a:pt x="9036124" y="719148"/>
                      <a:pt x="9007159" y="780221"/>
                      <a:pt x="8971518" y="780221"/>
                    </a:cubicBezTo>
                    <a:lnTo>
                      <a:pt x="64605" y="780221"/>
                    </a:lnTo>
                    <a:cubicBezTo>
                      <a:pt x="28965" y="780221"/>
                      <a:pt x="0" y="719148"/>
                      <a:pt x="0" y="643963"/>
                    </a:cubicBezTo>
                    <a:close/>
                  </a:path>
                </a:pathLst>
              </a:custGeom>
              <a:solidFill>
                <a:srgbClr val="EAF1F9"/>
              </a:solidFill>
            </p:spPr>
          </p:sp>
        </p:grpSp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267610" y="345102"/>
              <a:ext cx="267610" cy="267610"/>
            </a:xfrm>
            <a:custGeom>
              <a:avLst/>
              <a:gdLst/>
              <a:ahLst/>
              <a:cxnLst/>
              <a:rect r="r" b="b" t="t" l="l"/>
              <a:pathLst>
                <a:path h="267610" w="267610">
                  <a:moveTo>
                    <a:pt x="0" y="0"/>
                  </a:moveTo>
                  <a:lnTo>
                    <a:pt x="267609" y="0"/>
                  </a:lnTo>
                  <a:lnTo>
                    <a:pt x="267609" y="267610"/>
                  </a:lnTo>
                  <a:lnTo>
                    <a:pt x="0" y="267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713769" y="310899"/>
              <a:ext cx="11726552" cy="3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Takeaway: </a:t>
              </a:r>
              <a:r>
                <a:rPr lang="en-US" sz="18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Jointly considering OA, PS, and TA delivers superior system performance.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08682" y="6490953"/>
            <a:ext cx="1735522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8183" y="6914888"/>
            <a:ext cx="7949003" cy="9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 optimization (M1G) achieves higher throughput and lower robot distance than sequential approaches.</a:t>
            </a:r>
          </a:p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Minimizing pod movements (M2G) does not guarantee higher throughput.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441406" y="2430288"/>
            <a:ext cx="7098320" cy="933583"/>
            <a:chOff x="0" y="0"/>
            <a:chExt cx="9464427" cy="1244777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9464427" cy="1244777"/>
              <a:chOff x="0" y="0"/>
              <a:chExt cx="9464427" cy="124477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464370" cy="1244656"/>
              </a:xfrm>
              <a:custGeom>
                <a:avLst/>
                <a:gdLst/>
                <a:ahLst/>
                <a:cxnLst/>
                <a:rect r="r" b="b" t="t" l="l"/>
                <a:pathLst>
                  <a:path h="1244656" w="9464370">
                    <a:moveTo>
                      <a:pt x="0" y="182189"/>
                    </a:moveTo>
                    <a:cubicBezTo>
                      <a:pt x="0" y="81681"/>
                      <a:pt x="30337" y="0"/>
                      <a:pt x="67667" y="0"/>
                    </a:cubicBezTo>
                    <a:lnTo>
                      <a:pt x="9396703" y="0"/>
                    </a:lnTo>
                    <a:cubicBezTo>
                      <a:pt x="9434033" y="0"/>
                      <a:pt x="9464370" y="81681"/>
                      <a:pt x="9464370" y="182189"/>
                    </a:cubicBezTo>
                    <a:lnTo>
                      <a:pt x="9464370" y="1062467"/>
                    </a:lnTo>
                    <a:cubicBezTo>
                      <a:pt x="9464370" y="1162974"/>
                      <a:pt x="9434033" y="1244656"/>
                      <a:pt x="9396703" y="1244656"/>
                    </a:cubicBezTo>
                    <a:lnTo>
                      <a:pt x="67667" y="1244656"/>
                    </a:lnTo>
                    <a:cubicBezTo>
                      <a:pt x="30337" y="1244656"/>
                      <a:pt x="0" y="1162974"/>
                      <a:pt x="0" y="1062467"/>
                    </a:cubicBezTo>
                    <a:close/>
                  </a:path>
                </a:pathLst>
              </a:custGeom>
              <a:solidFill>
                <a:srgbClr val="FCECDD"/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294744" y="44184"/>
              <a:ext cx="8443280" cy="109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6"/>
                </a:lnSpc>
              </a:pPr>
              <a:r>
                <a:rPr lang="en-US" sz="2399" b="true">
                  <a:solidFill>
                    <a:srgbClr val="D869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Order splitting significantly improves system efficiency.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442953" y="3544846"/>
            <a:ext cx="2015340" cy="37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FF75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They Did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42953" y="3928020"/>
            <a:ext cx="5472098" cy="3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the OA–PS model by allowing order splitting: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42953" y="4267100"/>
            <a:ext cx="3626306" cy="65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583"/>
              </a:lnSpc>
              <a:buAutoNum type="arabicPeriod" startAt="1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Split-among-stations</a:t>
            </a:r>
          </a:p>
          <a:p>
            <a:pPr algn="l" marL="388618" indent="-194309" lvl="1">
              <a:lnSpc>
                <a:spcPts val="2583"/>
              </a:lnSpc>
              <a:buAutoNum type="arabicPeriod" startAt="1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Split-over-time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42953" y="4952700"/>
            <a:ext cx="7335166" cy="3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the impact of splitting on pod-station visits (PSV) and throughput.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42953" y="5337052"/>
            <a:ext cx="3908950" cy="65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the effect of packing station capacity.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42953" y="6121648"/>
            <a:ext cx="1735522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FF75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442953" y="6681490"/>
            <a:ext cx="6617302" cy="1336526"/>
            <a:chOff x="0" y="0"/>
            <a:chExt cx="8823070" cy="1782034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-57150"/>
              <a:ext cx="8823070" cy="859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7169" indent="-108585" lvl="1">
                <a:lnSpc>
                  <a:spcPts val="25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Splitting reduces pod-station visits by up to ~50% (space) and even more (time).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922767"/>
              <a:ext cx="8823070" cy="859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7169" indent="-108585" lvl="1">
                <a:lnSpc>
                  <a:spcPts val="25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Benefits decrease when packing capacity becomes very limited (e.g., C = 10).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442953" y="8240389"/>
            <a:ext cx="7256473" cy="757653"/>
            <a:chOff x="0" y="0"/>
            <a:chExt cx="12106261" cy="126402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06190" cy="1264061"/>
            </a:xfrm>
            <a:custGeom>
              <a:avLst/>
              <a:gdLst/>
              <a:ahLst/>
              <a:cxnLst/>
              <a:rect r="r" b="b" t="t" l="l"/>
              <a:pathLst>
                <a:path h="1264061" w="12106190">
                  <a:moveTo>
                    <a:pt x="0" y="220809"/>
                  </a:moveTo>
                  <a:cubicBezTo>
                    <a:pt x="0" y="98996"/>
                    <a:pt x="38806" y="0"/>
                    <a:pt x="86555" y="0"/>
                  </a:cubicBezTo>
                  <a:lnTo>
                    <a:pt x="12019634" y="0"/>
                  </a:lnTo>
                  <a:cubicBezTo>
                    <a:pt x="12067384" y="0"/>
                    <a:pt x="12106190" y="98996"/>
                    <a:pt x="12106190" y="220809"/>
                  </a:cubicBezTo>
                  <a:lnTo>
                    <a:pt x="12106190" y="1043324"/>
                  </a:lnTo>
                  <a:cubicBezTo>
                    <a:pt x="12106190" y="1165137"/>
                    <a:pt x="12067384" y="1264061"/>
                    <a:pt x="12019634" y="1264061"/>
                  </a:cubicBezTo>
                  <a:lnTo>
                    <a:pt x="86555" y="1264061"/>
                  </a:lnTo>
                  <a:cubicBezTo>
                    <a:pt x="38806" y="1264061"/>
                    <a:pt x="0" y="1165137"/>
                    <a:pt x="0" y="1043324"/>
                  </a:cubicBezTo>
                  <a:close/>
                </a:path>
              </a:pathLst>
            </a:custGeom>
            <a:solidFill>
              <a:srgbClr val="FCECDD"/>
            </a:solidFill>
          </p:spPr>
        </p:sp>
      </p:grpSp>
      <p:sp>
        <p:nvSpPr>
          <p:cNvPr name="Freeform 54" id="54" descr="preencoded.png"/>
          <p:cNvSpPr/>
          <p:nvPr/>
        </p:nvSpPr>
        <p:spPr>
          <a:xfrm flipH="false" flipV="false" rot="0">
            <a:off x="10674793" y="8442841"/>
            <a:ext cx="128261" cy="128261"/>
          </a:xfrm>
          <a:custGeom>
            <a:avLst/>
            <a:gdLst/>
            <a:ahLst/>
            <a:cxnLst/>
            <a:rect r="r" b="b" t="t" l="l"/>
            <a:pathLst>
              <a:path h="128261" w="128261">
                <a:moveTo>
                  <a:pt x="0" y="0"/>
                </a:moveTo>
                <a:lnTo>
                  <a:pt x="128261" y="0"/>
                </a:lnTo>
                <a:lnTo>
                  <a:pt x="128261" y="128261"/>
                </a:lnTo>
                <a:lnTo>
                  <a:pt x="0" y="1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5" id="55"/>
          <p:cNvSpPr txBox="true"/>
          <p:nvPr/>
        </p:nvSpPr>
        <p:spPr>
          <a:xfrm rot="0">
            <a:off x="10886901" y="8378887"/>
            <a:ext cx="6652824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75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r>
              <a:rPr lang="en-US" sz="1800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Order splitting provides more coordination flexibility and better resource utilization.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53846" y="1196129"/>
          <a:ext cx="17780308" cy="4566414"/>
        </p:xfrm>
        <a:graphic>
          <a:graphicData uri="http://schemas.openxmlformats.org/drawingml/2006/table">
            <a:tbl>
              <a:tblPr/>
              <a:tblGrid>
                <a:gridCol w="1901109"/>
                <a:gridCol w="2188958"/>
                <a:gridCol w="2016689"/>
                <a:gridCol w="1907007"/>
                <a:gridCol w="2262029"/>
                <a:gridCol w="2321326"/>
                <a:gridCol w="2046619"/>
                <a:gridCol w="3136570"/>
              </a:tblGrid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Publication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 assignment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Pod selection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Task allocation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unit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Multi-unit Demand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Finite Pod Inventory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 Splitting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Jiao et al.  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Jiao et al.</a:t>
                      </a: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(2026)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Xie et al. (2021)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Order-line(single demand)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This study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Item-unit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673" y="531428"/>
            <a:ext cx="1600000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 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13 頁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33644" y="6382488"/>
            <a:ext cx="17461880" cy="2762924"/>
            <a:chOff x="0" y="0"/>
            <a:chExt cx="22871544" cy="36188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71685" cy="3618938"/>
            </a:xfrm>
            <a:custGeom>
              <a:avLst/>
              <a:gdLst/>
              <a:ahLst/>
              <a:cxnLst/>
              <a:rect r="r" b="b" t="t" l="l"/>
              <a:pathLst>
                <a:path h="3618938" w="22871685">
                  <a:moveTo>
                    <a:pt x="0" y="219383"/>
                  </a:moveTo>
                  <a:cubicBezTo>
                    <a:pt x="0" y="98260"/>
                    <a:pt x="45847" y="0"/>
                    <a:pt x="102362" y="0"/>
                  </a:cubicBezTo>
                  <a:lnTo>
                    <a:pt x="22769323" y="0"/>
                  </a:lnTo>
                  <a:cubicBezTo>
                    <a:pt x="22825838" y="0"/>
                    <a:pt x="22871685" y="98260"/>
                    <a:pt x="22871685" y="219383"/>
                  </a:cubicBezTo>
                  <a:lnTo>
                    <a:pt x="22871685" y="3399627"/>
                  </a:lnTo>
                  <a:cubicBezTo>
                    <a:pt x="22871685" y="3520751"/>
                    <a:pt x="22825838" y="3618938"/>
                    <a:pt x="22769323" y="3618938"/>
                  </a:cubicBezTo>
                  <a:lnTo>
                    <a:pt x="102362" y="3618938"/>
                  </a:lnTo>
                  <a:cubicBezTo>
                    <a:pt x="45847" y="3618938"/>
                    <a:pt x="0" y="3520751"/>
                    <a:pt x="0" y="3399627"/>
                  </a:cubicBezTo>
                  <a:close/>
                </a:path>
              </a:pathLst>
            </a:custGeom>
            <a:solidFill>
              <a:srgbClr val="F3F8ED"/>
            </a:solidFill>
            <a:ln w="8659" cap="sq">
              <a:solidFill>
                <a:srgbClr val="C9DDB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66388" y="6669892"/>
            <a:ext cx="426543" cy="426543"/>
            <a:chOff x="0" y="0"/>
            <a:chExt cx="568724" cy="56872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68724" cy="568724"/>
              <a:chOff x="0" y="0"/>
              <a:chExt cx="558686" cy="5586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0" y="279400"/>
                    </a:moveTo>
                    <a:cubicBezTo>
                      <a:pt x="0" y="125095"/>
                      <a:pt x="125095" y="0"/>
                      <a:pt x="279400" y="0"/>
                    </a:cubicBez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578"/>
                      <a:pt x="0" y="279400"/>
                    </a:cubicBezTo>
                    <a:close/>
                  </a:path>
                </a:pathLst>
              </a:custGeom>
              <a:solidFill>
                <a:srgbClr val="4F8B3A"/>
              </a:solidFill>
            </p:spPr>
          </p:sp>
        </p:grpSp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129282" y="129282"/>
              <a:ext cx="310160" cy="310160"/>
            </a:xfrm>
            <a:custGeom>
              <a:avLst/>
              <a:gdLst/>
              <a:ahLst/>
              <a:cxnLst/>
              <a:rect r="r" b="b" t="t" l="l"/>
              <a:pathLst>
                <a:path h="310160" w="310160">
                  <a:moveTo>
                    <a:pt x="0" y="0"/>
                  </a:moveTo>
                  <a:lnTo>
                    <a:pt x="310160" y="0"/>
                  </a:lnTo>
                  <a:lnTo>
                    <a:pt x="310160" y="310160"/>
                  </a:lnTo>
                  <a:lnTo>
                    <a:pt x="0" y="31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56456" y="7299039"/>
            <a:ext cx="2255974" cy="56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Together, They Reveal the Research Gap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24577" y="6614419"/>
            <a:ext cx="10691923" cy="6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Xie et al. show the benefits of splitting under simplified assumptions, while Jiao et al. demonstrate the value of online joint optimization without splitting.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24577" y="7388550"/>
            <a:ext cx="7283861" cy="6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However, the integration of the following features remains insufficiently studied in an online framework: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2864830" y="8244856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2" y="0"/>
                </a:lnTo>
                <a:lnTo>
                  <a:pt x="145442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068390" y="8214781"/>
            <a:ext cx="898435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Splitting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4124547" y="8244856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3" y="0"/>
                </a:lnTo>
                <a:lnTo>
                  <a:pt x="145443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328108" y="8214781"/>
            <a:ext cx="965785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Finite Inventory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7455095" y="8256839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2" y="0"/>
                </a:lnTo>
                <a:lnTo>
                  <a:pt x="145442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673484" y="8214781"/>
            <a:ext cx="1291100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Robot Task Allocation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5455818" y="8256839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2" y="0"/>
                </a:lnTo>
                <a:lnTo>
                  <a:pt x="145442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760814" y="8225806"/>
            <a:ext cx="1534727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Multi-quantity Demand</a:t>
            </a:r>
          </a:p>
        </p:txBody>
      </p:sp>
      <p:sp>
        <p:nvSpPr>
          <p:cNvPr name="Freeform 33" id="33" descr="preencoded.png"/>
          <p:cNvSpPr/>
          <p:nvPr/>
        </p:nvSpPr>
        <p:spPr>
          <a:xfrm flipH="false" flipV="false" rot="0">
            <a:off x="11354419" y="7769852"/>
            <a:ext cx="252042" cy="252042"/>
          </a:xfrm>
          <a:custGeom>
            <a:avLst/>
            <a:gdLst/>
            <a:ahLst/>
            <a:cxnLst/>
            <a:rect r="r" b="b" t="t" l="l"/>
            <a:pathLst>
              <a:path h="252042" w="252042">
                <a:moveTo>
                  <a:pt x="0" y="0"/>
                </a:moveTo>
                <a:lnTo>
                  <a:pt x="252041" y="0"/>
                </a:lnTo>
                <a:lnTo>
                  <a:pt x="252041" y="252042"/>
                </a:lnTo>
                <a:lnTo>
                  <a:pt x="0" y="2520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689299" y="7609946"/>
            <a:ext cx="5851531" cy="1352408"/>
            <a:chOff x="0" y="0"/>
            <a:chExt cx="7664326" cy="17713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64377" cy="1771420"/>
            </a:xfrm>
            <a:custGeom>
              <a:avLst/>
              <a:gdLst/>
              <a:ahLst/>
              <a:cxnLst/>
              <a:rect r="r" b="b" t="t" l="l"/>
              <a:pathLst>
                <a:path h="1771420" w="7664377">
                  <a:moveTo>
                    <a:pt x="0" y="0"/>
                  </a:moveTo>
                  <a:lnTo>
                    <a:pt x="7664377" y="0"/>
                  </a:lnTo>
                  <a:lnTo>
                    <a:pt x="7664377" y="1771420"/>
                  </a:lnTo>
                  <a:lnTo>
                    <a:pt x="0" y="17714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368628" y="6395714"/>
            <a:ext cx="9696" cy="1262700"/>
            <a:chOff x="0" y="0"/>
            <a:chExt cx="12700" cy="16538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700" cy="1653921"/>
            </a:xfrm>
            <a:custGeom>
              <a:avLst/>
              <a:gdLst/>
              <a:ahLst/>
              <a:cxnLst/>
              <a:rect r="r" b="b" t="t" l="l"/>
              <a:pathLst>
                <a:path h="1653921" w="12700">
                  <a:moveTo>
                    <a:pt x="0" y="0"/>
                  </a:moveTo>
                  <a:lnTo>
                    <a:pt x="12700" y="0"/>
                  </a:lnTo>
                  <a:lnTo>
                    <a:pt x="12700" y="1653921"/>
                  </a:lnTo>
                  <a:lnTo>
                    <a:pt x="0" y="1653921"/>
                  </a:lnTo>
                  <a:close/>
                </a:path>
              </a:pathLst>
            </a:custGeom>
            <a:solidFill>
              <a:srgbClr val="C9DDB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694093" y="7296661"/>
            <a:ext cx="1774825" cy="2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Need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27210" y="7639364"/>
            <a:ext cx="5775708" cy="92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egrate split-order flexibility into online joint </a:t>
            </a: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OA–PS–TA </a:t>
            </a: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decision-making and examine its system-level operational value under realistic fulfillment conditions.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534476" y="8586822"/>
            <a:ext cx="2941223" cy="27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709" i="true">
                <a:solidFill>
                  <a:srgbClr val="898989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(OS = Order Splitting)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  Research Objective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14 頁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03 · 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Questions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15 頁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03 · 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Scope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16 頁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03 · 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17 頁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  Problem Definition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18 頁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Setting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19 頁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Problems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20 頁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Splitting Definition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21 頁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22 頁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  Methodology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23 頁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Baseline: M1G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24 頁</a:t>
            </a:r>
          </a:p>
        </p:txBody>
      </p:sp>
      <p:sp>
        <p:nvSpPr>
          <p:cNvPr name="Shape 401" id="401"/>
          <p:cNvSpPr/>
          <p:nvPr/>
        </p:nvSpPr>
        <p:spPr>
          <a:xfrm>
            <a:off x="352044" y="1325880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02" id="402"/>
          <p:cNvSpPr txBox="true"/>
          <p:nvPr/>
        </p:nvSpPr>
        <p:spPr>
          <a:xfrm>
            <a:off x="534924" y="1426464"/>
            <a:ext cx="745236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Sets and Parameters</a:t>
            </a:r>
          </a:p>
        </p:txBody>
      </p:sp>
      <p:sp>
        <p:nvSpPr>
          <p:cNvPr name="Shape 403" id="403"/>
          <p:cNvSpPr/>
          <p:nvPr/>
        </p:nvSpPr>
        <p:spPr>
          <a:xfrm>
            <a:off x="352044" y="1746504"/>
            <a:ext cx="7818120" cy="27980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04" name="Equation 4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92808"/>
            <a:ext cx="779526" cy="260604"/>
          </a:xfrm>
          <a:prstGeom prst="rect">
            <a:avLst/>
          </a:prstGeom>
        </p:spPr>
      </p:pic>
      <p:sp>
        <p:nvSpPr>
          <p:cNvPr name="Text 405" id="405"/>
          <p:cNvSpPr txBox="true"/>
          <p:nvPr/>
        </p:nvSpPr>
        <p:spPr>
          <a:xfrm>
            <a:off x="2903220" y="1918970"/>
            <a:ext cx="5047488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pending orders; those whose residence time exceeds tau</a:t>
            </a:r>
          </a:p>
        </p:txBody>
      </p:sp>
      <p:pic>
        <p:nvPicPr>
          <p:cNvPr id="406" name="Equation 4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44852"/>
            <a:ext cx="445770" cy="221742"/>
          </a:xfrm>
          <a:prstGeom prst="rect">
            <a:avLst/>
          </a:prstGeom>
        </p:spPr>
      </p:pic>
      <p:sp>
        <p:nvSpPr>
          <p:cNvPr name="Text 407" id="407"/>
          <p:cNvSpPr txBox="true"/>
          <p:nvPr/>
        </p:nvSpPr>
        <p:spPr>
          <a:xfrm>
            <a:off x="2903220" y="2251583"/>
            <a:ext cx="5047488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workstations with free capacity</a:t>
            </a:r>
          </a:p>
        </p:txBody>
      </p:sp>
      <p:pic>
        <p:nvPicPr>
          <p:cNvPr id="408" name="Equation 4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58034"/>
            <a:ext cx="114300" cy="221742"/>
          </a:xfrm>
          <a:prstGeom prst="rect">
            <a:avLst/>
          </a:prstGeom>
        </p:spPr>
      </p:pic>
      <p:sp>
        <p:nvSpPr>
          <p:cNvPr name="Text 409" id="409"/>
          <p:cNvSpPr txBox="true"/>
          <p:nvPr/>
        </p:nvSpPr>
        <p:spPr>
          <a:xfrm>
            <a:off x="2903220" y="2564765"/>
            <a:ext cx="5047488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SKUs</a:t>
            </a:r>
          </a:p>
        </p:txBody>
      </p:sp>
      <p:pic>
        <p:nvPicPr>
          <p:cNvPr id="410" name="Equation 4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71216"/>
            <a:ext cx="1140714" cy="221742"/>
          </a:xfrm>
          <a:prstGeom prst="rect">
            <a:avLst/>
          </a:prstGeom>
        </p:spPr>
      </p:pic>
      <p:sp>
        <p:nvSpPr>
          <p:cNvPr name="Text 411" id="411"/>
          <p:cNvSpPr txBox="true"/>
          <p:nvPr/>
        </p:nvSpPr>
        <p:spPr>
          <a:xfrm>
            <a:off x="2903220" y="2877947"/>
            <a:ext cx="5047488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all pods; idle pods; pods already assigned to w</a:t>
            </a:r>
          </a:p>
        </p:txBody>
      </p:sp>
      <p:pic>
        <p:nvPicPr>
          <p:cNvPr id="412" name="Equation 4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84398"/>
            <a:ext cx="1120140" cy="221742"/>
          </a:xfrm>
          <a:prstGeom prst="rect">
            <a:avLst/>
          </a:prstGeom>
        </p:spPr>
      </p:pic>
      <p:sp>
        <p:nvSpPr>
          <p:cNvPr name="Text 413" id="413"/>
          <p:cNvSpPr txBox="true"/>
          <p:nvPr/>
        </p:nvSpPr>
        <p:spPr>
          <a:xfrm>
            <a:off x="2903220" y="3191129"/>
            <a:ext cx="5047488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all robots; idle robots; busy robots</a:t>
            </a:r>
          </a:p>
        </p:txBody>
      </p:sp>
      <p:pic>
        <p:nvPicPr>
          <p:cNvPr id="414" name="Equation 4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497580"/>
            <a:ext cx="854964" cy="249174"/>
          </a:xfrm>
          <a:prstGeom prst="rect">
            <a:avLst/>
          </a:prstGeom>
        </p:spPr>
      </p:pic>
      <p:sp>
        <p:nvSpPr>
          <p:cNvPr name="Text 415" id="415"/>
          <p:cNvSpPr txBox="true"/>
          <p:nvPr/>
        </p:nvSpPr>
        <p:spPr>
          <a:xfrm>
            <a:off x="2903220" y="3518027"/>
            <a:ext cx="5047488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orders demanding SKU i; pods holding SKU i</a:t>
            </a:r>
          </a:p>
        </p:txBody>
      </p:sp>
      <p:pic>
        <p:nvPicPr>
          <p:cNvPr id="416" name="Equation 4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838194"/>
            <a:ext cx="848106" cy="237744"/>
          </a:xfrm>
          <a:prstGeom prst="rect">
            <a:avLst/>
          </a:prstGeom>
        </p:spPr>
      </p:pic>
      <p:sp>
        <p:nvSpPr>
          <p:cNvPr name="Text 417" id="417"/>
          <p:cNvSpPr txBox="true"/>
          <p:nvPr/>
        </p:nvSpPr>
        <p:spPr>
          <a:xfrm>
            <a:off x="2903220" y="3852926"/>
            <a:ext cx="5047488" cy="2540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units of SKU i in order o; units of SKU i on pod p</a:t>
            </a:r>
          </a:p>
        </p:txBody>
      </p:sp>
      <p:pic>
        <p:nvPicPr>
          <p:cNvPr id="418" name="Equation 4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167378"/>
            <a:ext cx="1204722" cy="230886"/>
          </a:xfrm>
          <a:prstGeom prst="rect">
            <a:avLst/>
          </a:prstGeom>
        </p:spPr>
      </p:pic>
      <p:sp>
        <p:nvSpPr>
          <p:cNvPr name="Text 419" id="419"/>
          <p:cNvSpPr txBox="true"/>
          <p:nvPr/>
        </p:nvSpPr>
        <p:spPr>
          <a:xfrm>
            <a:off x="2903220" y="4167378"/>
            <a:ext cx="5047488" cy="4622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40"/>
              </a:lnSpc>
              <a:buNone/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free capacity of w, counted in ORDERS; pod-station and robot-pod distance</a:t>
            </a:r>
          </a:p>
        </p:txBody>
      </p:sp>
      <p:sp>
        <p:nvSpPr>
          <p:cNvPr name="Shape 420" id="420"/>
          <p:cNvSpPr/>
          <p:nvPr/>
        </p:nvSpPr>
        <p:spPr>
          <a:xfrm>
            <a:off x="352044" y="4690872"/>
            <a:ext cx="78181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21" id="421"/>
          <p:cNvSpPr txBox="true"/>
          <p:nvPr/>
        </p:nvSpPr>
        <p:spPr>
          <a:xfrm>
            <a:off x="534924" y="4791456"/>
            <a:ext cx="745236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Decision Variables</a:t>
            </a:r>
          </a:p>
        </p:txBody>
      </p:sp>
      <p:sp>
        <p:nvSpPr>
          <p:cNvPr name="Shape 422" id="422"/>
          <p:cNvSpPr/>
          <p:nvPr/>
        </p:nvSpPr>
        <p:spPr>
          <a:xfrm>
            <a:off x="352044" y="5111496"/>
            <a:ext cx="7818120" cy="412394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23" name="Equation 4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257800"/>
            <a:ext cx="377190" cy="251460"/>
          </a:xfrm>
          <a:prstGeom prst="rect">
            <a:avLst/>
          </a:prstGeom>
        </p:spPr>
      </p:pic>
      <p:sp>
        <p:nvSpPr>
          <p:cNvPr name="Text 424" id="424"/>
          <p:cNvSpPr txBox="true"/>
          <p:nvPr/>
        </p:nvSpPr>
        <p:spPr>
          <a:xfrm>
            <a:off x="2354580" y="5275580"/>
            <a:ext cx="5596128" cy="2616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00"/>
              </a:lnSpc>
              <a:buNone/>
            </a:pPr>
            <a:r>
              <a:rPr lang="en-US" sz="14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 xml:space="preserve">order o COULD be assigned to w — not slot-limited</a:t>
            </a:r>
          </a:p>
        </p:txBody>
      </p:sp>
      <p:pic>
        <p:nvPicPr>
          <p:cNvPr id="425" name="Equation 4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600700"/>
            <a:ext cx="374904" cy="246888"/>
          </a:xfrm>
          <a:prstGeom prst="rect">
            <a:avLst/>
          </a:prstGeom>
        </p:spPr>
      </p:pic>
      <p:sp>
        <p:nvSpPr>
          <p:cNvPr name="Text 426" id="426"/>
          <p:cNvSpPr txBox="true"/>
          <p:nvPr/>
        </p:nvSpPr>
        <p:spPr>
          <a:xfrm>
            <a:off x="2354580" y="5616194"/>
            <a:ext cx="5596128" cy="2616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00"/>
              </a:lnSpc>
              <a:buNone/>
            </a:pPr>
            <a:r>
              <a:rPr lang="en-US" sz="1400">
                <a:solidFill>
                  <a:srgbClr val="3B6135"/>
                </a:solidFill>
                <a:latin typeface="Times New Roman"/>
                <a:ea typeface="Times New Roman"/>
                <a:cs typeface="Times New Roman"/>
              </a:rPr>
              <a:t xml:space="preserve">order o IS assigned to w — consumes a slot</a:t>
            </a:r>
          </a:p>
        </p:txBody>
      </p:sp>
      <p:pic>
        <p:nvPicPr>
          <p:cNvPr id="427" name="Equation 4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939028"/>
            <a:ext cx="358902" cy="246888"/>
          </a:xfrm>
          <a:prstGeom prst="rect">
            <a:avLst/>
          </a:prstGeom>
        </p:spPr>
      </p:pic>
      <p:sp>
        <p:nvSpPr>
          <p:cNvPr name="Text 428" id="428"/>
          <p:cNvSpPr txBox="true"/>
          <p:nvPr/>
        </p:nvSpPr>
        <p:spPr>
          <a:xfrm>
            <a:off x="2354580" y="5954522"/>
            <a:ext cx="5596128" cy="2616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00"/>
              </a:lnSpc>
              <a:buNone/>
            </a:pPr>
            <a:r>
              <a:rPr lang="en-US" sz="14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pod p is assigned to workstation w</a:t>
            </a:r>
          </a:p>
        </p:txBody>
      </p:sp>
      <p:pic>
        <p:nvPicPr>
          <p:cNvPr id="429" name="Equation 4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6277356"/>
            <a:ext cx="331470" cy="246888"/>
          </a:xfrm>
          <a:prstGeom prst="rect">
            <a:avLst/>
          </a:prstGeom>
        </p:spPr>
      </p:pic>
      <p:sp>
        <p:nvSpPr>
          <p:cNvPr name="Text 430" id="430"/>
          <p:cNvSpPr txBox="true"/>
          <p:nvPr/>
        </p:nvSpPr>
        <p:spPr>
          <a:xfrm>
            <a:off x="2354580" y="6292850"/>
            <a:ext cx="5596128" cy="2616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00"/>
              </a:lnSpc>
              <a:buNone/>
            </a:pPr>
            <a:r>
              <a:rPr lang="en-US" sz="14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robot r transports pod p — task allocation is inside the model</a:t>
            </a:r>
          </a:p>
        </p:txBody>
      </p:sp>
      <p:pic>
        <p:nvPicPr>
          <p:cNvPr id="431" name="Equation 4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6615684"/>
            <a:ext cx="507492" cy="246888"/>
          </a:xfrm>
          <a:prstGeom prst="rect">
            <a:avLst/>
          </a:prstGeom>
        </p:spPr>
      </p:pic>
      <p:sp>
        <p:nvSpPr>
          <p:cNvPr name="Text 432" id="432"/>
          <p:cNvSpPr txBox="true"/>
          <p:nvPr/>
        </p:nvSpPr>
        <p:spPr>
          <a:xfrm>
            <a:off x="2354580" y="6631178"/>
            <a:ext cx="5596128" cy="2616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00"/>
              </a:lnSpc>
              <a:buNone/>
            </a:pPr>
            <a:r>
              <a:rPr lang="en-US" sz="14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auxiliary: pod p supplies order o at w</a:t>
            </a:r>
          </a:p>
        </p:txBody>
      </p:sp>
      <p:pic>
        <p:nvPicPr>
          <p:cNvPr id="433" name="Equation 43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6954012"/>
            <a:ext cx="749808" cy="265176"/>
          </a:xfrm>
          <a:prstGeom prst="rect">
            <a:avLst/>
          </a:prstGeom>
        </p:spPr>
      </p:pic>
      <p:sp>
        <p:nvSpPr>
          <p:cNvPr name="Text 434" id="434"/>
          <p:cNvSpPr txBox="true"/>
          <p:nvPr/>
        </p:nvSpPr>
        <p:spPr>
          <a:xfrm>
            <a:off x="2354580" y="6978650"/>
            <a:ext cx="5596128" cy="2616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00"/>
              </a:lnSpc>
              <a:buNone/>
            </a:pPr>
            <a:r>
              <a:rPr lang="en-US" sz="14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unused capacity of workstation w</a:t>
            </a:r>
          </a:p>
        </p:txBody>
      </p:sp>
      <p:sp>
        <p:nvSpPr>
          <p:cNvPr name="Text 435" id="435"/>
          <p:cNvSpPr txBox="true"/>
          <p:nvPr/>
        </p:nvSpPr>
        <p:spPr>
          <a:xfrm>
            <a:off x="571500" y="7365492"/>
            <a:ext cx="7379208" cy="624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All binary except u.  Implementation names: x-hat, x, z, y, delta, u  -&gt;  yos, yaos, xps, yrp, dops, us.  The delta here is Jiao's auxiliary variable and is unrelated to the realisation rate used from the next slide onward.</a:t>
            </a:r>
          </a:p>
        </p:txBody>
      </p:sp>
      <p:sp>
        <p:nvSpPr>
          <p:cNvPr name="Shape 436" id="436"/>
          <p:cNvSpPr/>
          <p:nvPr/>
        </p:nvSpPr>
        <p:spPr>
          <a:xfrm>
            <a:off x="571500" y="8109204"/>
            <a:ext cx="7379208" cy="20117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37" id="437"/>
          <p:cNvSpPr txBox="true"/>
          <p:nvPr/>
        </p:nvSpPr>
        <p:spPr>
          <a:xfrm>
            <a:off x="571500" y="8255508"/>
            <a:ext cx="7379208" cy="8178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2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Where the implementation departs from the paper: u is capped at 6 rather than left unbounded; the (19) substitution fires only when the urgent set exceeds total free capacity, not whenever it is non-empty; and orders whose system stock cannot cover them in full are filtered out before the solve, a step the paper does not state.</a:t>
            </a:r>
          </a:p>
        </p:txBody>
      </p:sp>
      <p:sp>
        <p:nvSpPr>
          <p:cNvPr name="Shape 438" id="438"/>
          <p:cNvSpPr/>
          <p:nvPr/>
        </p:nvSpPr>
        <p:spPr>
          <a:xfrm>
            <a:off x="8517636" y="132588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39" id="439"/>
          <p:cNvSpPr txBox="true"/>
          <p:nvPr/>
        </p:nvSpPr>
        <p:spPr>
          <a:xfrm>
            <a:off x="8700516" y="1426464"/>
            <a:ext cx="905256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Objective  (14)  and Preprocessing  (19)</a:t>
            </a:r>
          </a:p>
        </p:txBody>
      </p:sp>
      <p:sp>
        <p:nvSpPr>
          <p:cNvPr name="Shape 440" id="440"/>
          <p:cNvSpPr/>
          <p:nvPr/>
        </p:nvSpPr>
        <p:spPr>
          <a:xfrm>
            <a:off x="8517636" y="1746504"/>
            <a:ext cx="9418320" cy="191109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41" name="Equation 44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37092" y="1892808"/>
            <a:ext cx="7431786" cy="441198"/>
          </a:xfrm>
          <a:prstGeom prst="rect">
            <a:avLst/>
          </a:prstGeom>
        </p:spPr>
      </p:pic>
      <p:pic>
        <p:nvPicPr>
          <p:cNvPr id="442" name="Equation 44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37092" y="2443734"/>
            <a:ext cx="3401568" cy="235458"/>
          </a:xfrm>
          <a:prstGeom prst="rect">
            <a:avLst/>
          </a:prstGeom>
        </p:spPr>
      </p:pic>
      <p:pic>
        <p:nvPicPr>
          <p:cNvPr id="443" name="Equation 44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37092" y="2843784"/>
            <a:ext cx="2109978" cy="274320"/>
          </a:xfrm>
          <a:prstGeom prst="rect">
            <a:avLst/>
          </a:prstGeom>
        </p:spPr>
      </p:pic>
      <p:sp>
        <p:nvSpPr>
          <p:cNvPr name="Text 444" id="444"/>
          <p:cNvSpPr txBox="true"/>
          <p:nvPr/>
        </p:nvSpPr>
        <p:spPr>
          <a:xfrm>
            <a:off x="11663172" y="2843784"/>
            <a:ext cx="6053328" cy="4470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Preprocessing (19): orders that have waited longer than tau take priority, so long-waiting orders are not starved by the objective.</a:t>
            </a:r>
          </a:p>
        </p:txBody>
      </p:sp>
      <p:sp>
        <p:nvSpPr>
          <p:cNvPr name="Shape 445" id="445"/>
          <p:cNvSpPr/>
          <p:nvPr/>
        </p:nvSpPr>
        <p:spPr>
          <a:xfrm>
            <a:off x="8517636" y="3803904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46" id="446"/>
          <p:cNvSpPr txBox="true"/>
          <p:nvPr/>
        </p:nvSpPr>
        <p:spPr>
          <a:xfrm>
            <a:off x="8700516" y="3904488"/>
            <a:ext cx="905256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Constraints  (2) – (16)</a:t>
            </a:r>
          </a:p>
        </p:txBody>
      </p:sp>
      <p:sp>
        <p:nvSpPr>
          <p:cNvPr name="Shape 447" id="447"/>
          <p:cNvSpPr/>
          <p:nvPr/>
        </p:nvSpPr>
        <p:spPr>
          <a:xfrm>
            <a:off x="8517636" y="4224528"/>
            <a:ext cx="9418320" cy="5010912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48" name="Equation 44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23476" y="4370832"/>
            <a:ext cx="1968246" cy="390906"/>
          </a:xfrm>
          <a:prstGeom prst="rect">
            <a:avLst/>
          </a:prstGeom>
        </p:spPr>
      </p:pic>
      <p:sp>
        <p:nvSpPr>
          <p:cNvPr name="Text 449" id="449"/>
          <p:cNvSpPr txBox="true"/>
          <p:nvPr/>
        </p:nvSpPr>
        <p:spPr>
          <a:xfrm>
            <a:off x="8737092" y="4456557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(2)</a:t>
            </a:r>
          </a:p>
        </p:txBody>
      </p:sp>
      <p:sp>
        <p:nvSpPr>
          <p:cNvPr name="Text 450" id="450"/>
          <p:cNvSpPr txBox="true"/>
          <p:nvPr/>
        </p:nvSpPr>
        <p:spPr>
          <a:xfrm>
            <a:off x="9523476" y="4789170"/>
            <a:ext cx="3566160" cy="22250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one order to at most one workstation</a:t>
            </a:r>
          </a:p>
        </p:txBody>
      </p:sp>
      <p:pic>
        <p:nvPicPr>
          <p:cNvPr id="451" name="Equation 45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23476" y="5112258"/>
            <a:ext cx="1396746" cy="228600"/>
          </a:xfrm>
          <a:prstGeom prst="rect">
            <a:avLst/>
          </a:prstGeom>
        </p:spPr>
      </p:pic>
      <p:sp>
        <p:nvSpPr>
          <p:cNvPr name="Text 452" id="452"/>
          <p:cNvSpPr txBox="true"/>
          <p:nvPr/>
        </p:nvSpPr>
        <p:spPr>
          <a:xfrm>
            <a:off x="8737092" y="5116830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(3)</a:t>
            </a:r>
          </a:p>
        </p:txBody>
      </p:sp>
      <p:sp>
        <p:nvSpPr>
          <p:cNvPr name="Text 453" id="453"/>
          <p:cNvSpPr txBox="true"/>
          <p:nvPr/>
        </p:nvSpPr>
        <p:spPr>
          <a:xfrm>
            <a:off x="9523476" y="5377434"/>
            <a:ext cx="3566160" cy="22250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an assignable order is not necessarily assigned</a:t>
            </a:r>
          </a:p>
        </p:txBody>
      </p:sp>
      <p:pic>
        <p:nvPicPr>
          <p:cNvPr id="454" name="Equation 4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23476" y="5700522"/>
            <a:ext cx="2055114" cy="390906"/>
          </a:xfrm>
          <a:prstGeom prst="rect">
            <a:avLst/>
          </a:prstGeom>
        </p:spPr>
      </p:pic>
      <p:sp>
        <p:nvSpPr>
          <p:cNvPr name="Text 455" id="455"/>
          <p:cNvSpPr txBox="true"/>
          <p:nvPr/>
        </p:nvSpPr>
        <p:spPr>
          <a:xfrm>
            <a:off x="8737092" y="5786247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(4)</a:t>
            </a:r>
          </a:p>
        </p:txBody>
      </p:sp>
      <p:sp>
        <p:nvSpPr>
          <p:cNvPr name="Text 456" id="456"/>
          <p:cNvSpPr txBox="true"/>
          <p:nvPr/>
        </p:nvSpPr>
        <p:spPr>
          <a:xfrm>
            <a:off x="9523476" y="6118860"/>
            <a:ext cx="3566160" cy="4084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assigned orders equal capacity minus unused capacity</a:t>
            </a:r>
          </a:p>
        </p:txBody>
      </p:sp>
      <p:pic>
        <p:nvPicPr>
          <p:cNvPr id="457" name="Equation 45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23476" y="6627876"/>
            <a:ext cx="2980944" cy="422910"/>
          </a:xfrm>
          <a:prstGeom prst="rect">
            <a:avLst/>
          </a:prstGeom>
        </p:spPr>
      </p:pic>
      <p:sp>
        <p:nvSpPr>
          <p:cNvPr name="Text 458" id="458"/>
          <p:cNvSpPr txBox="true"/>
          <p:nvPr/>
        </p:nvSpPr>
        <p:spPr>
          <a:xfrm>
            <a:off x="8737092" y="6729603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(5)</a:t>
            </a:r>
          </a:p>
        </p:txBody>
      </p:sp>
      <p:sp>
        <p:nvSpPr>
          <p:cNvPr name="Text 459" id="459"/>
          <p:cNvSpPr txBox="true"/>
          <p:nvPr/>
        </p:nvSpPr>
        <p:spPr>
          <a:xfrm>
            <a:off x="9523476" y="7078218"/>
            <a:ext cx="3566160" cy="4084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demand for SKU i at w cannot exceed what the pods at w supply</a:t>
            </a:r>
          </a:p>
        </p:txBody>
      </p:sp>
      <p:pic>
        <p:nvPicPr>
          <p:cNvPr id="460" name="Equation 46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23476" y="7587234"/>
            <a:ext cx="1762506" cy="390906"/>
          </a:xfrm>
          <a:prstGeom prst="rect">
            <a:avLst/>
          </a:prstGeom>
        </p:spPr>
      </p:pic>
      <p:sp>
        <p:nvSpPr>
          <p:cNvPr name="Text 461" id="461"/>
          <p:cNvSpPr txBox="true"/>
          <p:nvPr/>
        </p:nvSpPr>
        <p:spPr>
          <a:xfrm>
            <a:off x="8737092" y="7672959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(6)</a:t>
            </a:r>
          </a:p>
        </p:txBody>
      </p:sp>
      <p:sp>
        <p:nvSpPr>
          <p:cNvPr name="Text 462" id="462"/>
          <p:cNvSpPr txBox="true"/>
          <p:nvPr/>
        </p:nvSpPr>
        <p:spPr>
          <a:xfrm>
            <a:off x="9523476" y="8005572"/>
            <a:ext cx="3566160" cy="22250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pod goes to at most one workstation</a:t>
            </a:r>
          </a:p>
        </p:txBody>
      </p:sp>
      <p:pic>
        <p:nvPicPr>
          <p:cNvPr id="463" name="Equation 46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23476" y="8328660"/>
            <a:ext cx="1764792" cy="226314"/>
          </a:xfrm>
          <a:prstGeom prst="rect">
            <a:avLst/>
          </a:prstGeom>
        </p:spPr>
      </p:pic>
      <p:sp>
        <p:nvSpPr>
          <p:cNvPr name="Text 464" id="464"/>
          <p:cNvSpPr txBox="true"/>
          <p:nvPr/>
        </p:nvSpPr>
        <p:spPr>
          <a:xfrm>
            <a:off x="8737092" y="8332089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(7)</a:t>
            </a:r>
          </a:p>
        </p:txBody>
      </p:sp>
      <p:sp>
        <p:nvSpPr>
          <p:cNvPr name="Text 465" id="465"/>
          <p:cNvSpPr txBox="true"/>
          <p:nvPr/>
        </p:nvSpPr>
        <p:spPr>
          <a:xfrm>
            <a:off x="9523476" y="8593836"/>
            <a:ext cx="3566160" cy="22250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inherit pods already assigned to w</a:t>
            </a:r>
          </a:p>
        </p:txBody>
      </p:sp>
      <p:pic>
        <p:nvPicPr>
          <p:cNvPr id="466" name="Equation 46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150340" y="4370832"/>
            <a:ext cx="2194560" cy="390906"/>
          </a:xfrm>
          <a:prstGeom prst="rect">
            <a:avLst/>
          </a:prstGeom>
        </p:spPr>
      </p:pic>
      <p:sp>
        <p:nvSpPr>
          <p:cNvPr name="Text 467" id="467"/>
          <p:cNvSpPr txBox="true"/>
          <p:nvPr/>
        </p:nvSpPr>
        <p:spPr>
          <a:xfrm>
            <a:off x="13363956" y="4456557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(8)</a:t>
            </a:r>
          </a:p>
        </p:txBody>
      </p:sp>
      <p:sp>
        <p:nvSpPr>
          <p:cNvPr name="Text 468" id="468"/>
          <p:cNvSpPr txBox="true"/>
          <p:nvPr/>
        </p:nvSpPr>
        <p:spPr>
          <a:xfrm>
            <a:off x="14150340" y="4789170"/>
            <a:ext cx="3566160" cy="22250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dispatching a pod requires a robot</a:t>
            </a:r>
          </a:p>
        </p:txBody>
      </p:sp>
      <p:pic>
        <p:nvPicPr>
          <p:cNvPr id="469" name="Equation 46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150340" y="5112258"/>
            <a:ext cx="1490472" cy="368046"/>
          </a:xfrm>
          <a:prstGeom prst="rect">
            <a:avLst/>
          </a:prstGeom>
        </p:spPr>
      </p:pic>
      <p:sp>
        <p:nvSpPr>
          <p:cNvPr name="Text 470" id="470"/>
          <p:cNvSpPr txBox="true"/>
          <p:nvPr/>
        </p:nvSpPr>
        <p:spPr>
          <a:xfrm>
            <a:off x="13363956" y="5186553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(9)</a:t>
            </a:r>
          </a:p>
        </p:txBody>
      </p:sp>
      <p:sp>
        <p:nvSpPr>
          <p:cNvPr name="Text 471" id="471"/>
          <p:cNvSpPr txBox="true"/>
          <p:nvPr/>
        </p:nvSpPr>
        <p:spPr>
          <a:xfrm>
            <a:off x="14150340" y="5507736"/>
            <a:ext cx="3566160" cy="22250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pod is transported by at most one robot</a:t>
            </a:r>
          </a:p>
        </p:txBody>
      </p:sp>
      <p:pic>
        <p:nvPicPr>
          <p:cNvPr id="472" name="Equation 47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150340" y="5830824"/>
            <a:ext cx="1490472" cy="393192"/>
          </a:xfrm>
          <a:prstGeom prst="rect">
            <a:avLst/>
          </a:prstGeom>
        </p:spPr>
      </p:pic>
      <p:sp>
        <p:nvSpPr>
          <p:cNvPr name="Text 473" id="473"/>
          <p:cNvSpPr txBox="true"/>
          <p:nvPr/>
        </p:nvSpPr>
        <p:spPr>
          <a:xfrm>
            <a:off x="13363956" y="5917692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(10)</a:t>
            </a:r>
          </a:p>
        </p:txBody>
      </p:sp>
      <p:sp>
        <p:nvSpPr>
          <p:cNvPr name="Text 474" id="474"/>
          <p:cNvSpPr txBox="true"/>
          <p:nvPr/>
        </p:nvSpPr>
        <p:spPr>
          <a:xfrm>
            <a:off x="14150340" y="6251448"/>
            <a:ext cx="3566160" cy="22250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robot transports at most one pod</a:t>
            </a:r>
          </a:p>
        </p:txBody>
      </p:sp>
      <p:pic>
        <p:nvPicPr>
          <p:cNvPr id="475" name="Equation 475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150340" y="6574536"/>
            <a:ext cx="1499616" cy="226314"/>
          </a:xfrm>
          <a:prstGeom prst="rect">
            <a:avLst/>
          </a:prstGeom>
        </p:spPr>
      </p:pic>
      <p:sp>
        <p:nvSpPr>
          <p:cNvPr name="Text 476" id="476"/>
          <p:cNvSpPr txBox="true"/>
          <p:nvPr/>
        </p:nvSpPr>
        <p:spPr>
          <a:xfrm>
            <a:off x="13363956" y="6577965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(11)</a:t>
            </a:r>
          </a:p>
        </p:txBody>
      </p:sp>
      <p:sp>
        <p:nvSpPr>
          <p:cNvPr name="Text 477" id="477"/>
          <p:cNvSpPr txBox="true"/>
          <p:nvPr/>
        </p:nvSpPr>
        <p:spPr>
          <a:xfrm>
            <a:off x="14150340" y="6839712"/>
            <a:ext cx="3566160" cy="4084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busy robot continues its current transport task</a:t>
            </a:r>
          </a:p>
        </p:txBody>
      </p:sp>
      <p:pic>
        <p:nvPicPr>
          <p:cNvPr id="478" name="Equation 47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150340" y="7348728"/>
            <a:ext cx="2857500" cy="226314"/>
          </a:xfrm>
          <a:prstGeom prst="rect">
            <a:avLst/>
          </a:prstGeom>
        </p:spPr>
      </p:pic>
      <p:sp>
        <p:nvSpPr>
          <p:cNvPr name="Text 479" id="479"/>
          <p:cNvSpPr txBox="true"/>
          <p:nvPr/>
        </p:nvSpPr>
        <p:spPr>
          <a:xfrm>
            <a:off x="13363956" y="7352157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(12)</a:t>
            </a:r>
          </a:p>
        </p:txBody>
      </p:sp>
      <p:sp>
        <p:nvSpPr>
          <p:cNvPr name="Text 480" id="480"/>
          <p:cNvSpPr txBox="true"/>
          <p:nvPr/>
        </p:nvSpPr>
        <p:spPr>
          <a:xfrm>
            <a:off x="14150340" y="7613904"/>
            <a:ext cx="3566160" cy="4084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supply requires the order assigned AND the pod assigned</a:t>
            </a:r>
          </a:p>
        </p:txBody>
      </p:sp>
      <p:pic>
        <p:nvPicPr>
          <p:cNvPr id="481" name="Equation 48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150340" y="8122920"/>
            <a:ext cx="2473452" cy="390906"/>
          </a:xfrm>
          <a:prstGeom prst="rect">
            <a:avLst/>
          </a:prstGeom>
        </p:spPr>
      </p:pic>
      <p:sp>
        <p:nvSpPr>
          <p:cNvPr name="Text 482" id="482"/>
          <p:cNvSpPr txBox="true"/>
          <p:nvPr/>
        </p:nvSpPr>
        <p:spPr>
          <a:xfrm>
            <a:off x="13363956" y="8208645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(13)</a:t>
            </a:r>
          </a:p>
        </p:txBody>
      </p:sp>
      <p:sp>
        <p:nvSpPr>
          <p:cNvPr name="Text 483" id="483"/>
          <p:cNvSpPr txBox="true"/>
          <p:nvPr/>
        </p:nvSpPr>
        <p:spPr>
          <a:xfrm>
            <a:off x="14150340" y="8541258"/>
            <a:ext cx="3566160" cy="4084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4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newly assigned pod must supply at least one assigned order</a:t>
            </a:r>
          </a:p>
        </p:txBody>
      </p:sp>
      <p:pic>
        <p:nvPicPr>
          <p:cNvPr id="484" name="Equation 48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737092" y="8851392"/>
            <a:ext cx="4053078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Exact Model: M4G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26 頁</a:t>
            </a:r>
          </a:p>
        </p:txBody>
      </p:sp>
      <p:sp>
        <p:nvSpPr>
          <p:cNvPr name="Shape 508" id="508"/>
          <p:cNvSpPr/>
          <p:nvPr/>
        </p:nvSpPr>
        <p:spPr>
          <a:xfrm>
            <a:off x="352044" y="1325880"/>
            <a:ext cx="740664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509" id="509"/>
          <p:cNvSpPr txBox="true"/>
          <p:nvPr/>
        </p:nvSpPr>
        <p:spPr>
          <a:xfrm>
            <a:off x="534924" y="1426464"/>
            <a:ext cx="70408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Decision Variables</a:t>
            </a:r>
          </a:p>
        </p:txBody>
      </p:sp>
      <p:sp>
        <p:nvSpPr>
          <p:cNvPr name="Shape 510" id="510"/>
          <p:cNvSpPr/>
          <p:nvPr/>
        </p:nvSpPr>
        <p:spPr>
          <a:xfrm>
            <a:off x="352044" y="1746504"/>
            <a:ext cx="7406640" cy="223113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11" name="Equation 5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92808"/>
            <a:ext cx="1005840" cy="258318"/>
          </a:xfrm>
          <a:prstGeom prst="rect">
            <a:avLst/>
          </a:prstGeom>
        </p:spPr>
      </p:pic>
      <p:sp>
        <p:nvSpPr>
          <p:cNvPr name="Text 512" id="512"/>
          <p:cNvSpPr txBox="true"/>
          <p:nvPr/>
        </p:nvSpPr>
        <p:spPr>
          <a:xfrm>
            <a:off x="3223260" y="1892808"/>
            <a:ext cx="4315968" cy="4724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80"/>
              </a:lnSpc>
              <a:buNone/>
            </a:pPr>
            <a:r>
              <a:rPr lang="en-US" sz="14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 xml:space="preserve">VALUATION draw: units of SKU i of order o from pod p at station s</a:t>
            </a:r>
          </a:p>
        </p:txBody>
      </p:sp>
      <p:pic>
        <p:nvPicPr>
          <p:cNvPr id="513" name="Equation 5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20112"/>
            <a:ext cx="1264158" cy="246888"/>
          </a:xfrm>
          <a:prstGeom prst="rect">
            <a:avLst/>
          </a:prstGeom>
        </p:spPr>
      </p:pic>
      <p:sp>
        <p:nvSpPr>
          <p:cNvPr name="Text 514" id="514"/>
          <p:cNvSpPr txBox="true"/>
          <p:nvPr/>
        </p:nvSpPr>
        <p:spPr>
          <a:xfrm>
            <a:off x="3223260" y="2436876"/>
            <a:ext cx="4315968" cy="2590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80"/>
              </a:lnSpc>
              <a:buNone/>
            </a:pPr>
            <a:r>
              <a:rPr lang="en-US" sz="14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 xml:space="preserve">valued line closure and valued order completion</a:t>
            </a:r>
          </a:p>
        </p:txBody>
      </p:sp>
      <p:pic>
        <p:nvPicPr>
          <p:cNvPr id="515" name="Equation 5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67584"/>
            <a:ext cx="1003554" cy="246888"/>
          </a:xfrm>
          <a:prstGeom prst="rect">
            <a:avLst/>
          </a:prstGeom>
        </p:spPr>
      </p:pic>
      <p:sp>
        <p:nvSpPr>
          <p:cNvPr name="Text 516" id="516"/>
          <p:cNvSpPr txBox="true"/>
          <p:nvPr/>
        </p:nvSpPr>
        <p:spPr>
          <a:xfrm>
            <a:off x="3223260" y="2784348"/>
            <a:ext cx="4315968" cy="2590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80"/>
              </a:lnSpc>
              <a:buNone/>
            </a:pPr>
            <a:r>
              <a:rPr lang="en-US" sz="1400">
                <a:solidFill>
                  <a:srgbClr val="3B6135"/>
                </a:solidFill>
                <a:latin typeface="Times New Roman"/>
                <a:ea typeface="Times New Roman"/>
                <a:cs typeface="Times New Roman"/>
              </a:rPr>
              <a:t xml:space="preserve">BINDING draw — what is actually executed</a:t>
            </a:r>
          </a:p>
        </p:txBody>
      </p:sp>
      <p:pic>
        <p:nvPicPr>
          <p:cNvPr id="517" name="Equation 5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15056"/>
            <a:ext cx="1632204" cy="246888"/>
          </a:xfrm>
          <a:prstGeom prst="rect">
            <a:avLst/>
          </a:prstGeom>
        </p:spPr>
      </p:pic>
      <p:sp>
        <p:nvSpPr>
          <p:cNvPr name="Text 518" id="518"/>
          <p:cNvSpPr txBox="true"/>
          <p:nvPr/>
        </p:nvSpPr>
        <p:spPr>
          <a:xfrm>
            <a:off x="3223260" y="3115056"/>
            <a:ext cx="4315968" cy="4724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80"/>
              </a:lnSpc>
              <a:buNone/>
            </a:pPr>
            <a:r>
              <a:rPr lang="en-US" sz="1400">
                <a:solidFill>
                  <a:srgbClr val="3B6135"/>
                </a:solidFill>
                <a:latin typeface="Times New Roman"/>
                <a:ea typeface="Times New Roman"/>
                <a:cs typeface="Times New Roman"/>
              </a:rPr>
              <a:t xml:space="preserve">slot occupancy, bound line closure, bound completion</a:t>
            </a:r>
          </a:p>
        </p:txBody>
      </p:sp>
      <p:pic>
        <p:nvPicPr>
          <p:cNvPr id="519" name="Equation 5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42360"/>
            <a:ext cx="1353312" cy="246888"/>
          </a:xfrm>
          <a:prstGeom prst="rect">
            <a:avLst/>
          </a:prstGeom>
        </p:spPr>
      </p:pic>
      <p:sp>
        <p:nvSpPr>
          <p:cNvPr name="Text 520" id="520"/>
          <p:cNvSpPr txBox="true"/>
          <p:nvPr/>
        </p:nvSpPr>
        <p:spPr>
          <a:xfrm>
            <a:off x="3223260" y="3659124"/>
            <a:ext cx="4315968" cy="2590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80"/>
              </a:lnSpc>
              <a:buNone/>
            </a:pPr>
            <a:r>
              <a:rPr lang="en-US" sz="14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pod and robot assignment — unchanged from M1G</a:t>
            </a:r>
          </a:p>
        </p:txBody>
      </p:sp>
      <p:sp>
        <p:nvSpPr>
          <p:cNvPr name="Shape 521" id="521"/>
          <p:cNvSpPr/>
          <p:nvPr/>
        </p:nvSpPr>
        <p:spPr>
          <a:xfrm>
            <a:off x="352044" y="4142232"/>
            <a:ext cx="7406640" cy="420624"/>
          </a:xfrm>
          <a:prstGeom prst="rect">
            <a:avLst/>
          </a:prstGeom>
          <a:solidFill>
            <a:srgbClr val="3B61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522" id="522"/>
          <p:cNvSpPr txBox="true"/>
          <p:nvPr/>
        </p:nvSpPr>
        <p:spPr>
          <a:xfrm>
            <a:off x="534924" y="4242816"/>
            <a:ext cx="704088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Objective  ·  T1–T6</a:t>
            </a:r>
          </a:p>
        </p:txBody>
      </p:sp>
      <p:sp>
        <p:nvSpPr>
          <p:cNvPr name="Shape 523" id="523"/>
          <p:cNvSpPr/>
          <p:nvPr/>
        </p:nvSpPr>
        <p:spPr>
          <a:xfrm>
            <a:off x="352044" y="4562856"/>
            <a:ext cx="7406640" cy="4672584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24" name="Equation 5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09160"/>
            <a:ext cx="3536442" cy="299466"/>
          </a:xfrm>
          <a:prstGeom prst="rect">
            <a:avLst/>
          </a:prstGeom>
        </p:spPr>
      </p:pic>
      <p:pic>
        <p:nvPicPr>
          <p:cNvPr id="525" name="Equation 5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1036" y="5154930"/>
            <a:ext cx="1956816" cy="370332"/>
          </a:xfrm>
          <a:prstGeom prst="rect">
            <a:avLst/>
          </a:prstGeom>
        </p:spPr>
      </p:pic>
      <p:sp>
        <p:nvSpPr>
          <p:cNvPr name="Text 526" id="526"/>
          <p:cNvSpPr txBox="true"/>
          <p:nvPr/>
        </p:nvSpPr>
        <p:spPr>
          <a:xfrm>
            <a:off x="571500" y="5248656"/>
            <a:ext cx="8229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0"/>
              </a:lnSpc>
              <a:buNone/>
            </a:pPr>
            <a:r>
              <a:rPr lang="en-US" sz="125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T1, T2</a:t>
            </a:r>
          </a:p>
        </p:txBody>
      </p:sp>
      <p:sp>
        <p:nvSpPr>
          <p:cNvPr name="Text 527" id="527"/>
          <p:cNvSpPr txBox="true"/>
          <p:nvPr/>
        </p:nvSpPr>
        <p:spPr>
          <a:xfrm>
            <a:off x="1431036" y="5543550"/>
            <a:ext cx="6108192" cy="23241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7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travel: only newly dispatched pods pay; committed pods are sunk</a:t>
            </a:r>
          </a:p>
        </p:txBody>
      </p:sp>
      <p:pic>
        <p:nvPicPr>
          <p:cNvPr id="528" name="Equation 5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1036" y="5821680"/>
            <a:ext cx="1764792" cy="363474"/>
          </a:xfrm>
          <a:prstGeom prst="rect">
            <a:avLst/>
          </a:prstGeom>
        </p:spPr>
      </p:pic>
      <p:sp>
        <p:nvSpPr>
          <p:cNvPr name="Text 529" id="529"/>
          <p:cNvSpPr txBox="true"/>
          <p:nvPr/>
        </p:nvSpPr>
        <p:spPr>
          <a:xfrm>
            <a:off x="571500" y="5911977"/>
            <a:ext cx="8229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0"/>
              </a:lnSpc>
              <a:buNone/>
            </a:pPr>
            <a:r>
              <a:rPr lang="en-US" sz="125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T3</a:t>
            </a:r>
          </a:p>
        </p:txBody>
      </p:sp>
      <p:sp>
        <p:nvSpPr>
          <p:cNvPr name="Text 530" id="530"/>
          <p:cNvSpPr txBox="true"/>
          <p:nvPr/>
        </p:nvSpPr>
        <p:spPr>
          <a:xfrm>
            <a:off x="1431036" y="6203442"/>
            <a:ext cx="6108192" cy="23241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7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line closure, split across the binding and valuation layers by delta</a:t>
            </a:r>
          </a:p>
        </p:txBody>
      </p:sp>
      <p:pic>
        <p:nvPicPr>
          <p:cNvPr id="531" name="Equation 5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1036" y="6481572"/>
            <a:ext cx="1689354" cy="320040"/>
          </a:xfrm>
          <a:prstGeom prst="rect">
            <a:avLst/>
          </a:prstGeom>
        </p:spPr>
      </p:pic>
      <p:sp>
        <p:nvSpPr>
          <p:cNvPr name="Text 532" id="532"/>
          <p:cNvSpPr txBox="true"/>
          <p:nvPr/>
        </p:nvSpPr>
        <p:spPr>
          <a:xfrm>
            <a:off x="571500" y="6550152"/>
            <a:ext cx="8229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0"/>
              </a:lnSpc>
              <a:buNone/>
            </a:pPr>
            <a:r>
              <a:rPr lang="en-US" sz="125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T4</a:t>
            </a:r>
          </a:p>
        </p:txBody>
      </p:sp>
      <p:sp>
        <p:nvSpPr>
          <p:cNvPr name="Text 533" id="533"/>
          <p:cNvSpPr txBox="true"/>
          <p:nvPr/>
        </p:nvSpPr>
        <p:spPr>
          <a:xfrm>
            <a:off x="1431036" y="6819900"/>
            <a:ext cx="6108192" cy="23241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7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order completion, same split</a:t>
            </a:r>
          </a:p>
        </p:txBody>
      </p:sp>
      <p:pic>
        <p:nvPicPr>
          <p:cNvPr id="534" name="Equation 5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1036" y="7098030"/>
            <a:ext cx="889254" cy="370332"/>
          </a:xfrm>
          <a:prstGeom prst="rect">
            <a:avLst/>
          </a:prstGeom>
        </p:spPr>
      </p:pic>
      <p:sp>
        <p:nvSpPr>
          <p:cNvPr name="Text 535" id="535"/>
          <p:cNvSpPr txBox="true"/>
          <p:nvPr/>
        </p:nvSpPr>
        <p:spPr>
          <a:xfrm>
            <a:off x="571500" y="7191756"/>
            <a:ext cx="8229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0"/>
              </a:lnSpc>
              <a:buNone/>
            </a:pPr>
            <a:r>
              <a:rPr lang="en-US" sz="125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T5</a:t>
            </a:r>
          </a:p>
        </p:txBody>
      </p:sp>
      <p:sp>
        <p:nvSpPr>
          <p:cNvPr name="Text 536" id="536"/>
          <p:cNvSpPr txBox="true"/>
          <p:nvPr/>
        </p:nvSpPr>
        <p:spPr>
          <a:xfrm>
            <a:off x="1431036" y="7486650"/>
            <a:ext cx="6108192" cy="23241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7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immediacy: among equally valued solutions, prefer executing now</a:t>
            </a:r>
          </a:p>
        </p:txBody>
      </p:sp>
      <p:pic>
        <p:nvPicPr>
          <p:cNvPr id="537" name="Equation 5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31036" y="7764780"/>
            <a:ext cx="1632204" cy="381762"/>
          </a:xfrm>
          <a:prstGeom prst="rect">
            <a:avLst/>
          </a:prstGeom>
        </p:spPr>
      </p:pic>
      <p:sp>
        <p:nvSpPr>
          <p:cNvPr name="Text 538" id="538"/>
          <p:cNvSpPr txBox="true"/>
          <p:nvPr/>
        </p:nvSpPr>
        <p:spPr>
          <a:xfrm>
            <a:off x="571500" y="7864221"/>
            <a:ext cx="82296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60"/>
              </a:lnSpc>
              <a:buNone/>
            </a:pPr>
            <a:r>
              <a:rPr lang="en-US" sz="125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T6</a:t>
            </a:r>
          </a:p>
        </p:txBody>
      </p:sp>
      <p:sp>
        <p:nvSpPr>
          <p:cNvPr name="Text 539" id="539"/>
          <p:cNvSpPr txBox="true"/>
          <p:nvPr/>
        </p:nvSpPr>
        <p:spPr>
          <a:xfrm>
            <a:off x="1431036" y="8164830"/>
            <a:ext cx="6108192" cy="23241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470"/>
              </a:lnSpc>
              <a:buNone/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pod tier, binding layer only — no counterpart under an order atom</a:t>
            </a:r>
          </a:p>
        </p:txBody>
      </p:sp>
      <p:sp>
        <p:nvSpPr>
          <p:cNvPr name="Text 540" id="540"/>
          <p:cNvSpPr txBox="true"/>
          <p:nvPr/>
        </p:nvSpPr>
        <p:spPr>
          <a:xfrm>
            <a:off x="571500" y="8497824"/>
            <a:ext cx="6967728" cy="46126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00"/>
              </a:lnSpc>
              <a:buNone/>
            </a:pPr>
            <a:r>
              <a:rPr lang="en-US" sz="13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Linearised by Dinkelbach. All prices are in metres, read off the run in progress: mu = distance per completed order, delta = bound over valued completions.</a:t>
            </a:r>
          </a:p>
        </p:txBody>
      </p:sp>
      <p:sp>
        <p:nvSpPr>
          <p:cNvPr name="Shape 541" id="541"/>
          <p:cNvSpPr/>
          <p:nvPr/>
        </p:nvSpPr>
        <p:spPr>
          <a:xfrm>
            <a:off x="8124444" y="1325880"/>
            <a:ext cx="9811512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542" id="542"/>
          <p:cNvSpPr txBox="true"/>
          <p:nvPr/>
        </p:nvSpPr>
        <p:spPr>
          <a:xfrm>
            <a:off x="8307324" y="1426464"/>
            <a:ext cx="9445752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Constraints  ·  Resource, Valuation, Binding</a:t>
            </a:r>
          </a:p>
        </p:txBody>
      </p:sp>
      <p:sp>
        <p:nvSpPr>
          <p:cNvPr name="Shape 543" id="543"/>
          <p:cNvSpPr/>
          <p:nvPr/>
        </p:nvSpPr>
        <p:spPr>
          <a:xfrm>
            <a:off x="8124444" y="1746504"/>
            <a:ext cx="9811512" cy="748893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44" name="Equation 5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30284" y="1892808"/>
            <a:ext cx="1019556" cy="336042"/>
          </a:xfrm>
          <a:prstGeom prst="rect">
            <a:avLst/>
          </a:prstGeom>
        </p:spPr>
      </p:pic>
      <p:sp>
        <p:nvSpPr>
          <p:cNvPr name="Text 545" id="545"/>
          <p:cNvSpPr txBox="true"/>
          <p:nvPr/>
        </p:nvSpPr>
        <p:spPr>
          <a:xfrm>
            <a:off x="8343900" y="1951101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R1</a:t>
            </a:r>
          </a:p>
        </p:txBody>
      </p:sp>
      <p:sp>
        <p:nvSpPr>
          <p:cNvPr name="Text 546" id="546"/>
          <p:cNvSpPr txBox="true"/>
          <p:nvPr/>
        </p:nvSpPr>
        <p:spPr>
          <a:xfrm>
            <a:off x="9130284" y="2256282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pod goes to one station</a:t>
            </a:r>
          </a:p>
        </p:txBody>
      </p:sp>
      <p:pic>
        <p:nvPicPr>
          <p:cNvPr id="547" name="Equation 5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30284" y="2631440"/>
            <a:ext cx="1289304" cy="336042"/>
          </a:xfrm>
          <a:prstGeom prst="rect">
            <a:avLst/>
          </a:prstGeom>
        </p:spPr>
      </p:pic>
      <p:sp>
        <p:nvSpPr>
          <p:cNvPr name="Text 548" id="548"/>
          <p:cNvSpPr txBox="true"/>
          <p:nvPr/>
        </p:nvSpPr>
        <p:spPr>
          <a:xfrm>
            <a:off x="8343900" y="2689733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R2</a:t>
            </a:r>
          </a:p>
        </p:txBody>
      </p:sp>
      <p:sp>
        <p:nvSpPr>
          <p:cNvPr name="Text 549" id="549"/>
          <p:cNvSpPr txBox="true"/>
          <p:nvPr/>
        </p:nvSpPr>
        <p:spPr>
          <a:xfrm>
            <a:off x="9130284" y="2994914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dispatching a pod requires a robot</a:t>
            </a:r>
          </a:p>
        </p:txBody>
      </p:sp>
      <p:pic>
        <p:nvPicPr>
          <p:cNvPr id="550" name="Equation 5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30284" y="3370072"/>
            <a:ext cx="1008126" cy="363474"/>
          </a:xfrm>
          <a:prstGeom prst="rect">
            <a:avLst/>
          </a:prstGeom>
        </p:spPr>
      </p:pic>
      <p:sp>
        <p:nvSpPr>
          <p:cNvPr name="Text 551" id="551"/>
          <p:cNvSpPr txBox="true"/>
          <p:nvPr/>
        </p:nvSpPr>
        <p:spPr>
          <a:xfrm>
            <a:off x="8343900" y="3442081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R3</a:t>
            </a:r>
          </a:p>
        </p:txBody>
      </p:sp>
      <p:sp>
        <p:nvSpPr>
          <p:cNvPr name="Text 552" id="552"/>
          <p:cNvSpPr txBox="true"/>
          <p:nvPr/>
        </p:nvSpPr>
        <p:spPr>
          <a:xfrm>
            <a:off x="9130284" y="3760978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one pod per robot</a:t>
            </a:r>
          </a:p>
        </p:txBody>
      </p:sp>
      <p:pic>
        <p:nvPicPr>
          <p:cNvPr id="553" name="Equation 55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30284" y="4136136"/>
            <a:ext cx="1019556" cy="336042"/>
          </a:xfrm>
          <a:prstGeom prst="rect">
            <a:avLst/>
          </a:prstGeom>
        </p:spPr>
      </p:pic>
      <p:sp>
        <p:nvSpPr>
          <p:cNvPr name="Text 554" id="554"/>
          <p:cNvSpPr txBox="true"/>
          <p:nvPr/>
        </p:nvSpPr>
        <p:spPr>
          <a:xfrm>
            <a:off x="8343900" y="4194429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R4</a:t>
            </a:r>
          </a:p>
        </p:txBody>
      </p:sp>
      <p:sp>
        <p:nvSpPr>
          <p:cNvPr name="Text 555" id="555"/>
          <p:cNvSpPr txBox="true"/>
          <p:nvPr/>
        </p:nvSpPr>
        <p:spPr>
          <a:xfrm>
            <a:off x="9130284" y="4499610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one robot per pod</a:t>
            </a:r>
          </a:p>
        </p:txBody>
      </p:sp>
      <p:pic>
        <p:nvPicPr>
          <p:cNvPr id="556" name="Equation 5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30284" y="4874768"/>
            <a:ext cx="1888236" cy="226314"/>
          </a:xfrm>
          <a:prstGeom prst="rect">
            <a:avLst/>
          </a:prstGeom>
        </p:spPr>
      </p:pic>
      <p:sp>
        <p:nvSpPr>
          <p:cNvPr name="Text 557" id="557"/>
          <p:cNvSpPr txBox="true"/>
          <p:nvPr/>
        </p:nvSpPr>
        <p:spPr>
          <a:xfrm>
            <a:off x="8343900" y="4878197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R5</a:t>
            </a:r>
          </a:p>
        </p:txBody>
      </p:sp>
      <p:sp>
        <p:nvSpPr>
          <p:cNvPr name="Text 558" id="558"/>
          <p:cNvSpPr txBox="true"/>
          <p:nvPr/>
        </p:nvSpPr>
        <p:spPr>
          <a:xfrm>
            <a:off x="9130284" y="5139944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inherit committed pods and robots</a:t>
            </a:r>
          </a:p>
        </p:txBody>
      </p:sp>
      <p:pic>
        <p:nvPicPr>
          <p:cNvPr id="559" name="Equation 55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30284" y="5515102"/>
            <a:ext cx="1753362" cy="336042"/>
          </a:xfrm>
          <a:prstGeom prst="rect">
            <a:avLst/>
          </a:prstGeom>
        </p:spPr>
      </p:pic>
      <p:sp>
        <p:nvSpPr>
          <p:cNvPr name="Text 560" id="560"/>
          <p:cNvSpPr txBox="true"/>
          <p:nvPr/>
        </p:nvSpPr>
        <p:spPr>
          <a:xfrm>
            <a:off x="8343900" y="5573395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V1</a:t>
            </a:r>
          </a:p>
        </p:txBody>
      </p:sp>
      <p:sp>
        <p:nvSpPr>
          <p:cNvPr name="Text 561" id="561"/>
          <p:cNvSpPr txBox="true"/>
          <p:nvPr/>
        </p:nvSpPr>
        <p:spPr>
          <a:xfrm>
            <a:off x="9130284" y="5878576"/>
            <a:ext cx="3762756" cy="4394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draw needs stock on that pod and that pod dispatched</a:t>
            </a:r>
          </a:p>
        </p:txBody>
      </p:sp>
      <p:pic>
        <p:nvPicPr>
          <p:cNvPr id="562" name="Equation 56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0284" y="6455156"/>
            <a:ext cx="1410462" cy="363474"/>
          </a:xfrm>
          <a:prstGeom prst="rect">
            <a:avLst/>
          </a:prstGeom>
        </p:spPr>
      </p:pic>
      <p:sp>
        <p:nvSpPr>
          <p:cNvPr name="Text 563" id="563"/>
          <p:cNvSpPr txBox="true"/>
          <p:nvPr/>
        </p:nvSpPr>
        <p:spPr>
          <a:xfrm>
            <a:off x="8343900" y="6527165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V2</a:t>
            </a:r>
          </a:p>
        </p:txBody>
      </p:sp>
      <p:sp>
        <p:nvSpPr>
          <p:cNvPr name="Text 564" id="564"/>
          <p:cNvSpPr txBox="true"/>
          <p:nvPr/>
        </p:nvSpPr>
        <p:spPr>
          <a:xfrm>
            <a:off x="9130284" y="6846062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never draw more than the residual demand</a:t>
            </a:r>
          </a:p>
        </p:txBody>
      </p:sp>
      <p:pic>
        <p:nvPicPr>
          <p:cNvPr id="565" name="Equation 56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30284" y="7221220"/>
            <a:ext cx="2526030" cy="393192"/>
          </a:xfrm>
          <a:prstGeom prst="rect">
            <a:avLst/>
          </a:prstGeom>
        </p:spPr>
      </p:pic>
      <p:sp>
        <p:nvSpPr>
          <p:cNvPr name="Text 566" id="566"/>
          <p:cNvSpPr txBox="true"/>
          <p:nvPr/>
        </p:nvSpPr>
        <p:spPr>
          <a:xfrm>
            <a:off x="8343900" y="7308088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V2a</a:t>
            </a:r>
          </a:p>
        </p:txBody>
      </p:sp>
      <p:sp>
        <p:nvSpPr>
          <p:cNvPr name="Text 567" id="567"/>
          <p:cNvSpPr txBox="true"/>
          <p:nvPr/>
        </p:nvSpPr>
        <p:spPr>
          <a:xfrm>
            <a:off x="9130284" y="7641844"/>
            <a:ext cx="3762756" cy="4394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new pods are valued only against demand inbound supply cannot cover</a:t>
            </a:r>
          </a:p>
        </p:txBody>
      </p:sp>
      <p:pic>
        <p:nvPicPr>
          <p:cNvPr id="568" name="Equation 56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30284" y="8218424"/>
            <a:ext cx="1632204" cy="363474"/>
          </a:xfrm>
          <a:prstGeom prst="rect">
            <a:avLst/>
          </a:prstGeom>
        </p:spPr>
      </p:pic>
      <p:sp>
        <p:nvSpPr>
          <p:cNvPr name="Text 569" id="569"/>
          <p:cNvSpPr txBox="true"/>
          <p:nvPr/>
        </p:nvSpPr>
        <p:spPr>
          <a:xfrm>
            <a:off x="8343900" y="8290433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V3</a:t>
            </a:r>
          </a:p>
        </p:txBody>
      </p:sp>
      <p:sp>
        <p:nvSpPr>
          <p:cNvPr name="Text 570" id="570"/>
          <p:cNvSpPr txBox="true"/>
          <p:nvPr/>
        </p:nvSpPr>
        <p:spPr>
          <a:xfrm>
            <a:off x="9130284" y="8609330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line counts as closed only when drawn in full</a:t>
            </a:r>
          </a:p>
        </p:txBody>
      </p:sp>
      <p:pic>
        <p:nvPicPr>
          <p:cNvPr id="571" name="Equation 57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53744" y="1892808"/>
            <a:ext cx="1042416" cy="221742"/>
          </a:xfrm>
          <a:prstGeom prst="rect">
            <a:avLst/>
          </a:prstGeom>
        </p:spPr>
      </p:pic>
      <p:sp>
        <p:nvSpPr>
          <p:cNvPr name="Text 572" id="572"/>
          <p:cNvSpPr txBox="true"/>
          <p:nvPr/>
        </p:nvSpPr>
        <p:spPr>
          <a:xfrm>
            <a:off x="13167360" y="1893951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V4</a:t>
            </a:r>
          </a:p>
        </p:txBody>
      </p:sp>
      <p:sp>
        <p:nvSpPr>
          <p:cNvPr name="Text 573" id="573"/>
          <p:cNvSpPr txBox="true"/>
          <p:nvPr/>
        </p:nvSpPr>
        <p:spPr>
          <a:xfrm>
            <a:off x="13953744" y="2157984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completing an order requires every line closed</a:t>
            </a:r>
          </a:p>
        </p:txBody>
      </p:sp>
      <p:pic>
        <p:nvPicPr>
          <p:cNvPr id="574" name="Equation 57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953744" y="2533142"/>
            <a:ext cx="1362456" cy="221742"/>
          </a:xfrm>
          <a:prstGeom prst="rect">
            <a:avLst/>
          </a:prstGeom>
        </p:spPr>
      </p:pic>
      <p:sp>
        <p:nvSpPr>
          <p:cNvPr name="Text 575" id="575"/>
          <p:cNvSpPr txBox="true"/>
          <p:nvPr/>
        </p:nvSpPr>
        <p:spPr>
          <a:xfrm>
            <a:off x="13167360" y="2534285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V4g</a:t>
            </a:r>
          </a:p>
        </p:txBody>
      </p:sp>
      <p:sp>
        <p:nvSpPr>
          <p:cNvPr name="Text 576" id="576"/>
          <p:cNvSpPr txBox="true"/>
          <p:nvPr/>
        </p:nvSpPr>
        <p:spPr>
          <a:xfrm>
            <a:off x="13953744" y="2798318"/>
            <a:ext cx="3762756" cy="4394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an order no pod can cover cannot collect the completion reward</a:t>
            </a:r>
          </a:p>
        </p:txBody>
      </p:sp>
      <p:pic>
        <p:nvPicPr>
          <p:cNvPr id="577" name="Equation 57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953744" y="3374898"/>
            <a:ext cx="1666494" cy="237744"/>
          </a:xfrm>
          <a:prstGeom prst="rect">
            <a:avLst/>
          </a:prstGeom>
        </p:spPr>
      </p:pic>
      <p:sp>
        <p:nvSpPr>
          <p:cNvPr name="Text 578" id="578"/>
          <p:cNvSpPr txBox="true"/>
          <p:nvPr/>
        </p:nvSpPr>
        <p:spPr>
          <a:xfrm>
            <a:off x="13167360" y="3384042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B1</a:t>
            </a:r>
          </a:p>
        </p:txBody>
      </p:sp>
      <p:sp>
        <p:nvSpPr>
          <p:cNvPr name="Text 579" id="579"/>
          <p:cNvSpPr txBox="true"/>
          <p:nvPr/>
        </p:nvSpPr>
        <p:spPr>
          <a:xfrm>
            <a:off x="13953744" y="3640074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binding is a subset of valuation, per unit</a:t>
            </a:r>
          </a:p>
        </p:txBody>
      </p:sp>
      <p:pic>
        <p:nvPicPr>
          <p:cNvPr id="580" name="Equation 58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953744" y="4015232"/>
            <a:ext cx="1641348" cy="393192"/>
          </a:xfrm>
          <a:prstGeom prst="rect">
            <a:avLst/>
          </a:prstGeom>
        </p:spPr>
      </p:pic>
      <p:sp>
        <p:nvSpPr>
          <p:cNvPr name="Text 581" id="581"/>
          <p:cNvSpPr txBox="true"/>
          <p:nvPr/>
        </p:nvSpPr>
        <p:spPr>
          <a:xfrm>
            <a:off x="13167360" y="4102100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B2</a:t>
            </a:r>
          </a:p>
        </p:txBody>
      </p:sp>
      <p:sp>
        <p:nvSpPr>
          <p:cNvPr name="Text 582" id="582"/>
          <p:cNvSpPr txBox="true"/>
          <p:nvPr/>
        </p:nvSpPr>
        <p:spPr>
          <a:xfrm>
            <a:off x="13953744" y="4435856"/>
            <a:ext cx="3762756" cy="4394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drawing for an order at a station occupies one of its slots</a:t>
            </a:r>
          </a:p>
        </p:txBody>
      </p:sp>
      <p:pic>
        <p:nvPicPr>
          <p:cNvPr id="583" name="Equation 58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953744" y="5012436"/>
            <a:ext cx="1090422" cy="336042"/>
          </a:xfrm>
          <a:prstGeom prst="rect">
            <a:avLst/>
          </a:prstGeom>
        </p:spPr>
      </p:pic>
      <p:sp>
        <p:nvSpPr>
          <p:cNvPr name="Text 584" id="584"/>
          <p:cNvSpPr txBox="true"/>
          <p:nvPr/>
        </p:nvSpPr>
        <p:spPr>
          <a:xfrm>
            <a:off x="13167360" y="5070729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B3</a:t>
            </a:r>
          </a:p>
        </p:txBody>
      </p:sp>
      <p:sp>
        <p:nvSpPr>
          <p:cNvPr name="Text 585" id="585"/>
          <p:cNvSpPr txBox="true"/>
          <p:nvPr/>
        </p:nvSpPr>
        <p:spPr>
          <a:xfrm>
            <a:off x="13953744" y="5375910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slot capacity — an INEQUALITY, unlike shi4</a:t>
            </a:r>
          </a:p>
        </p:txBody>
      </p:sp>
      <p:pic>
        <p:nvPicPr>
          <p:cNvPr id="586" name="Equation 58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953744" y="5751068"/>
            <a:ext cx="1410462" cy="393192"/>
          </a:xfrm>
          <a:prstGeom prst="rect">
            <a:avLst/>
          </a:prstGeom>
        </p:spPr>
      </p:pic>
      <p:sp>
        <p:nvSpPr>
          <p:cNvPr name="Text 587" id="587"/>
          <p:cNvSpPr txBox="true"/>
          <p:nvPr/>
        </p:nvSpPr>
        <p:spPr>
          <a:xfrm>
            <a:off x="13167360" y="5837936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B4</a:t>
            </a:r>
          </a:p>
        </p:txBody>
      </p:sp>
      <p:sp>
        <p:nvSpPr>
          <p:cNvPr name="Text 588" id="588"/>
          <p:cNvSpPr txBox="true"/>
          <p:nvPr/>
        </p:nvSpPr>
        <p:spPr>
          <a:xfrm>
            <a:off x="13953744" y="6171692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no slot may be taken without a draw</a:t>
            </a:r>
          </a:p>
        </p:txBody>
      </p:sp>
      <p:pic>
        <p:nvPicPr>
          <p:cNvPr id="589" name="Equation 58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953744" y="6546850"/>
            <a:ext cx="1627632" cy="363474"/>
          </a:xfrm>
          <a:prstGeom prst="rect">
            <a:avLst/>
          </a:prstGeom>
        </p:spPr>
      </p:pic>
      <p:sp>
        <p:nvSpPr>
          <p:cNvPr name="Text 590" id="590"/>
          <p:cNvSpPr txBox="true"/>
          <p:nvPr/>
        </p:nvSpPr>
        <p:spPr>
          <a:xfrm>
            <a:off x="13167360" y="6618859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B5</a:t>
            </a:r>
          </a:p>
        </p:txBody>
      </p:sp>
      <p:sp>
        <p:nvSpPr>
          <p:cNvPr name="Text 591" id="591"/>
          <p:cNvSpPr txBox="true"/>
          <p:nvPr/>
        </p:nvSpPr>
        <p:spPr>
          <a:xfrm>
            <a:off x="13953744" y="6937756"/>
            <a:ext cx="3762756" cy="23799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bound closure needs the full residual bound</a:t>
            </a:r>
          </a:p>
        </p:txBody>
      </p:sp>
      <p:pic>
        <p:nvPicPr>
          <p:cNvPr id="592" name="Equation 59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953744" y="7312914"/>
            <a:ext cx="1248156" cy="221742"/>
          </a:xfrm>
          <a:prstGeom prst="rect">
            <a:avLst/>
          </a:prstGeom>
        </p:spPr>
      </p:pic>
      <p:sp>
        <p:nvSpPr>
          <p:cNvPr name="Text 593" id="593"/>
          <p:cNvSpPr txBox="true"/>
          <p:nvPr/>
        </p:nvSpPr>
        <p:spPr>
          <a:xfrm>
            <a:off x="13167360" y="7314057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B6</a:t>
            </a:r>
          </a:p>
        </p:txBody>
      </p:sp>
      <p:sp>
        <p:nvSpPr>
          <p:cNvPr name="Text 594" id="594"/>
          <p:cNvSpPr txBox="true"/>
          <p:nvPr/>
        </p:nvSpPr>
        <p:spPr>
          <a:xfrm>
            <a:off x="13953744" y="7578090"/>
            <a:ext cx="3762756" cy="4394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bound closures and completions are subsets of valued ones</a:t>
            </a:r>
          </a:p>
        </p:txBody>
      </p:sp>
      <p:pic>
        <p:nvPicPr>
          <p:cNvPr id="595" name="Equation 595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953744" y="8154670"/>
            <a:ext cx="1037844" cy="221742"/>
          </a:xfrm>
          <a:prstGeom prst="rect">
            <a:avLst/>
          </a:prstGeom>
        </p:spPr>
      </p:pic>
      <p:sp>
        <p:nvSpPr>
          <p:cNvPr name="Text 596" id="596"/>
          <p:cNvSpPr txBox="true"/>
          <p:nvPr/>
        </p:nvSpPr>
        <p:spPr>
          <a:xfrm>
            <a:off x="13167360" y="8155813"/>
            <a:ext cx="731520" cy="2377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20"/>
              </a:lnSpc>
              <a:buNone/>
            </a:pPr>
            <a:r>
              <a:rPr lang="en-US" sz="13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B7</a:t>
            </a:r>
          </a:p>
        </p:txBody>
      </p:sp>
      <p:sp>
        <p:nvSpPr>
          <p:cNvPr name="Text 597" id="597"/>
          <p:cNvSpPr txBox="true"/>
          <p:nvPr/>
        </p:nvSpPr>
        <p:spPr>
          <a:xfrm>
            <a:off x="13953744" y="8419846"/>
            <a:ext cx="3762756" cy="43942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6"/>
              </a:lnSpc>
              <a:buNone/>
            </a:pPr>
            <a:r>
              <a:rPr lang="en-US" sz="13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a bound completion needs every line bound-closed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Heuristic: M5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27 頁</a:t>
            </a:r>
          </a:p>
        </p:txBody>
      </p:sp>
      <p:sp>
        <p:nvSpPr>
          <p:cNvPr name="Shape 598" id="598"/>
          <p:cNvSpPr/>
          <p:nvPr/>
        </p:nvSpPr>
        <p:spPr>
          <a:xfrm>
            <a:off x="352044" y="1325880"/>
            <a:ext cx="9418320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599" id="599"/>
          <p:cNvSpPr txBox="true"/>
          <p:nvPr/>
        </p:nvSpPr>
        <p:spPr>
          <a:xfrm>
            <a:off x="534924" y="1426464"/>
            <a:ext cx="9052560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Marginal-Line Greedy</a:t>
            </a:r>
          </a:p>
        </p:txBody>
      </p:sp>
      <p:sp>
        <p:nvSpPr>
          <p:cNvPr name="Shape 600" id="600"/>
          <p:cNvSpPr/>
          <p:nvPr/>
        </p:nvSpPr>
        <p:spPr>
          <a:xfrm>
            <a:off x="352044" y="1746504"/>
            <a:ext cx="9418320" cy="748893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1" id="601"/>
          <p:cNvSpPr txBox="true"/>
          <p:nvPr/>
        </p:nvSpPr>
        <p:spPr>
          <a:xfrm>
            <a:off x="571500" y="1892808"/>
            <a:ext cx="8979408" cy="69494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80"/>
              </a:lnSpc>
              <a:buNone/>
            </a:pPr>
            <a:r>
              <a:rPr lang="en-US" sz="16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M4G solves a MILP every time a slot frees. M5 solves the same model greedily: it repeatedly asks what the single best marginal move is, and takes it.</a:t>
            </a:r>
          </a:p>
        </p:txBody>
      </p:sp>
      <p:sp>
        <p:nvSpPr>
          <p:cNvPr name="Text 602" id="602"/>
          <p:cNvSpPr txBox="true"/>
          <p:nvPr/>
        </p:nvSpPr>
        <p:spPr>
          <a:xfrm>
            <a:off x="571500" y="2770632"/>
            <a:ext cx="8979408" cy="56692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80"/>
              </a:lnSpc>
              <a:buNone/>
            </a:pPr>
            <a:r>
              <a:rPr lang="en-US" sz="16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A.  draw-line</a:t>
            </a:r>
            <a:r>
              <a:rPr lang="en-US" sz="1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  take one order line to its full current residual from stock already standing at a station</a:t>
            </a:r>
          </a:p>
        </p:txBody>
      </p:sp>
      <p:pic>
        <p:nvPicPr>
          <p:cNvPr id="603" name="Equation 6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429000"/>
            <a:ext cx="4114800" cy="256032"/>
          </a:xfrm>
          <a:prstGeom prst="rect">
            <a:avLst/>
          </a:prstGeom>
        </p:spPr>
      </p:pic>
      <p:sp>
        <p:nvSpPr>
          <p:cNvPr name="Text 604" id="604"/>
          <p:cNvSpPr txBox="true"/>
          <p:nvPr/>
        </p:nvSpPr>
        <p:spPr>
          <a:xfrm>
            <a:off x="571500" y="3959352"/>
            <a:ext cx="8979408" cy="56692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80"/>
              </a:lnSpc>
              <a:buNone/>
            </a:pPr>
            <a:r>
              <a:rPr lang="en-US" sz="16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B.  dispatch</a:t>
            </a:r>
            <a:r>
              <a:rPr lang="en-US" sz="1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    fetch an idle pod, paying robot-to-pod plus pod-to-station distance</a:t>
            </a:r>
          </a:p>
        </p:txBody>
      </p:sp>
      <p:pic>
        <p:nvPicPr>
          <p:cNvPr id="605" name="Equation 6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617720"/>
            <a:ext cx="3266694" cy="281178"/>
          </a:xfrm>
          <a:prstGeom prst="rect">
            <a:avLst/>
          </a:prstGeom>
        </p:spPr>
      </p:pic>
      <p:sp>
        <p:nvSpPr>
          <p:cNvPr name="Text 606" id="606"/>
          <p:cNvSpPr txBox="true"/>
          <p:nvPr/>
        </p:nvSpPr>
        <p:spPr>
          <a:xfrm>
            <a:off x="845820" y="4990338"/>
            <a:ext cx="870508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620"/>
              </a:lnSpc>
              <a:buNone/>
            </a:pPr>
            <a:r>
              <a:rPr lang="en-US" sz="135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scored NET of the draws it unlocks — a dispatch alone is pure cost and would never be taken on its own</a:t>
            </a:r>
          </a:p>
        </p:txBody>
      </p:sp>
      <p:sp>
        <p:nvSpPr>
          <p:cNvPr name="Shape 607" id="607"/>
          <p:cNvSpPr/>
          <p:nvPr/>
        </p:nvSpPr>
        <p:spPr>
          <a:xfrm>
            <a:off x="571500" y="5484114"/>
            <a:ext cx="8979408" cy="2560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08" id="608"/>
          <p:cNvSpPr txBox="true"/>
          <p:nvPr/>
        </p:nvSpPr>
        <p:spPr>
          <a:xfrm>
            <a:off x="571500" y="5721858"/>
            <a:ext cx="8979408" cy="38404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100"/>
              </a:lnSpc>
              <a:buNone/>
            </a:pPr>
            <a:r>
              <a:rPr lang="en-US" sz="17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Accept the most negative move; stop when none is negative.</a:t>
            </a:r>
          </a:p>
        </p:txBody>
      </p:sp>
      <p:sp>
        <p:nvSpPr>
          <p:cNvPr name="Text 609" id="609"/>
          <p:cNvSpPr txBox="true"/>
          <p:nvPr/>
        </p:nvSpPr>
        <p:spPr>
          <a:xfrm>
            <a:off x="571500" y="6270498"/>
            <a:ext cx="8979408" cy="269062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00"/>
              </a:lnSpc>
              <a:buNone/>
            </a:pPr>
            <a:r>
              <a:rPr lang="en-US" sz="1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Station slots and free robots remain </a:t>
            </a:r>
            <a:r>
              <a:rPr lang="en-US" sz="155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hard constraints, never prices</a:t>
            </a:r>
            <a:r>
              <a:rPr lang="en-US" sz="1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— exactly as in M4G's B3. The splitting atom here is the LINE, not the unit: lambda accrues only when a line closes in full (V3, B5), so a per-unit move would score almost nothing until the last unit and a greedy search would never reach it.</a:t>
            </a:r>
          </a:p>
        </p:txBody>
      </p:sp>
      <p:sp>
        <p:nvSpPr>
          <p:cNvPr name="Shape 610" id="610"/>
          <p:cNvSpPr/>
          <p:nvPr/>
        </p:nvSpPr>
        <p:spPr>
          <a:xfrm>
            <a:off x="10181844" y="1325880"/>
            <a:ext cx="7754112" cy="420624"/>
          </a:xfrm>
          <a:prstGeom prst="rect">
            <a:avLst/>
          </a:prstGeom>
          <a:solidFill>
            <a:srgbClr val="3B61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1" id="611"/>
          <p:cNvSpPr txBox="true"/>
          <p:nvPr/>
        </p:nvSpPr>
        <p:spPr>
          <a:xfrm>
            <a:off x="10364724" y="1426464"/>
            <a:ext cx="7388352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Why the Comparison Stays Clean</a:t>
            </a:r>
          </a:p>
        </p:txBody>
      </p:sp>
      <p:sp>
        <p:nvSpPr>
          <p:cNvPr name="Shape 612" id="612"/>
          <p:cNvSpPr/>
          <p:nvPr/>
        </p:nvSpPr>
        <p:spPr>
          <a:xfrm>
            <a:off x="10181844" y="1746504"/>
            <a:ext cx="7754112" cy="7488936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3" id="613"/>
          <p:cNvSpPr txBox="true"/>
          <p:nvPr/>
        </p:nvSpPr>
        <p:spPr>
          <a:xfrm>
            <a:off x="10401300" y="1892808"/>
            <a:ext cx="7315200" cy="91440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00"/>
              </a:lnSpc>
              <a:buNone/>
            </a:pPr>
            <a:r>
              <a:rPr lang="en-US" sz="1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Every move sets a variable that already exists in M4G's MILP, and the loop keeps R1–R5, V1–V4 and B1–B7 satisfied throughout.</a:t>
            </a:r>
          </a:p>
        </p:txBody>
      </p:sp>
      <p:pic>
        <p:nvPicPr>
          <p:cNvPr id="614" name="Equation 6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2935224"/>
            <a:ext cx="2363724" cy="299466"/>
          </a:xfrm>
          <a:prstGeom prst="rect">
            <a:avLst/>
          </a:prstGeom>
        </p:spPr>
      </p:pic>
      <p:sp>
        <p:nvSpPr>
          <p:cNvPr name="Text 615" id="615"/>
          <p:cNvSpPr txBox="true"/>
          <p:nvPr/>
        </p:nvSpPr>
        <p:spPr>
          <a:xfrm>
            <a:off x="10401300" y="3454146"/>
            <a:ext cx="7315200" cy="100584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880"/>
              </a:lnSpc>
              <a:buNone/>
            </a:pPr>
            <a:r>
              <a:rPr lang="en-US" sz="15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Every M5 solution is feasible for M4G. With both objectives written from the same price list, the gap between them is a real and reportable optimality gap rather than an unexplained difference.</a:t>
            </a:r>
          </a:p>
        </p:txBody>
      </p:sp>
      <p:sp>
        <p:nvSpPr>
          <p:cNvPr name="Shape 616" id="616"/>
          <p:cNvSpPr/>
          <p:nvPr/>
        </p:nvSpPr>
        <p:spPr>
          <a:xfrm>
            <a:off x="10401300" y="4606290"/>
            <a:ext cx="7315200" cy="25603"/>
          </a:xfrm>
          <a:prstGeom prst="rect">
            <a:avLst/>
          </a:prstGeom>
          <a:solidFill>
            <a:srgbClr val="3B61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17" id="617"/>
          <p:cNvSpPr txBox="true"/>
          <p:nvPr/>
        </p:nvSpPr>
        <p:spPr>
          <a:xfrm>
            <a:off x="10401300" y="4844034"/>
            <a:ext cx="7315200" cy="36576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60"/>
              </a:lnSpc>
              <a:buNone/>
            </a:pPr>
            <a:r>
              <a:rPr lang="en-US" sz="160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The objective is M4G's, term for term</a:t>
            </a:r>
          </a:p>
        </p:txBody>
      </p:sp>
      <p:pic>
        <p:nvPicPr>
          <p:cNvPr id="618" name="Equation 6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300" y="5319522"/>
            <a:ext cx="2727198" cy="246888"/>
          </a:xfrm>
          <a:prstGeom prst="rect">
            <a:avLst/>
          </a:prstGeom>
        </p:spPr>
      </p:pic>
      <p:sp>
        <p:nvSpPr>
          <p:cNvPr name="Text 619" id="619"/>
          <p:cNvSpPr txBox="true"/>
          <p:nvPr/>
        </p:nvSpPr>
        <p:spPr>
          <a:xfrm>
            <a:off x="10401300" y="5731002"/>
            <a:ext cx="7315200" cy="324840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880"/>
              </a:lnSpc>
              <a:buNone/>
            </a:pPr>
            <a:r>
              <a:rPr lang="en-US" sz="15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delta is calibrated from the same bound-to-valued ratio M4G feeds, so the two solvers price identically. The one declared difference is line granularity: M5 cannot assemble a single line from two pods, which M4G can. That gap is declared, not hidden.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Comparison Framework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28 頁</a:t>
            </a:r>
          </a:p>
        </p:txBody>
      </p:sp>
      <p:sp>
        <p:nvSpPr>
          <p:cNvPr name="Shape 620" id="620"/>
          <p:cNvSpPr/>
          <p:nvPr/>
        </p:nvSpPr>
        <p:spPr>
          <a:xfrm>
            <a:off x="352044" y="1325880"/>
            <a:ext cx="17583912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21" id="621"/>
          <p:cNvSpPr txBox="true"/>
          <p:nvPr/>
        </p:nvSpPr>
        <p:spPr>
          <a:xfrm>
            <a:off x="516636" y="1444752"/>
            <a:ext cx="2551176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Dimension</a:t>
            </a:r>
          </a:p>
        </p:txBody>
      </p:sp>
      <p:sp>
        <p:nvSpPr>
          <p:cNvPr name="Text 622" id="622"/>
          <p:cNvSpPr txBox="true"/>
          <p:nvPr/>
        </p:nvSpPr>
        <p:spPr>
          <a:xfrm>
            <a:off x="3396996" y="1444752"/>
            <a:ext cx="6620256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M1G  (baseline)</a:t>
            </a:r>
          </a:p>
        </p:txBody>
      </p:sp>
      <p:sp>
        <p:nvSpPr>
          <p:cNvPr name="Text 623" id="623"/>
          <p:cNvSpPr txBox="true"/>
          <p:nvPr/>
        </p:nvSpPr>
        <p:spPr>
          <a:xfrm>
            <a:off x="10346436" y="1444752"/>
            <a:ext cx="7424928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M4G / M5  (proposed)</a:t>
            </a:r>
          </a:p>
        </p:txBody>
      </p:sp>
      <p:sp>
        <p:nvSpPr>
          <p:cNvPr name="Shape 624" id="624"/>
          <p:cNvSpPr/>
          <p:nvPr/>
        </p:nvSpPr>
        <p:spPr>
          <a:xfrm>
            <a:off x="352044" y="1764792"/>
            <a:ext cx="17583912" cy="512064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25" id="625"/>
          <p:cNvSpPr txBox="true"/>
          <p:nvPr/>
        </p:nvSpPr>
        <p:spPr>
          <a:xfrm>
            <a:off x="516636" y="1892808"/>
            <a:ext cx="255117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Decision atom</a:t>
            </a:r>
          </a:p>
        </p:txBody>
      </p:sp>
      <p:sp>
        <p:nvSpPr>
          <p:cNvPr name="Text 626" id="626"/>
          <p:cNvSpPr txBox="true"/>
          <p:nvPr/>
        </p:nvSpPr>
        <p:spPr>
          <a:xfrm>
            <a:off x="3396996" y="1892808"/>
            <a:ext cx="662025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order</a:t>
            </a:r>
          </a:p>
        </p:txBody>
      </p:sp>
      <p:sp>
        <p:nvSpPr>
          <p:cNvPr name="Text 627" id="627"/>
          <p:cNvSpPr txBox="true"/>
          <p:nvPr/>
        </p:nvSpPr>
        <p:spPr>
          <a:xfrm>
            <a:off x="10346436" y="1892808"/>
            <a:ext cx="742492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</a:rPr>
              <a:t xml:space="preserve">item</a:t>
            </a:r>
          </a:p>
        </p:txBody>
      </p:sp>
      <p:sp>
        <p:nvSpPr>
          <p:cNvPr name="Shape 628" id="628"/>
          <p:cNvSpPr/>
          <p:nvPr/>
        </p:nvSpPr>
        <p:spPr>
          <a:xfrm>
            <a:off x="352044" y="2276856"/>
            <a:ext cx="17583912" cy="5120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29" id="629"/>
          <p:cNvSpPr txBox="true"/>
          <p:nvPr/>
        </p:nvSpPr>
        <p:spPr>
          <a:xfrm>
            <a:off x="516636" y="2404872"/>
            <a:ext cx="255117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Order splitting</a:t>
            </a:r>
          </a:p>
        </p:txBody>
      </p:sp>
      <p:sp>
        <p:nvSpPr>
          <p:cNvPr name="Text 630" id="630"/>
          <p:cNvSpPr txBox="true"/>
          <p:nvPr/>
        </p:nvSpPr>
        <p:spPr>
          <a:xfrm>
            <a:off x="3396996" y="2404872"/>
            <a:ext cx="662025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none; one order in full at one station</a:t>
            </a:r>
          </a:p>
        </p:txBody>
      </p:sp>
      <p:sp>
        <p:nvSpPr>
          <p:cNvPr name="Text 631" id="631"/>
          <p:cNvSpPr txBox="true"/>
          <p:nvPr/>
        </p:nvSpPr>
        <p:spPr>
          <a:xfrm>
            <a:off x="10346436" y="2404872"/>
            <a:ext cx="742492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across stations, epochs and pods; exercised only when the prices justify it</a:t>
            </a:r>
          </a:p>
        </p:txBody>
      </p:sp>
      <p:sp>
        <p:nvSpPr>
          <p:cNvPr name="Shape 632" id="632"/>
          <p:cNvSpPr/>
          <p:nvPr/>
        </p:nvSpPr>
        <p:spPr>
          <a:xfrm>
            <a:off x="352044" y="2788920"/>
            <a:ext cx="17583912" cy="5120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3" id="633"/>
          <p:cNvSpPr txBox="true"/>
          <p:nvPr/>
        </p:nvSpPr>
        <p:spPr>
          <a:xfrm>
            <a:off x="516636" y="2916936"/>
            <a:ext cx="255117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Completion variable</a:t>
            </a:r>
          </a:p>
        </p:txBody>
      </p:sp>
      <p:sp>
        <p:nvSpPr>
          <p:cNvPr name="Text 634" id="634"/>
          <p:cNvSpPr txBox="true"/>
          <p:nvPr/>
        </p:nvSpPr>
        <p:spPr>
          <a:xfrm>
            <a:off x="3396996" y="2916936"/>
            <a:ext cx="662025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none; assignment implies coverage (shi5)</a:t>
            </a:r>
          </a:p>
        </p:txBody>
      </p:sp>
      <p:sp>
        <p:nvSpPr>
          <p:cNvPr name="Text 635" id="635"/>
          <p:cNvSpPr txBox="true"/>
          <p:nvPr/>
        </p:nvSpPr>
        <p:spPr>
          <a:xfrm>
            <a:off x="10346436" y="2916936"/>
            <a:ext cx="742492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required (c, z); partial fulfilment breaks the implication</a:t>
            </a:r>
          </a:p>
        </p:txBody>
      </p:sp>
      <p:sp>
        <p:nvSpPr>
          <p:cNvPr name="Shape 636" id="636"/>
          <p:cNvSpPr/>
          <p:nvPr/>
        </p:nvSpPr>
        <p:spPr>
          <a:xfrm>
            <a:off x="352044" y="3300984"/>
            <a:ext cx="17583912" cy="5120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37" id="637"/>
          <p:cNvSpPr txBox="true"/>
          <p:nvPr/>
        </p:nvSpPr>
        <p:spPr>
          <a:xfrm>
            <a:off x="516636" y="3429000"/>
            <a:ext cx="255117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Slot constraint</a:t>
            </a:r>
          </a:p>
        </p:txBody>
      </p:sp>
      <p:sp>
        <p:nvSpPr>
          <p:cNvPr name="Text 638" id="638"/>
          <p:cNvSpPr txBox="true"/>
          <p:nvPr/>
        </p:nvSpPr>
        <p:spPr>
          <a:xfrm>
            <a:off x="3396996" y="3429000"/>
            <a:ext cx="662025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shi4 equality; idle slots are force-filled</a:t>
            </a:r>
          </a:p>
        </p:txBody>
      </p:sp>
      <p:sp>
        <p:nvSpPr>
          <p:cNvPr name="Text 639" id="639"/>
          <p:cNvSpPr txBox="true"/>
          <p:nvPr/>
        </p:nvSpPr>
        <p:spPr>
          <a:xfrm>
            <a:off x="10346436" y="3429000"/>
            <a:ext cx="742492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B3 inequality; idle slots may be left open</a:t>
            </a:r>
          </a:p>
        </p:txBody>
      </p:sp>
      <p:sp>
        <p:nvSpPr>
          <p:cNvPr name="Shape 640" id="640"/>
          <p:cNvSpPr/>
          <p:nvPr/>
        </p:nvSpPr>
        <p:spPr>
          <a:xfrm>
            <a:off x="352044" y="3813048"/>
            <a:ext cx="17583912" cy="512064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1" id="641"/>
          <p:cNvSpPr txBox="true"/>
          <p:nvPr/>
        </p:nvSpPr>
        <p:spPr>
          <a:xfrm>
            <a:off x="516636" y="3941064"/>
            <a:ext cx="255117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Two-layer ratio</a:t>
            </a:r>
          </a:p>
        </p:txBody>
      </p:sp>
      <p:sp>
        <p:nvSpPr>
          <p:cNvPr name="Text 642" id="642"/>
          <p:cNvSpPr txBox="true"/>
          <p:nvPr/>
        </p:nvSpPr>
        <p:spPr>
          <a:xfrm>
            <a:off x="3396996" y="3941064"/>
            <a:ext cx="662025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pinned by hand, 1000 : 40</a:t>
            </a:r>
          </a:p>
        </p:txBody>
      </p:sp>
      <p:sp>
        <p:nvSpPr>
          <p:cNvPr name="Text 643" id="643"/>
          <p:cNvSpPr txBox="true"/>
          <p:nvPr/>
        </p:nvSpPr>
        <p:spPr>
          <a:xfrm>
            <a:off x="10346436" y="3941064"/>
            <a:ext cx="742492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</a:rPr>
              <a:t xml:space="preserve">measured from the run in progress</a:t>
            </a:r>
          </a:p>
        </p:txBody>
      </p:sp>
      <p:sp>
        <p:nvSpPr>
          <p:cNvPr name="Shape 644" id="644"/>
          <p:cNvSpPr/>
          <p:nvPr/>
        </p:nvSpPr>
        <p:spPr>
          <a:xfrm>
            <a:off x="352044" y="4325112"/>
            <a:ext cx="17583912" cy="5120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5" id="645"/>
          <p:cNvSpPr txBox="true"/>
          <p:nvPr/>
        </p:nvSpPr>
        <p:spPr>
          <a:xfrm>
            <a:off x="516636" y="4453128"/>
            <a:ext cx="255117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Objective form</a:t>
            </a:r>
          </a:p>
        </p:txBody>
      </p:sp>
      <p:sp>
        <p:nvSpPr>
          <p:cNvPr name="Text 646" id="646"/>
          <p:cNvSpPr txBox="true"/>
          <p:nvPr/>
        </p:nvSpPr>
        <p:spPr>
          <a:xfrm>
            <a:off x="3396996" y="4453128"/>
            <a:ext cx="662025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weighted linear sum, weights exogenous</a:t>
            </a:r>
          </a:p>
        </p:txBody>
      </p:sp>
      <p:sp>
        <p:nvSpPr>
          <p:cNvPr name="Text 647" id="647"/>
          <p:cNvSpPr txBox="true"/>
          <p:nvPr/>
        </p:nvSpPr>
        <p:spPr>
          <a:xfrm>
            <a:off x="10346436" y="4453128"/>
            <a:ext cx="742492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ratio D / V, linearised by Dinkelbach</a:t>
            </a:r>
          </a:p>
        </p:txBody>
      </p:sp>
      <p:sp>
        <p:nvSpPr>
          <p:cNvPr name="Shape 648" id="648"/>
          <p:cNvSpPr/>
          <p:nvPr/>
        </p:nvSpPr>
        <p:spPr>
          <a:xfrm>
            <a:off x="352044" y="4837176"/>
            <a:ext cx="17583912" cy="512064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49" id="649"/>
          <p:cNvSpPr txBox="true"/>
          <p:nvPr/>
        </p:nvSpPr>
        <p:spPr>
          <a:xfrm>
            <a:off x="516636" y="4965192"/>
            <a:ext cx="255117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Price dimension</a:t>
            </a:r>
          </a:p>
        </p:txBody>
      </p:sp>
      <p:sp>
        <p:nvSpPr>
          <p:cNvPr name="Text 650" id="650"/>
          <p:cNvSpPr txBox="true"/>
          <p:nvPr/>
        </p:nvSpPr>
        <p:spPr>
          <a:xfrm>
            <a:off x="3396996" y="4965192"/>
            <a:ext cx="6620256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dimensionless weights</a:t>
            </a:r>
          </a:p>
        </p:txBody>
      </p:sp>
      <p:sp>
        <p:nvSpPr>
          <p:cNvPr name="Text 651" id="651"/>
          <p:cNvSpPr txBox="true"/>
          <p:nvPr/>
        </p:nvSpPr>
        <p:spPr>
          <a:xfrm>
            <a:off x="10346436" y="4965192"/>
            <a:ext cx="7424928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all prices in metres</a:t>
            </a:r>
          </a:p>
        </p:txBody>
      </p:sp>
      <p:sp>
        <p:nvSpPr>
          <p:cNvPr name="Shape 652" id="652"/>
          <p:cNvSpPr/>
          <p:nvPr/>
        </p:nvSpPr>
        <p:spPr>
          <a:xfrm>
            <a:off x="352044" y="5349240"/>
            <a:ext cx="17583912" cy="60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3" id="653"/>
          <p:cNvSpPr txBox="true"/>
          <p:nvPr/>
        </p:nvSpPr>
        <p:spPr>
          <a:xfrm>
            <a:off x="516636" y="5477256"/>
            <a:ext cx="2551176" cy="42062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</a:rPr>
              <a:t xml:space="preserve">Held constant</a:t>
            </a:r>
          </a:p>
        </p:txBody>
      </p:sp>
      <p:sp>
        <p:nvSpPr>
          <p:cNvPr name="Text 654" id="654"/>
          <p:cNvSpPr txBox="true"/>
          <p:nvPr/>
        </p:nvSpPr>
        <p:spPr>
          <a:xfrm>
            <a:off x="3396996" y="5477256"/>
            <a:ext cx="14374368" cy="49377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74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task allocation inside the model  ·  pod and robot constraints  ·  decision triggered on every freed slot  ·  order-level station capacity  ·  identical path planning and pod-return policy</a:t>
            </a:r>
          </a:p>
        </p:txBody>
      </p:sp>
      <p:sp>
        <p:nvSpPr>
          <p:cNvPr name="Shape 655" id="655"/>
          <p:cNvSpPr/>
          <p:nvPr/>
        </p:nvSpPr>
        <p:spPr>
          <a:xfrm>
            <a:off x="352044" y="6190488"/>
            <a:ext cx="8586216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56" id="656"/>
          <p:cNvSpPr txBox="true"/>
          <p:nvPr/>
        </p:nvSpPr>
        <p:spPr>
          <a:xfrm>
            <a:off x="534924" y="6291072"/>
            <a:ext cx="8220456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Evaluation Design</a:t>
            </a:r>
          </a:p>
        </p:txBody>
      </p:sp>
      <p:sp>
        <p:nvSpPr>
          <p:cNvPr name="Shape 657" id="657"/>
          <p:cNvSpPr/>
          <p:nvPr/>
        </p:nvSpPr>
        <p:spPr>
          <a:xfrm>
            <a:off x="352044" y="6611112"/>
            <a:ext cx="8586216" cy="2624328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58" name="Equation 6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757416"/>
            <a:ext cx="3163824" cy="262890"/>
          </a:xfrm>
          <a:prstGeom prst="rect">
            <a:avLst/>
          </a:prstGeom>
        </p:spPr>
      </p:pic>
      <p:sp>
        <p:nvSpPr>
          <p:cNvPr name="Text 659" id="659"/>
          <p:cNvSpPr txBox="true"/>
          <p:nvPr/>
        </p:nvSpPr>
        <p:spPr>
          <a:xfrm>
            <a:off x="571500" y="7203186"/>
            <a:ext cx="8147304" cy="177622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820"/>
              </a:lnSpc>
              <a:buNone/>
            </a:pPr>
            <a:r>
              <a:rPr lang="en-US" sz="15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Small instance   </a:t>
            </a:r>
            <a:r>
              <a:rPr lang="en-US" sz="160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M4G vs M1G</a:t>
            </a: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  the exact model against the exact baseline it derives from, under one simulator configuration.</a:t>
            </a:r>
          </a:p>
          <a:p>
            <a:pPr algn="l">
              <a:lnSpc>
                <a:spcPts val="1820"/>
              </a:lnSpc>
              <a:spcBef>
                <a:spcPts val="170"/>
              </a:spcBef>
              <a:buNone/>
            </a:pPr>
            <a:r>
              <a:rPr lang="en-US" sz="15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Large instance   </a:t>
            </a:r>
            <a:r>
              <a:rPr lang="en-US" sz="160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M5 vs HADGS</a:t>
            </a: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     at fleet scale the baseline's own authors report M1G still leaves a 15.4 % gap and evaluate only their heuristic, so this follows their experimental design.</a:t>
            </a:r>
          </a:p>
        </p:txBody>
      </p:sp>
      <p:sp>
        <p:nvSpPr>
          <p:cNvPr name="Shape 660" id="660"/>
          <p:cNvSpPr/>
          <p:nvPr/>
        </p:nvSpPr>
        <p:spPr>
          <a:xfrm>
            <a:off x="9349740" y="6190488"/>
            <a:ext cx="8586216" cy="420624"/>
          </a:xfrm>
          <a:prstGeom prst="rect">
            <a:avLst/>
          </a:prstGeom>
          <a:solidFill>
            <a:srgbClr val="3B61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61" id="661"/>
          <p:cNvSpPr txBox="true"/>
          <p:nvPr/>
        </p:nvSpPr>
        <p:spPr>
          <a:xfrm>
            <a:off x="9532620" y="6291072"/>
            <a:ext cx="8220456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Experimental Controls</a:t>
            </a:r>
          </a:p>
        </p:txBody>
      </p:sp>
      <p:sp>
        <p:nvSpPr>
          <p:cNvPr name="Shape 662" id="662"/>
          <p:cNvSpPr/>
          <p:nvPr/>
        </p:nvSpPr>
        <p:spPr>
          <a:xfrm>
            <a:off x="9349740" y="6611112"/>
            <a:ext cx="8586216" cy="2624328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663" id="663"/>
          <p:cNvSpPr txBox="true"/>
          <p:nvPr/>
        </p:nvSpPr>
        <p:spPr>
          <a:xfrm>
            <a:off x="9569196" y="6757416"/>
            <a:ext cx="8147304" cy="236829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820"/>
              </a:lnSpc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Configurations differ only in the order-batching block; every arm runs on the same build.</a:t>
            </a:r>
          </a:p>
          <a:p>
            <a:pPr algn="l">
              <a:lnSpc>
                <a:spcPts val="1820"/>
              </a:lnSpc>
              <a:spcBef>
                <a:spcPts val="150"/>
              </a:spcBef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Orders completed, items handled and backlog are reported together: splitting creates work in progress, so completed orders alone understate a splitting model.</a:t>
            </a:r>
          </a:p>
          <a:p>
            <a:pPr algn="l">
              <a:lnSpc>
                <a:spcPts val="1820"/>
              </a:lnSpc>
              <a:spcBef>
                <a:spcPts val="150"/>
              </a:spcBef>
              <a:buNone/>
            </a:pPr>
            <a:r>
              <a:rPr lang="en-US" sz="14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Arms share seeds and are compared with a paired test.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  Experiment and 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29 頁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30 頁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Small-scale Results: M4G vs M1G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31 頁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Heuristic Validation: M5 vs M4G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32 頁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Large-scale Results: M5 vs HADGS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33 頁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34 頁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07  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35 頁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36 頁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37 頁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38 頁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39 頁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61925"/>
              <a:ext cx="18288000" cy="46228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154"/>
                </a:lnSpc>
              </a:pPr>
              <a:r>
                <a:rPr lang="en-US" sz="60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 !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40 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60371" y="6453530"/>
            <a:ext cx="13716000" cy="281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Kai-Hsiang, Chuang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2026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Industrial Management Department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Internet of Things Innovation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National Taiwan University of Science and Technology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08 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41 頁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09  Q&amp;A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42 頁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10 Appendix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43 頁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1673" y="1704447"/>
            <a:ext cx="4956339" cy="372526"/>
            <a:chOff x="0" y="0"/>
            <a:chExt cx="6608451" cy="49670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08451" cy="496702"/>
              <a:chOff x="0" y="0"/>
              <a:chExt cx="6417831" cy="48237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17818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6417818">
                    <a:moveTo>
                      <a:pt x="0" y="0"/>
                    </a:moveTo>
                    <a:lnTo>
                      <a:pt x="6417818" y="0"/>
                    </a:lnTo>
                    <a:lnTo>
                      <a:pt x="6417818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284262" y="-2960"/>
              <a:ext cx="4039928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Constant Speed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51673" y="2502952"/>
            <a:ext cx="6946240" cy="1179307"/>
          </a:xfrm>
          <a:custGeom>
            <a:avLst/>
            <a:gdLst/>
            <a:ahLst/>
            <a:cxnLst/>
            <a:rect r="r" b="b" t="t" l="l"/>
            <a:pathLst>
              <a:path h="1179307" w="6946240">
                <a:moveTo>
                  <a:pt x="0" y="0"/>
                </a:moveTo>
                <a:lnTo>
                  <a:pt x="6946239" y="0"/>
                </a:lnTo>
                <a:lnTo>
                  <a:pt x="6946239" y="1179307"/>
                </a:lnTo>
                <a:lnTo>
                  <a:pt x="0" y="1179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112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51673" y="3942511"/>
            <a:ext cx="4956339" cy="372526"/>
            <a:chOff x="0" y="0"/>
            <a:chExt cx="6608451" cy="49670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8451" cy="496702"/>
              <a:chOff x="0" y="0"/>
              <a:chExt cx="6417831" cy="48237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417818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6417818">
                    <a:moveTo>
                      <a:pt x="0" y="0"/>
                    </a:moveTo>
                    <a:lnTo>
                      <a:pt x="6417818" y="0"/>
                    </a:lnTo>
                    <a:lnTo>
                      <a:pt x="6417818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84262" y="-2960"/>
              <a:ext cx="4039928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Acc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eleration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51673" y="6066773"/>
            <a:ext cx="4956339" cy="372526"/>
            <a:chOff x="0" y="0"/>
            <a:chExt cx="6608451" cy="49670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8451" cy="496702"/>
              <a:chOff x="0" y="0"/>
              <a:chExt cx="6417831" cy="48237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17818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6417818">
                    <a:moveTo>
                      <a:pt x="0" y="0"/>
                    </a:moveTo>
                    <a:lnTo>
                      <a:pt x="6417818" y="0"/>
                    </a:lnTo>
                    <a:lnTo>
                      <a:pt x="6417818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84262" y="-2960"/>
              <a:ext cx="4039928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Dec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eleration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42223" y="1704447"/>
            <a:ext cx="6549620" cy="372526"/>
            <a:chOff x="0" y="0"/>
            <a:chExt cx="8732827" cy="49670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732827" cy="496702"/>
              <a:chOff x="0" y="0"/>
              <a:chExt cx="8480928" cy="48237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0912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8480912">
                    <a:moveTo>
                      <a:pt x="0" y="0"/>
                    </a:moveTo>
                    <a:lnTo>
                      <a:pt x="8480912" y="0"/>
                    </a:lnTo>
                    <a:lnTo>
                      <a:pt x="8480912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97105" y="-2960"/>
              <a:ext cx="5338616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En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ergy for rotating or turning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99999" y="5344870"/>
            <a:ext cx="3899924" cy="372526"/>
            <a:chOff x="0" y="0"/>
            <a:chExt cx="5199898" cy="49670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199898" cy="496702"/>
              <a:chOff x="0" y="0"/>
              <a:chExt cx="5049907" cy="48237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049897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5049897">
                    <a:moveTo>
                      <a:pt x="0" y="0"/>
                    </a:moveTo>
                    <a:lnTo>
                      <a:pt x="5049897" y="0"/>
                    </a:lnTo>
                    <a:lnTo>
                      <a:pt x="5049897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10529" y="-2960"/>
              <a:ext cx="3178840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En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ergy for lifting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77359" y="5344870"/>
            <a:ext cx="4194334" cy="372548"/>
            <a:chOff x="0" y="0"/>
            <a:chExt cx="5592446" cy="49673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592446" cy="496730"/>
              <a:chOff x="0" y="0"/>
              <a:chExt cx="5431132" cy="48240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431121" cy="482466"/>
              </a:xfrm>
              <a:custGeom>
                <a:avLst/>
                <a:gdLst/>
                <a:ahLst/>
                <a:cxnLst/>
                <a:rect r="r" b="b" t="t" l="l"/>
                <a:pathLst>
                  <a:path h="482466" w="5431121">
                    <a:moveTo>
                      <a:pt x="0" y="0"/>
                    </a:moveTo>
                    <a:lnTo>
                      <a:pt x="5431121" y="0"/>
                    </a:lnTo>
                    <a:lnTo>
                      <a:pt x="5431121" y="482466"/>
                    </a:lnTo>
                    <a:lnTo>
                      <a:pt x="0" y="482466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086815" y="-2960"/>
              <a:ext cx="3418816" cy="499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En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ergy for lowering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351673" y="4569582"/>
            <a:ext cx="5884679" cy="1147836"/>
          </a:xfrm>
          <a:custGeom>
            <a:avLst/>
            <a:gdLst/>
            <a:ahLst/>
            <a:cxnLst/>
            <a:rect r="r" b="b" t="t" l="l"/>
            <a:pathLst>
              <a:path h="1147836" w="5884679">
                <a:moveTo>
                  <a:pt x="0" y="0"/>
                </a:moveTo>
                <a:lnTo>
                  <a:pt x="5884679" y="0"/>
                </a:lnTo>
                <a:lnTo>
                  <a:pt x="5884679" y="1147836"/>
                </a:lnTo>
                <a:lnTo>
                  <a:pt x="0" y="1147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351673" y="7052398"/>
            <a:ext cx="5322751" cy="1116554"/>
          </a:xfrm>
          <a:custGeom>
            <a:avLst/>
            <a:gdLst/>
            <a:ahLst/>
            <a:cxnLst/>
            <a:rect r="r" b="b" t="t" l="l"/>
            <a:pathLst>
              <a:path h="1116554" w="5322751">
                <a:moveTo>
                  <a:pt x="0" y="0"/>
                </a:moveTo>
                <a:lnTo>
                  <a:pt x="5322751" y="0"/>
                </a:lnTo>
                <a:lnTo>
                  <a:pt x="5322751" y="1116554"/>
                </a:lnTo>
                <a:lnTo>
                  <a:pt x="0" y="11165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852728" y="2407816"/>
            <a:ext cx="3278914" cy="1203853"/>
          </a:xfrm>
          <a:custGeom>
            <a:avLst/>
            <a:gdLst/>
            <a:ahLst/>
            <a:cxnLst/>
            <a:rect r="r" b="b" t="t" l="l"/>
            <a:pathLst>
              <a:path h="1203853" w="3278914">
                <a:moveTo>
                  <a:pt x="0" y="0"/>
                </a:moveTo>
                <a:lnTo>
                  <a:pt x="3278914" y="0"/>
                </a:lnTo>
                <a:lnTo>
                  <a:pt x="3278914" y="1203853"/>
                </a:lnTo>
                <a:lnTo>
                  <a:pt x="0" y="120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874526" y="3676884"/>
            <a:ext cx="4954301" cy="1161164"/>
          </a:xfrm>
          <a:custGeom>
            <a:avLst/>
            <a:gdLst/>
            <a:ahLst/>
            <a:cxnLst/>
            <a:rect r="r" b="b" t="t" l="l"/>
            <a:pathLst>
              <a:path h="1161164" w="4954301">
                <a:moveTo>
                  <a:pt x="0" y="0"/>
                </a:moveTo>
                <a:lnTo>
                  <a:pt x="4954302" y="0"/>
                </a:lnTo>
                <a:lnTo>
                  <a:pt x="4954302" y="1161164"/>
                </a:lnTo>
                <a:lnTo>
                  <a:pt x="0" y="1161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181516" y="6374643"/>
            <a:ext cx="3310669" cy="2089975"/>
          </a:xfrm>
          <a:custGeom>
            <a:avLst/>
            <a:gdLst/>
            <a:ahLst/>
            <a:cxnLst/>
            <a:rect r="r" b="b" t="t" l="l"/>
            <a:pathLst>
              <a:path h="2089975" w="3310669">
                <a:moveTo>
                  <a:pt x="0" y="0"/>
                </a:moveTo>
                <a:lnTo>
                  <a:pt x="3310669" y="0"/>
                </a:lnTo>
                <a:lnTo>
                  <a:pt x="3310669" y="2089975"/>
                </a:lnTo>
                <a:lnTo>
                  <a:pt x="0" y="2089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376320" y="7052398"/>
            <a:ext cx="2547282" cy="558112"/>
          </a:xfrm>
          <a:custGeom>
            <a:avLst/>
            <a:gdLst/>
            <a:ahLst/>
            <a:cxnLst/>
            <a:rect r="r" b="b" t="t" l="l"/>
            <a:pathLst>
              <a:path h="558112" w="2547282">
                <a:moveTo>
                  <a:pt x="0" y="0"/>
                </a:moveTo>
                <a:lnTo>
                  <a:pt x="2547283" y="0"/>
                </a:lnTo>
                <a:lnTo>
                  <a:pt x="2547283" y="558112"/>
                </a:lnTo>
                <a:lnTo>
                  <a:pt x="0" y="5581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51673" y="201425"/>
            <a:ext cx="12000005" cy="23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10 · Appendix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1673" y="531428"/>
            <a:ext cx="1600000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Energy Calculation Module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44 頁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5016" y="8696896"/>
            <a:ext cx="17259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000000">
                    <a:alpha val="4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Rizqi, Z. U., Chou, S. Y., &amp; Oscar, A. D. (2025). Towards energy-efficient Robotic Mobile Fulfillment System: Hybrid agent-based simulation with DEA-based surrogate machine learning. Applied Soft Computing, 176, 113141.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7150361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RMFS Order-Picking Decision Research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45 頁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641743" y="1769911"/>
          <a:ext cx="14952560" cy="6622484"/>
        </p:xfrm>
        <a:graphic>
          <a:graphicData uri="http://schemas.openxmlformats.org/drawingml/2006/table">
            <a:tbl>
              <a:tblPr/>
              <a:tblGrid>
                <a:gridCol w="3738140"/>
                <a:gridCol w="3738140"/>
                <a:gridCol w="3738140"/>
                <a:gridCol w="3738140"/>
              </a:tblGrid>
              <a:tr h="1341624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</a:tr>
              <a:tr h="1341624"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 Assignment (OA) / Pod Selection (PS)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 Assignment (OA) / Pod Selection (PS)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Allocation (TA)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 Planning (PP)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96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Picking Order Assignment (POA)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B1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Picking Po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lect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(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PPS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B186"/>
                    </a:solidFill>
                  </a:tcPr>
                </a:tc>
                <a:tc rowSpan="2" gridSpan="2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  <a:tc rowSpan="2"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</a:tr>
              <a:tr h="19696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Replenishment Order Assignment (ROA)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Replenishment Pod Selection (RPS)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vMerge="true" gridSpan="2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>
            <a:off x="9144000" y="4450769"/>
            <a:ext cx="7450302" cy="38966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Observation: The Two Layers Inside M1G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25 頁</a:t>
            </a:r>
          </a:p>
        </p:txBody>
      </p:sp>
      <p:sp>
        <p:nvSpPr>
          <p:cNvPr name="Shape 485" id="485"/>
          <p:cNvSpPr/>
          <p:nvPr/>
        </p:nvSpPr>
        <p:spPr>
          <a:xfrm>
            <a:off x="352044" y="1325880"/>
            <a:ext cx="8586216" cy="42062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86" id="486"/>
          <p:cNvSpPr txBox="true"/>
          <p:nvPr/>
        </p:nvSpPr>
        <p:spPr>
          <a:xfrm>
            <a:off x="534924" y="1426464"/>
            <a:ext cx="8220456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The Two Layers Already in M1G</a:t>
            </a:r>
          </a:p>
        </p:txBody>
      </p:sp>
      <p:sp>
        <p:nvSpPr>
          <p:cNvPr name="Shape 487" id="487"/>
          <p:cNvSpPr/>
          <p:nvPr/>
        </p:nvSpPr>
        <p:spPr>
          <a:xfrm>
            <a:off x="352044" y="1746504"/>
            <a:ext cx="8586216" cy="7488936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88" id="488"/>
          <p:cNvSpPr txBox="true"/>
          <p:nvPr/>
        </p:nvSpPr>
        <p:spPr>
          <a:xfrm>
            <a:off x="571500" y="1892808"/>
            <a:ext cx="8147304" cy="658368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80"/>
              </a:lnSpc>
              <a:buNone/>
            </a:pPr>
            <a:r>
              <a:rPr lang="en-US"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M1G already separates a </a:t>
            </a:r>
            <a:r>
              <a:rPr lang="en-US" sz="17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valuation</a:t>
            </a:r>
            <a:r>
              <a:rPr lang="en-US"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layer from a </a:t>
            </a:r>
            <a:r>
              <a:rPr lang="en-US" sz="170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binding</a:t>
            </a:r>
            <a:r>
              <a:rPr lang="en-US" sz="17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 layer. This study does not invent that split — it re-prices it.</a:t>
            </a:r>
          </a:p>
        </p:txBody>
      </p:sp>
      <p:pic>
        <p:nvPicPr>
          <p:cNvPr id="489" name="Equation 4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4056"/>
            <a:ext cx="340614" cy="304038"/>
          </a:xfrm>
          <a:prstGeom prst="rect">
            <a:avLst/>
          </a:prstGeom>
        </p:spPr>
      </p:pic>
      <p:sp>
        <p:nvSpPr>
          <p:cNvPr name="Text 490" id="490"/>
          <p:cNvSpPr txBox="true"/>
          <p:nvPr/>
        </p:nvSpPr>
        <p:spPr>
          <a:xfrm>
            <a:off x="1577340" y="2770632"/>
            <a:ext cx="7141464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120"/>
              </a:lnSpc>
              <a:buNone/>
            </a:pPr>
            <a:r>
              <a:rPr lang="en-US" sz="1800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</a:rPr>
              <a:t xml:space="preserve">valuation</a:t>
            </a:r>
          </a:p>
        </p:txBody>
      </p:sp>
      <p:sp>
        <p:nvSpPr>
          <p:cNvPr name="Text 491" id="491"/>
          <p:cNvSpPr txBox="true"/>
          <p:nvPr/>
        </p:nvSpPr>
        <p:spPr>
          <a:xfrm>
            <a:off x="1577340" y="3172968"/>
            <a:ext cx="7141464" cy="5323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880"/>
              </a:lnSpc>
              <a:buNone/>
            </a:pPr>
            <a:r>
              <a:rPr lang="en-US" sz="15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Constrained by shi2 and shi5 only. Free of the slot limit, so it may claim more value than the station can hold. Carries w2 = -40.</a:t>
            </a:r>
          </a:p>
        </p:txBody>
      </p:sp>
      <p:pic>
        <p:nvPicPr>
          <p:cNvPr id="492" name="Equation 4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52824"/>
            <a:ext cx="438912" cy="304038"/>
          </a:xfrm>
          <a:prstGeom prst="rect">
            <a:avLst/>
          </a:prstGeom>
        </p:spPr>
      </p:pic>
      <p:sp>
        <p:nvSpPr>
          <p:cNvPr name="Text 493" id="493"/>
          <p:cNvSpPr txBox="true"/>
          <p:nvPr/>
        </p:nvSpPr>
        <p:spPr>
          <a:xfrm>
            <a:off x="1577340" y="4089400"/>
            <a:ext cx="7141464" cy="3291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120"/>
              </a:lnSpc>
              <a:buNone/>
            </a:pPr>
            <a:r>
              <a:rPr lang="en-US" sz="180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binding</a:t>
            </a:r>
          </a:p>
        </p:txBody>
      </p:sp>
      <p:sp>
        <p:nvSpPr>
          <p:cNvPr name="Text 494" id="494"/>
          <p:cNvSpPr txBox="true"/>
          <p:nvPr/>
        </p:nvSpPr>
        <p:spPr>
          <a:xfrm>
            <a:off x="1577340" y="4491736"/>
            <a:ext cx="7141464" cy="532384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880"/>
              </a:lnSpc>
              <a:buNone/>
            </a:pPr>
            <a:r>
              <a:rPr lang="en-US" sz="15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Constrained by shi3 and shi4. This is what actually executes — the station's order queue is built from it. Carries no coefficient of its own.</a:t>
            </a:r>
          </a:p>
        </p:txBody>
      </p:sp>
      <p:sp>
        <p:nvSpPr>
          <p:cNvPr name="Text 495" id="495"/>
          <p:cNvSpPr txBox="true"/>
          <p:nvPr/>
        </p:nvSpPr>
        <p:spPr>
          <a:xfrm>
            <a:off x="571500" y="5536184"/>
            <a:ext cx="8147304" cy="36576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40"/>
              </a:lnSpc>
              <a:buNone/>
            </a:pPr>
            <a:r>
              <a:rPr lang="en-US" sz="170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Substituting the shi4 equality</a:t>
            </a:r>
          </a:p>
        </p:txBody>
      </p:sp>
      <p:pic>
        <p:nvPicPr>
          <p:cNvPr id="496" name="Equation 4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011672"/>
            <a:ext cx="1652778" cy="454914"/>
          </a:xfrm>
          <a:prstGeom prst="rect">
            <a:avLst/>
          </a:prstGeom>
        </p:spPr>
      </p:pic>
      <p:pic>
        <p:nvPicPr>
          <p:cNvPr id="497" name="Equation 4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686042"/>
            <a:ext cx="3783330" cy="454914"/>
          </a:xfrm>
          <a:prstGeom prst="rect">
            <a:avLst/>
          </a:prstGeom>
        </p:spPr>
      </p:pic>
      <p:sp>
        <p:nvSpPr>
          <p:cNvPr name="Shape 498" id="498"/>
          <p:cNvSpPr/>
          <p:nvPr/>
        </p:nvSpPr>
        <p:spPr>
          <a:xfrm>
            <a:off x="9349740" y="1325880"/>
            <a:ext cx="8586216" cy="420624"/>
          </a:xfrm>
          <a:prstGeom prst="rect">
            <a:avLst/>
          </a:prstGeom>
          <a:solidFill>
            <a:srgbClr val="3B61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499" id="499"/>
          <p:cNvSpPr txBox="true"/>
          <p:nvPr/>
        </p:nvSpPr>
        <p:spPr>
          <a:xfrm>
            <a:off x="9532620" y="1426464"/>
            <a:ext cx="8220456" cy="25603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580"/>
              </a:lnSpc>
              <a:buNone/>
            </a:pPr>
            <a:r>
              <a:rPr lang="en-US" sz="137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 xml:space="preserve">Consequence  ·  An Implicit Realisation Rate</a:t>
            </a:r>
          </a:p>
        </p:txBody>
      </p:sp>
      <p:sp>
        <p:nvSpPr>
          <p:cNvPr name="Shape 500" id="500"/>
          <p:cNvSpPr/>
          <p:nvPr/>
        </p:nvSpPr>
        <p:spPr>
          <a:xfrm>
            <a:off x="9349740" y="1746504"/>
            <a:ext cx="8586216" cy="7488936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501" id="501"/>
          <p:cNvSpPr txBox="true"/>
          <p:nvPr/>
        </p:nvSpPr>
        <p:spPr>
          <a:xfrm>
            <a:off x="9569196" y="1892808"/>
            <a:ext cx="8147304" cy="438912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00"/>
              </a:lnSpc>
              <a:buNone/>
            </a:pPr>
            <a:r>
              <a:rPr lang="en-US" sz="1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The constant drops out of the argmin, so what the objective really pays is:</a:t>
            </a:r>
          </a:p>
        </p:txBody>
      </p:sp>
      <p:pic>
        <p:nvPicPr>
          <p:cNvPr id="502" name="Equation 5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9196" y="2478024"/>
            <a:ext cx="2318004" cy="269748"/>
          </a:xfrm>
          <a:prstGeom prst="rect">
            <a:avLst/>
          </a:prstGeom>
        </p:spPr>
      </p:pic>
      <p:pic>
        <p:nvPicPr>
          <p:cNvPr id="503" name="Equation 50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9196" y="2912364"/>
            <a:ext cx="2482596" cy="269748"/>
          </a:xfrm>
          <a:prstGeom prst="rect">
            <a:avLst/>
          </a:prstGeom>
        </p:spPr>
      </p:pic>
      <p:pic>
        <p:nvPicPr>
          <p:cNvPr id="504" name="Equation 5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9196" y="3584448"/>
            <a:ext cx="3161538" cy="498348"/>
          </a:xfrm>
          <a:prstGeom prst="rect">
            <a:avLst/>
          </a:prstGeom>
        </p:spPr>
      </p:pic>
      <p:sp>
        <p:nvSpPr>
          <p:cNvPr name="Text 505" id="505"/>
          <p:cNvSpPr txBox="true"/>
          <p:nvPr/>
        </p:nvSpPr>
        <p:spPr>
          <a:xfrm>
            <a:off x="9569196" y="4393692"/>
            <a:ext cx="8147304" cy="1097280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1960"/>
              </a:lnSpc>
              <a:buNone/>
            </a:pPr>
            <a:r>
              <a:rPr lang="en-US" sz="160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</a:rPr>
              <a:t xml:space="preserve">The ratio between the two layers is pinned by hand.</a:t>
            </a:r>
          </a:p>
          <a:p>
            <a:pPr algn="l">
              <a:lnSpc>
                <a:spcPts val="1860"/>
              </a:lnSpc>
              <a:spcBef>
                <a:spcPts val="140"/>
              </a:spcBef>
              <a:buNone/>
            </a:pPr>
            <a:r>
              <a:rPr lang="en-US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 xml:space="preserve">The long-term benefit it stands for is, in the authors' own words, “cannot be accurately quantified”.</a:t>
            </a:r>
          </a:p>
        </p:txBody>
      </p:sp>
      <p:sp>
        <p:nvSpPr>
          <p:cNvPr name="Shape 506" id="506"/>
          <p:cNvSpPr/>
          <p:nvPr/>
        </p:nvSpPr>
        <p:spPr>
          <a:xfrm>
            <a:off x="9569196" y="5618988"/>
            <a:ext cx="8147304" cy="25603"/>
          </a:xfrm>
          <a:prstGeom prst="rect">
            <a:avLst/>
          </a:prstGeom>
          <a:solidFill>
            <a:srgbClr val="3B61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name="Text 507" id="507"/>
          <p:cNvSpPr txBox="true"/>
          <p:nvPr/>
        </p:nvSpPr>
        <p:spPr>
          <a:xfrm>
            <a:off x="9569196" y="5856732"/>
            <a:ext cx="8147304" cy="3122676"/>
          </a:xfrm>
          <a:prstGeom prst="rect">
            <a:avLst/>
          </a:prstGeom>
          <a:noFill/>
        </p:spPr>
        <p:txBody>
          <a:bodyPr anchor="t" wrap="square" rtlCol="false" tIns="0" lIns="0" bIns="0" rIns="0"/>
          <a:lstStyle/>
          <a:p>
            <a:pPr algn="l">
              <a:lnSpc>
                <a:spcPts val="2040"/>
              </a:lnSpc>
              <a:buNone/>
            </a:pPr>
            <a:r>
              <a:rPr lang="en-US" sz="170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</a:rPr>
              <a:t xml:space="preserve">What this study changes</a:t>
            </a:r>
          </a:p>
          <a:p>
            <a:pPr algn="l">
              <a:lnSpc>
                <a:spcPts val="1900"/>
              </a:lnSpc>
              <a:spcBef>
                <a:spcPts val="170"/>
              </a:spcBef>
              <a:buNone/>
            </a:pPr>
            <a:r>
              <a:rPr lang="en-US" sz="15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</a:rPr>
              <a:t xml:space="preserve">Reducing the decision atom from the order to the item makes this ratio instance-dependent. It is therefore replaced by a quantity measured from the run in progress — the share of valued completions the binding layer actually takes — rather than a constant chosen in advance.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DAHR6N6JIg4</dc:identifier>
  <dcterms:modified xsi:type="dcterms:W3CDTF">2011-08-01T06:04:30Z</dcterms:modified>
  <cp:revision>1</cp:revision>
  <dc:title>Defense.pptx</dc:title>
</cp:coreProperties>
</file>