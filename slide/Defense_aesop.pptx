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libri (MS) Bold" charset="1" panose="020F0702030404030204"/>
      <p:regular r:id="rId8"/>
    </p:embeddedFont>
    <p:embeddedFont>
      <p:font typeface="Times New Roman Bold" charset="1" panose="02020803070505020304"/>
      <p:regular r:id="rId9"/>
    </p:embeddedFont>
    <p:embeddedFont>
      <p:font typeface="Calibri (MS)" charset="1" panose="020F0502020204030204"/>
      <p:regular r:id="rId10"/>
    </p:embeddedFont>
    <p:embeddedFont>
      <p:font typeface="Noto Sans T Chinese" charset="1" panose="020B0500000000000000"/>
      <p:regular r:id="rId11"/>
    </p:embeddedFont>
    <p:embeddedFont>
      <p:font typeface="Times New Roman" charset="1" panose="02020603050405020304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22" Target="../media/image21.png" Type="http://schemas.openxmlformats.org/officeDocument/2006/relationships/image"/><Relationship Id="rId23" Target="../media/image22.pn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pn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png" Type="http://schemas.openxmlformats.org/officeDocument/2006/relationships/image"/><Relationship Id="rId30" Target="../media/image29.png" Type="http://schemas.openxmlformats.org/officeDocument/2006/relationships/image"/><Relationship Id="rId31" Target="../media/image30.png" Type="http://schemas.openxmlformats.org/officeDocument/2006/relationships/image"/><Relationship Id="rId32" Target="../media/image31.png" Type="http://schemas.openxmlformats.org/officeDocument/2006/relationships/image"/><Relationship Id="rId33" Target="../media/image32.png" Type="http://schemas.openxmlformats.org/officeDocument/2006/relationships/image"/><Relationship Id="rId34" Target="../media/image33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7999920" cy="238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3652107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 — Online Joint OA–PS–TA Optimization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1673" y="1055266"/>
            <a:ext cx="7818120" cy="420624"/>
            <a:chOff x="0" y="0"/>
            <a:chExt cx="10424160" cy="560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7" y="1103334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Sets and Parameters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51673" y="1475890"/>
            <a:ext cx="7818120" cy="3265170"/>
            <a:chOff x="0" y="0"/>
            <a:chExt cx="10424160" cy="4353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4160" cy="4353560"/>
            </a:xfrm>
            <a:custGeom>
              <a:avLst/>
              <a:gdLst/>
              <a:ahLst/>
              <a:cxnLst/>
              <a:rect r="r" b="b" t="t" l="l"/>
              <a:pathLst>
                <a:path h="43535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4353560"/>
                  </a:lnTo>
                  <a:lnTo>
                    <a:pt x="0" y="4353560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569390" y="1648072"/>
            <a:ext cx="5204096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ending orders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69390" y="1980685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orkstations with free capacity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9390" y="2293867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SKUs in Warehouse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9390" y="260704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pods; Idle pods; Pods already assigned to Workstations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69390" y="2920231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 robots; Idle robots; Busy robots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69390" y="3247129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rders demanding SKU i; Pods holding SKU 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69390" y="3582028"/>
            <a:ext cx="5204096" cy="216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nits of SKU i in Order o; Units of SKU i on Pod 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69390" y="3896476"/>
            <a:ext cx="5474936" cy="41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9"/>
              </a:lnSpc>
            </a:pP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135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 capacity of Workstation;Counted in ORDERS; Pod-Station and Robot-Pod distance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129" y="1974238"/>
            <a:ext cx="445770" cy="221742"/>
            <a:chOff x="0" y="0"/>
            <a:chExt cx="594360" cy="2956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94360" cy="295656"/>
            </a:xfrm>
            <a:custGeom>
              <a:avLst/>
              <a:gdLst/>
              <a:ahLst/>
              <a:cxnLst/>
              <a:rect r="r" b="b" t="t" l="l"/>
              <a:pathLst>
                <a:path h="295656" w="594360">
                  <a:moveTo>
                    <a:pt x="0" y="0"/>
                  </a:moveTo>
                  <a:lnTo>
                    <a:pt x="594360" y="0"/>
                  </a:lnTo>
                  <a:lnTo>
                    <a:pt x="59436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129" y="2287420"/>
            <a:ext cx="114300" cy="221742"/>
            <a:chOff x="0" y="0"/>
            <a:chExt cx="152400" cy="2956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400" cy="295656"/>
            </a:xfrm>
            <a:custGeom>
              <a:avLst/>
              <a:gdLst/>
              <a:ahLst/>
              <a:cxnLst/>
              <a:rect r="r" b="b" t="t" l="l"/>
              <a:pathLst>
                <a:path h="29565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71129" y="2600602"/>
            <a:ext cx="1140714" cy="221742"/>
            <a:chOff x="0" y="0"/>
            <a:chExt cx="1520952" cy="2956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20952" cy="295656"/>
            </a:xfrm>
            <a:custGeom>
              <a:avLst/>
              <a:gdLst/>
              <a:ahLst/>
              <a:cxnLst/>
              <a:rect r="r" b="b" t="t" l="l"/>
              <a:pathLst>
                <a:path h="295656" w="1520952">
                  <a:moveTo>
                    <a:pt x="0" y="0"/>
                  </a:moveTo>
                  <a:lnTo>
                    <a:pt x="1520952" y="0"/>
                  </a:lnTo>
                  <a:lnTo>
                    <a:pt x="1520952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71129" y="2913784"/>
            <a:ext cx="1120140" cy="221742"/>
            <a:chOff x="0" y="0"/>
            <a:chExt cx="1493520" cy="29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93520" cy="295656"/>
            </a:xfrm>
            <a:custGeom>
              <a:avLst/>
              <a:gdLst/>
              <a:ahLst/>
              <a:cxnLst/>
              <a:rect r="r" b="b" t="t" l="l"/>
              <a:pathLst>
                <a:path h="295656" w="1493520">
                  <a:moveTo>
                    <a:pt x="0" y="0"/>
                  </a:moveTo>
                  <a:lnTo>
                    <a:pt x="1493520" y="0"/>
                  </a:lnTo>
                  <a:lnTo>
                    <a:pt x="1493520" y="295656"/>
                  </a:lnTo>
                  <a:lnTo>
                    <a:pt x="0" y="2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71129" y="3226966"/>
            <a:ext cx="854964" cy="249174"/>
            <a:chOff x="0" y="0"/>
            <a:chExt cx="1139952" cy="3322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39952" cy="332232"/>
            </a:xfrm>
            <a:custGeom>
              <a:avLst/>
              <a:gdLst/>
              <a:ahLst/>
              <a:cxnLst/>
              <a:rect r="r" b="b" t="t" l="l"/>
              <a:pathLst>
                <a:path h="332232" w="1139952">
                  <a:moveTo>
                    <a:pt x="0" y="0"/>
                  </a:moveTo>
                  <a:lnTo>
                    <a:pt x="1139952" y="0"/>
                  </a:lnTo>
                  <a:lnTo>
                    <a:pt x="1139952" y="332232"/>
                  </a:lnTo>
                  <a:lnTo>
                    <a:pt x="0" y="33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71129" y="3567580"/>
            <a:ext cx="848106" cy="237744"/>
            <a:chOff x="0" y="0"/>
            <a:chExt cx="1130808" cy="3169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0808" cy="316992"/>
            </a:xfrm>
            <a:custGeom>
              <a:avLst/>
              <a:gdLst/>
              <a:ahLst/>
              <a:cxnLst/>
              <a:rect r="r" b="b" t="t" l="l"/>
              <a:pathLst>
                <a:path h="316992" w="1130808">
                  <a:moveTo>
                    <a:pt x="0" y="0"/>
                  </a:moveTo>
                  <a:lnTo>
                    <a:pt x="1130808" y="0"/>
                  </a:lnTo>
                  <a:lnTo>
                    <a:pt x="1130808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71129" y="3896764"/>
            <a:ext cx="1204722" cy="230886"/>
            <a:chOff x="0" y="0"/>
            <a:chExt cx="1606296" cy="3078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06296" cy="307848"/>
            </a:xfrm>
            <a:custGeom>
              <a:avLst/>
              <a:gdLst/>
              <a:ahLst/>
              <a:cxnLst/>
              <a:rect r="r" b="b" t="t" l="l"/>
              <a:pathLst>
                <a:path h="307848" w="1606296">
                  <a:moveTo>
                    <a:pt x="0" y="0"/>
                  </a:moveTo>
                  <a:lnTo>
                    <a:pt x="1606296" y="0"/>
                  </a:lnTo>
                  <a:lnTo>
                    <a:pt x="1606296" y="307848"/>
                  </a:lnTo>
                  <a:lnTo>
                    <a:pt x="0" y="307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517636" y="1055266"/>
            <a:ext cx="9418320" cy="420624"/>
            <a:chOff x="0" y="0"/>
            <a:chExt cx="12557760" cy="56083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700516" y="1146325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(14)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517636" y="1475890"/>
            <a:ext cx="9418320" cy="1911096"/>
            <a:chOff x="0" y="0"/>
            <a:chExt cx="12557760" cy="25481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57760" cy="2548128"/>
            </a:xfrm>
            <a:custGeom>
              <a:avLst/>
              <a:gdLst/>
              <a:ahLst/>
              <a:cxnLst/>
              <a:rect r="r" b="b" t="t" l="l"/>
              <a:pathLst>
                <a:path h="2548128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2548128"/>
                  </a:lnTo>
                  <a:lnTo>
                    <a:pt x="0" y="2548128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737092" y="1827934"/>
            <a:ext cx="7431786" cy="441198"/>
            <a:chOff x="0" y="0"/>
            <a:chExt cx="9909048" cy="5882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09048" cy="588264"/>
            </a:xfrm>
            <a:custGeom>
              <a:avLst/>
              <a:gdLst/>
              <a:ahLst/>
              <a:cxnLst/>
              <a:rect r="r" b="b" t="t" l="l"/>
              <a:pathLst>
                <a:path h="588264" w="9909048">
                  <a:moveTo>
                    <a:pt x="0" y="0"/>
                  </a:moveTo>
                  <a:lnTo>
                    <a:pt x="9909048" y="0"/>
                  </a:lnTo>
                  <a:lnTo>
                    <a:pt x="9909048" y="588264"/>
                  </a:lnTo>
                  <a:lnTo>
                    <a:pt x="0" y="588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749265" y="2545836"/>
            <a:ext cx="3401568" cy="235458"/>
            <a:chOff x="0" y="0"/>
            <a:chExt cx="4535424" cy="3139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535424" cy="313944"/>
            </a:xfrm>
            <a:custGeom>
              <a:avLst/>
              <a:gdLst/>
              <a:ahLst/>
              <a:cxnLst/>
              <a:rect r="r" b="b" t="t" l="l"/>
              <a:pathLst>
                <a:path h="313944" w="4535424">
                  <a:moveTo>
                    <a:pt x="0" y="0"/>
                  </a:moveTo>
                  <a:lnTo>
                    <a:pt x="4535424" y="0"/>
                  </a:lnTo>
                  <a:lnTo>
                    <a:pt x="4535424" y="313944"/>
                  </a:lnTo>
                  <a:lnTo>
                    <a:pt x="0" y="313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8517636" y="3533290"/>
            <a:ext cx="9418320" cy="420624"/>
            <a:chOff x="0" y="0"/>
            <a:chExt cx="12557760" cy="5608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557760" cy="560832"/>
            </a:xfrm>
            <a:custGeom>
              <a:avLst/>
              <a:gdLst/>
              <a:ahLst/>
              <a:cxnLst/>
              <a:rect r="r" b="b" t="t" l="l"/>
              <a:pathLst>
                <a:path h="560832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8700516" y="3624349"/>
            <a:ext cx="9052560" cy="27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Constraints  (2) – (13)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517636" y="3953914"/>
            <a:ext cx="9418320" cy="5010912"/>
            <a:chOff x="0" y="0"/>
            <a:chExt cx="12557760" cy="6681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557760" cy="6681216"/>
            </a:xfrm>
            <a:custGeom>
              <a:avLst/>
              <a:gdLst/>
              <a:ahLst/>
              <a:cxnLst/>
              <a:rect r="r" b="b" t="t" l="l"/>
              <a:pathLst>
                <a:path h="6681216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6681216"/>
                  </a:lnTo>
                  <a:lnTo>
                    <a:pt x="0" y="6681216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23476" y="4100218"/>
            <a:ext cx="1968246" cy="390906"/>
            <a:chOff x="0" y="0"/>
            <a:chExt cx="2624328" cy="5212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24328" cy="521208"/>
            </a:xfrm>
            <a:custGeom>
              <a:avLst/>
              <a:gdLst/>
              <a:ahLst/>
              <a:cxnLst/>
              <a:rect r="r" b="b" t="t" l="l"/>
              <a:pathLst>
                <a:path h="521208" w="2624328">
                  <a:moveTo>
                    <a:pt x="0" y="0"/>
                  </a:moveTo>
                  <a:lnTo>
                    <a:pt x="2624328" y="0"/>
                  </a:lnTo>
                  <a:lnTo>
                    <a:pt x="262432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737092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(2)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23476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order to at most one workstation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523476" y="4841644"/>
            <a:ext cx="1396746" cy="228600"/>
            <a:chOff x="0" y="0"/>
            <a:chExt cx="1862328" cy="304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862328" cy="304800"/>
            </a:xfrm>
            <a:custGeom>
              <a:avLst/>
              <a:gdLst/>
              <a:ahLst/>
              <a:cxnLst/>
              <a:rect r="r" b="b" t="t" l="l"/>
              <a:pathLst>
                <a:path h="304800" w="1862328">
                  <a:moveTo>
                    <a:pt x="0" y="0"/>
                  </a:moveTo>
                  <a:lnTo>
                    <a:pt x="1862328" y="0"/>
                  </a:lnTo>
                  <a:lnTo>
                    <a:pt x="1862328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8737092" y="482716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(3)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523476" y="5087770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assignable order is not necessarily assigned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9523476" y="5429908"/>
            <a:ext cx="2055114" cy="390906"/>
            <a:chOff x="0" y="0"/>
            <a:chExt cx="2740152" cy="52120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40152" cy="521208"/>
            </a:xfrm>
            <a:custGeom>
              <a:avLst/>
              <a:gdLst/>
              <a:ahLst/>
              <a:cxnLst/>
              <a:rect r="r" b="b" t="t" l="l"/>
              <a:pathLst>
                <a:path h="521208" w="2740152">
                  <a:moveTo>
                    <a:pt x="0" y="0"/>
                  </a:moveTo>
                  <a:lnTo>
                    <a:pt x="2740152" y="0"/>
                  </a:lnTo>
                  <a:lnTo>
                    <a:pt x="2740152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8737092" y="549658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(4)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23476" y="5829196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assigned orders equal capacity minus unused capacity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523476" y="6357262"/>
            <a:ext cx="2980944" cy="422910"/>
            <a:chOff x="0" y="0"/>
            <a:chExt cx="3974592" cy="5638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74592" cy="563880"/>
            </a:xfrm>
            <a:custGeom>
              <a:avLst/>
              <a:gdLst/>
              <a:ahLst/>
              <a:cxnLst/>
              <a:rect r="r" b="b" t="t" l="l"/>
              <a:pathLst>
                <a:path h="563880" w="3974592">
                  <a:moveTo>
                    <a:pt x="0" y="0"/>
                  </a:moveTo>
                  <a:lnTo>
                    <a:pt x="3974592" y="0"/>
                  </a:lnTo>
                  <a:lnTo>
                    <a:pt x="3974592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737092" y="643993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(5)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523476" y="678855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 SKU i at w cannot exceed what the pods at w supply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523476" y="7316620"/>
            <a:ext cx="1762506" cy="390906"/>
            <a:chOff x="0" y="0"/>
            <a:chExt cx="2350008" cy="5212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350008" cy="521208"/>
            </a:xfrm>
            <a:custGeom>
              <a:avLst/>
              <a:gdLst/>
              <a:ahLst/>
              <a:cxnLst/>
              <a:rect r="r" b="b" t="t" l="l"/>
              <a:pathLst>
                <a:path h="521208" w="2350008">
                  <a:moveTo>
                    <a:pt x="0" y="0"/>
                  </a:moveTo>
                  <a:lnTo>
                    <a:pt x="2350008" y="0"/>
                  </a:lnTo>
                  <a:lnTo>
                    <a:pt x="2350008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8737092" y="738329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(6)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523476" y="7715908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goes to at most one workstation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9523476" y="8058046"/>
            <a:ext cx="1764792" cy="226314"/>
            <a:chOff x="0" y="0"/>
            <a:chExt cx="2353056" cy="301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353056" cy="301752"/>
            </a:xfrm>
            <a:custGeom>
              <a:avLst/>
              <a:gdLst/>
              <a:ahLst/>
              <a:cxnLst/>
              <a:rect r="r" b="b" t="t" l="l"/>
              <a:pathLst>
                <a:path h="301752" w="2353056">
                  <a:moveTo>
                    <a:pt x="0" y="0"/>
                  </a:moveTo>
                  <a:lnTo>
                    <a:pt x="2353056" y="0"/>
                  </a:lnTo>
                  <a:lnTo>
                    <a:pt x="2353056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8737092" y="8042425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(7)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523476" y="83041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inherit pods already assigned to w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4150340" y="4100218"/>
            <a:ext cx="2194560" cy="390906"/>
            <a:chOff x="0" y="0"/>
            <a:chExt cx="2926080" cy="52120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926080" cy="521208"/>
            </a:xfrm>
            <a:custGeom>
              <a:avLst/>
              <a:gdLst/>
              <a:ahLst/>
              <a:cxnLst/>
              <a:rect r="r" b="b" t="t" l="l"/>
              <a:pathLst>
                <a:path h="52120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73" id="73"/>
          <p:cNvSpPr txBox="true"/>
          <p:nvPr/>
        </p:nvSpPr>
        <p:spPr>
          <a:xfrm rot="0">
            <a:off x="13363956" y="41668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(8)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150340" y="4499506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dispatching a pod requires a robot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4150340" y="4841644"/>
            <a:ext cx="1490472" cy="368046"/>
            <a:chOff x="0" y="0"/>
            <a:chExt cx="1987296" cy="490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87296" cy="490728"/>
            </a:xfrm>
            <a:custGeom>
              <a:avLst/>
              <a:gdLst/>
              <a:ahLst/>
              <a:cxnLst/>
              <a:rect r="r" b="b" t="t" l="l"/>
              <a:pathLst>
                <a:path h="490728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490728"/>
                  </a:lnTo>
                  <a:lnTo>
                    <a:pt x="0" y="490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363956" y="4896889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(9)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150340" y="5218072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pod is transported by at most one robot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14150340" y="5560210"/>
            <a:ext cx="1490472" cy="393192"/>
            <a:chOff x="0" y="0"/>
            <a:chExt cx="1987296" cy="5242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987296" cy="524256"/>
            </a:xfrm>
            <a:custGeom>
              <a:avLst/>
              <a:gdLst/>
              <a:ahLst/>
              <a:cxnLst/>
              <a:rect r="r" b="b" t="t" l="l"/>
              <a:pathLst>
                <a:path h="524256" w="1987296">
                  <a:moveTo>
                    <a:pt x="0" y="0"/>
                  </a:moveTo>
                  <a:lnTo>
                    <a:pt x="1987296" y="0"/>
                  </a:lnTo>
                  <a:lnTo>
                    <a:pt x="1987296" y="524256"/>
                  </a:lnTo>
                  <a:lnTo>
                    <a:pt x="0" y="524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3363956" y="5628028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(10)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4150340" y="5961784"/>
            <a:ext cx="3566160" cy="24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robot transports at most one pod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4150340" y="6303922"/>
            <a:ext cx="1499616" cy="226314"/>
            <a:chOff x="0" y="0"/>
            <a:chExt cx="1999488" cy="301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9488" cy="301752"/>
            </a:xfrm>
            <a:custGeom>
              <a:avLst/>
              <a:gdLst/>
              <a:ahLst/>
              <a:cxnLst/>
              <a:rect r="r" b="b" t="t" l="l"/>
              <a:pathLst>
                <a:path h="301752" w="1999488">
                  <a:moveTo>
                    <a:pt x="0" y="0"/>
                  </a:moveTo>
                  <a:lnTo>
                    <a:pt x="1999488" y="0"/>
                  </a:lnTo>
                  <a:lnTo>
                    <a:pt x="1999488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3363956" y="628830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(11)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4150340" y="6550048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busy robot continues its current transport task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4150340" y="7078114"/>
            <a:ext cx="2857500" cy="226314"/>
            <a:chOff x="0" y="0"/>
            <a:chExt cx="3810000" cy="3017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0" cy="301752"/>
            </a:xfrm>
            <a:custGeom>
              <a:avLst/>
              <a:gdLst/>
              <a:ahLst/>
              <a:cxnLst/>
              <a:rect r="r" b="b" t="t" l="l"/>
              <a:pathLst>
                <a:path h="301752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01752"/>
                  </a:lnTo>
                  <a:lnTo>
                    <a:pt x="0" y="30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3363956" y="7062493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(12)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4150340" y="7324240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supply requires the order assigned AND the pod assigned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4150340" y="7852306"/>
            <a:ext cx="2473452" cy="390906"/>
            <a:chOff x="0" y="0"/>
            <a:chExt cx="3297936" cy="52120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7936" cy="521208"/>
            </a:xfrm>
            <a:custGeom>
              <a:avLst/>
              <a:gdLst/>
              <a:ahLst/>
              <a:cxnLst/>
              <a:rect r="r" b="b" t="t" l="l"/>
              <a:pathLst>
                <a:path h="521208" w="3297936">
                  <a:moveTo>
                    <a:pt x="0" y="0"/>
                  </a:moveTo>
                  <a:lnTo>
                    <a:pt x="3297936" y="0"/>
                  </a:lnTo>
                  <a:lnTo>
                    <a:pt x="3297936" y="521208"/>
                  </a:lnTo>
                  <a:lnTo>
                    <a:pt x="0" y="521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3363956" y="7918981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(13)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150340" y="8251594"/>
            <a:ext cx="356616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4"/>
              </a:lnSpc>
            </a:pPr>
            <a:r>
              <a:rPr lang="en-US" sz="12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newly assigned pod must supply at least one assigned order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-132" r="-3" b="-138"/>
              </a:stretch>
            </a:blip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0" id="10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78650" r="0" b="-178648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352415" y="4840882"/>
            <a:ext cx="7818120" cy="4123944"/>
            <a:chOff x="0" y="0"/>
            <a:chExt cx="10424160" cy="54985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424160" cy="5498592"/>
            </a:xfrm>
            <a:custGeom>
              <a:avLst/>
              <a:gdLst/>
              <a:ahLst/>
              <a:cxnLst/>
              <a:rect r="r" b="b" t="t" l="l"/>
              <a:pathLst>
                <a:path h="549859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498592"/>
                  </a:lnTo>
                  <a:lnTo>
                    <a:pt x="0" y="5498592"/>
                  </a:lnTo>
                  <a:close/>
                </a:path>
              </a:pathLst>
            </a:custGeom>
            <a:solidFill>
              <a:srgbClr val="EDF3FC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534553" y="5538998"/>
            <a:ext cx="7379208" cy="1982476"/>
            <a:chOff x="0" y="0"/>
            <a:chExt cx="9838944" cy="2643302"/>
          </a:xfrm>
        </p:grpSpPr>
        <p:grpSp>
          <p:nvGrpSpPr>
            <p:cNvPr name="Group 105" id="105"/>
            <p:cNvGrpSpPr/>
            <p:nvPr/>
          </p:nvGrpSpPr>
          <p:grpSpPr>
            <a:xfrm rot="0">
              <a:off x="0" y="0"/>
              <a:ext cx="502920" cy="335280"/>
              <a:chOff x="0" y="0"/>
              <a:chExt cx="502920" cy="335280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502920" cy="335280"/>
              </a:xfrm>
              <a:custGeom>
                <a:avLst/>
                <a:gdLst/>
                <a:ahLst/>
                <a:cxnLst/>
                <a:rect r="r" b="b" t="t" l="l"/>
                <a:pathLst>
                  <a:path h="335280" w="502920">
                    <a:moveTo>
                      <a:pt x="0" y="0"/>
                    </a:moveTo>
                    <a:lnTo>
                      <a:pt x="502920" y="0"/>
                    </a:lnTo>
                    <a:lnTo>
                      <a:pt x="502920" y="335280"/>
                    </a:lnTo>
                    <a:lnTo>
                      <a:pt x="0" y="3352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5"/>
                <a:stretch>
                  <a:fillRect l="0" t="0" r="0" b="0"/>
                </a:stretch>
              </a:blipFill>
            </p:spPr>
          </p:sp>
        </p:grpSp>
        <p:sp>
          <p:nvSpPr>
            <p:cNvPr name="TextBox 107" id="107"/>
            <p:cNvSpPr txBox="true"/>
            <p:nvPr/>
          </p:nvSpPr>
          <p:spPr>
            <a:xfrm rot="0">
              <a:off x="2377440" y="4661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1F3864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COULD be assigned to Workstation — not slot-limited</a:t>
              </a:r>
            </a:p>
          </p:txBody>
        </p:sp>
        <p:grpSp>
          <p:nvGrpSpPr>
            <p:cNvPr name="Group 108" id="108"/>
            <p:cNvGrpSpPr/>
            <p:nvPr/>
          </p:nvGrpSpPr>
          <p:grpSpPr>
            <a:xfrm rot="0">
              <a:off x="0" y="457200"/>
              <a:ext cx="499872" cy="329184"/>
              <a:chOff x="0" y="0"/>
              <a:chExt cx="499872" cy="329184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99872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99872">
                    <a:moveTo>
                      <a:pt x="0" y="0"/>
                    </a:moveTo>
                    <a:lnTo>
                      <a:pt x="499872" y="0"/>
                    </a:lnTo>
                    <a:lnTo>
                      <a:pt x="499872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6"/>
                <a:stretch>
                  <a:fillRect l="0" t="0" r="0" b="0"/>
                </a:stretch>
              </a:blipFill>
            </p:spPr>
          </p:sp>
        </p:grpSp>
        <p:sp>
          <p:nvSpPr>
            <p:cNvPr name="TextBox 110" id="110"/>
            <p:cNvSpPr txBox="true"/>
            <p:nvPr/>
          </p:nvSpPr>
          <p:spPr>
            <a:xfrm rot="0">
              <a:off x="2377440" y="458813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sz="140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rder o IS assigned to Workstation — consumes a slot</a:t>
              </a:r>
            </a:p>
          </p:txBody>
        </p:sp>
        <p:grpSp>
          <p:nvGrpSpPr>
            <p:cNvPr name="Group 111" id="111"/>
            <p:cNvGrpSpPr/>
            <p:nvPr/>
          </p:nvGrpSpPr>
          <p:grpSpPr>
            <a:xfrm rot="0">
              <a:off x="0" y="908304"/>
              <a:ext cx="478536" cy="329184"/>
              <a:chOff x="0" y="0"/>
              <a:chExt cx="478536" cy="329184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47853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78536">
                    <a:moveTo>
                      <a:pt x="0" y="0"/>
                    </a:moveTo>
                    <a:lnTo>
                      <a:pt x="478536" y="0"/>
                    </a:lnTo>
                    <a:lnTo>
                      <a:pt x="47853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7"/>
                <a:stretch>
                  <a:fillRect l="0" t="0" r="0" b="0"/>
                </a:stretch>
              </a:blipFill>
            </p:spPr>
          </p:sp>
        </p:grpSp>
        <p:sp>
          <p:nvSpPr>
            <p:cNvPr name="TextBox 113" id="113"/>
            <p:cNvSpPr txBox="true"/>
            <p:nvPr/>
          </p:nvSpPr>
          <p:spPr>
            <a:xfrm rot="0">
              <a:off x="2377440" y="909917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od p is assigned to Workstation w</a:t>
              </a:r>
            </a:p>
          </p:txBody>
        </p:sp>
        <p:grpSp>
          <p:nvGrpSpPr>
            <p:cNvPr name="Group 114" id="114"/>
            <p:cNvGrpSpPr/>
            <p:nvPr/>
          </p:nvGrpSpPr>
          <p:grpSpPr>
            <a:xfrm rot="0">
              <a:off x="0" y="1359408"/>
              <a:ext cx="441960" cy="329184"/>
              <a:chOff x="0" y="0"/>
              <a:chExt cx="441960" cy="329184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441960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441960">
                    <a:moveTo>
                      <a:pt x="0" y="0"/>
                    </a:moveTo>
                    <a:lnTo>
                      <a:pt x="441960" y="0"/>
                    </a:lnTo>
                    <a:lnTo>
                      <a:pt x="441960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/>
                <a:stretch>
                  <a:fillRect l="0" t="0" r="0" b="0"/>
                </a:stretch>
              </a:blipFill>
            </p:spPr>
          </p:sp>
        </p:grpSp>
        <p:sp>
          <p:nvSpPr>
            <p:cNvPr name="TextBox 116" id="116"/>
            <p:cNvSpPr txBox="true"/>
            <p:nvPr/>
          </p:nvSpPr>
          <p:spPr>
            <a:xfrm rot="0">
              <a:off x="2377440" y="1361021"/>
              <a:ext cx="7461504" cy="2949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obot r transports Pod p — task allocation is inside the model</a:t>
              </a:r>
            </a:p>
          </p:txBody>
        </p:sp>
        <p:grpSp>
          <p:nvGrpSpPr>
            <p:cNvPr name="Group 117" id="117"/>
            <p:cNvGrpSpPr/>
            <p:nvPr/>
          </p:nvGrpSpPr>
          <p:grpSpPr>
            <a:xfrm rot="0">
              <a:off x="0" y="1810512"/>
              <a:ext cx="676656" cy="329184"/>
              <a:chOff x="0" y="0"/>
              <a:chExt cx="676656" cy="329184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676656" cy="329184"/>
              </a:xfrm>
              <a:custGeom>
                <a:avLst/>
                <a:gdLst/>
                <a:ahLst/>
                <a:cxnLst/>
                <a:rect r="r" b="b" t="t" l="l"/>
                <a:pathLst>
                  <a:path h="329184" w="676656">
                    <a:moveTo>
                      <a:pt x="0" y="0"/>
                    </a:moveTo>
                    <a:lnTo>
                      <a:pt x="676656" y="0"/>
                    </a:lnTo>
                    <a:lnTo>
                      <a:pt x="676656" y="329184"/>
                    </a:lnTo>
                    <a:lnTo>
                      <a:pt x="0" y="32918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9"/>
                <a:stretch>
                  <a:fillRect l="0" t="0" r="0" b="0"/>
                </a:stretch>
              </a:blipFill>
            </p:spPr>
          </p:sp>
        </p:grpSp>
        <p:sp>
          <p:nvSpPr>
            <p:cNvPr name="TextBox 119" id="119"/>
            <p:cNvSpPr txBox="true"/>
            <p:nvPr/>
          </p:nvSpPr>
          <p:spPr>
            <a:xfrm rot="0">
              <a:off x="2377440" y="1812125"/>
              <a:ext cx="7461504" cy="2950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uxiliary: pod p supplies order o at w</a:t>
              </a:r>
            </a:p>
          </p:txBody>
        </p:sp>
        <p:grpSp>
          <p:nvGrpSpPr>
            <p:cNvPr name="Group 120" id="120"/>
            <p:cNvGrpSpPr/>
            <p:nvPr/>
          </p:nvGrpSpPr>
          <p:grpSpPr>
            <a:xfrm rot="0">
              <a:off x="0" y="2261616"/>
              <a:ext cx="999744" cy="353568"/>
              <a:chOff x="0" y="0"/>
              <a:chExt cx="999744" cy="353568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999744" cy="353568"/>
              </a:xfrm>
              <a:custGeom>
                <a:avLst/>
                <a:gdLst/>
                <a:ahLst/>
                <a:cxnLst/>
                <a:rect r="r" b="b" t="t" l="l"/>
                <a:pathLst>
                  <a:path h="353568" w="999744">
                    <a:moveTo>
                      <a:pt x="0" y="0"/>
                    </a:moveTo>
                    <a:lnTo>
                      <a:pt x="999744" y="0"/>
                    </a:lnTo>
                    <a:lnTo>
                      <a:pt x="999744" y="353568"/>
                    </a:lnTo>
                    <a:lnTo>
                      <a:pt x="0" y="3535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/>
                <a:stretch>
                  <a:fillRect l="0" t="0" r="0" b="0"/>
                </a:stretch>
              </a:blipFill>
            </p:spPr>
          </p:sp>
        </p:grpSp>
        <p:sp>
          <p:nvSpPr>
            <p:cNvPr name="TextBox 122" id="122"/>
            <p:cNvSpPr txBox="true"/>
            <p:nvPr/>
          </p:nvSpPr>
          <p:spPr>
            <a:xfrm rot="0">
              <a:off x="2377440" y="2275421"/>
              <a:ext cx="7461504" cy="367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00"/>
                </a:lnSpc>
              </a:pPr>
              <a:r>
                <a:rPr lang="en-US" sz="14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unused capacity of workstation w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351673" y="4840560"/>
            <a:ext cx="7818120" cy="420624"/>
            <a:chOff x="0" y="0"/>
            <a:chExt cx="10424160" cy="5608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0424160" cy="560832"/>
            </a:xfrm>
            <a:custGeom>
              <a:avLst/>
              <a:gdLst/>
              <a:ahLst/>
              <a:cxnLst/>
              <a:rect r="r" b="b" t="t" l="l"/>
              <a:pathLst>
                <a:path h="560832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60832"/>
                  </a:lnTo>
                  <a:lnTo>
                    <a:pt x="0" y="560832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TextBox 125" id="125"/>
          <p:cNvSpPr txBox="true"/>
          <p:nvPr/>
        </p:nvSpPr>
        <p:spPr>
          <a:xfrm rot="0">
            <a:off x="535667" y="4907457"/>
            <a:ext cx="7452360" cy="277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5"/>
              </a:lnSpc>
            </a:pPr>
            <a:r>
              <a:rPr lang="en-US" sz="18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Variables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351673" y="8415424"/>
            <a:ext cx="7818863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4"/>
              </a:lnSpc>
              <a:spcBef>
                <a:spcPct val="0"/>
              </a:spcBef>
            </a:pPr>
            <a:r>
              <a:rPr lang="en-US" sz="1603" strike="noStrike" u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grpSp>
        <p:nvGrpSpPr>
          <p:cNvPr name="Group 127" id="127"/>
          <p:cNvGrpSpPr/>
          <p:nvPr/>
        </p:nvGrpSpPr>
        <p:grpSpPr>
          <a:xfrm rot="0">
            <a:off x="352415" y="8340064"/>
            <a:ext cx="7818863" cy="21315"/>
            <a:chOff x="0" y="0"/>
            <a:chExt cx="9838944" cy="2682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838944" cy="26797"/>
            </a:xfrm>
            <a:custGeom>
              <a:avLst/>
              <a:gdLst/>
              <a:ahLst/>
              <a:cxnLst/>
              <a:rect r="r" b="b" t="t" l="l"/>
              <a:pathLst>
                <a:path h="26797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26797"/>
                  </a:lnTo>
                  <a:lnTo>
                    <a:pt x="0" y="26797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02539" y="2503881"/>
            <a:ext cx="6414638" cy="1249637"/>
          </a:xfrm>
          <a:prstGeom prst="rect">
            <a:avLst/>
          </a:prstGeom>
        </p:spPr>
      </p:pic>
      <p:pic>
        <p:nvPicPr>
          <p:cNvPr name="Picture 130" id="13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4917355" y="2834223"/>
            <a:ext cx="2280529" cy="589836"/>
          </a:xfrm>
          <a:prstGeom prst="rect">
            <a:avLst/>
          </a:prstGeom>
        </p:spPr>
      </p:pic>
      <p:sp>
        <p:nvSpPr>
          <p:cNvPr name="TextBox 131" id="131"/>
          <p:cNvSpPr txBox="true"/>
          <p:nvPr/>
        </p:nvSpPr>
        <p:spPr>
          <a:xfrm rot="0">
            <a:off x="17265015" y="3005217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(16)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4335289" y="3019384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(15)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6740378" y="1933336"/>
            <a:ext cx="731520" cy="21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9"/>
              </a:lnSpc>
            </a:pPr>
            <a:r>
              <a:rPr lang="en-US" sz="1299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(14)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2569390" y="4360794"/>
            <a:ext cx="5596128" cy="21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3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OJOOPT decision standard - </a:t>
            </a:r>
            <a:r>
              <a:rPr lang="en-US" b="true" sz="1350" strike="noStrike" u="none">
                <a:solidFill>
                  <a:srgbClr val="FF313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from delta above</a:t>
            </a:r>
          </a:p>
        </p:txBody>
      </p:sp>
      <p:pic>
        <p:nvPicPr>
          <p:cNvPr name="Picture 135" id="135"/>
          <p:cNvPicPr>
            <a:picLocks noChangeAspect="true"/>
          </p:cNvPicPr>
          <p:nvPr/>
        </p:nvPicPr>
        <p:blipFill>
          <a:blip r:embed="rId33">
            <a:alphaModFix amt="70000"/>
          </a:blip>
          <a:stretch>
            <a:fillRect/>
          </a:stretch>
        </p:blipFill>
        <p:spPr>
          <a:xfrm rot="0">
            <a:off x="498462" y="4245122"/>
            <a:ext cx="872004" cy="346101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34">
            <a:alphaModFix amt="70000"/>
          </a:blip>
          <a:stretch>
            <a:fillRect/>
          </a:stretch>
        </p:blipFill>
        <p:spPr>
          <a:xfrm rot="0">
            <a:off x="549312" y="1659356"/>
            <a:ext cx="420164" cy="2546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284071" cy="51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 — Online Joint OA–PS–TA Order Splitting Optimization Model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95139"/>
            <a:ext cx="968978" cy="58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Defense_aesop</dc:title>
</cp:coreProperties>
</file>