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i="0">
                <a:solidFill>
                  <a:srgbClr val="B8801F"/>
                </a:solidFill>
                <a:latin typeface="Calibri"/>
              </a:rPr>
              <a:t>Chapter 05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Cambria"/>
              </a:rPr>
              <a:t>Updating λ within one decision epoch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33856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BF3E2"/>
          </a:solidFill>
          <a:ln w="17780">
            <a:solidFill>
              <a:srgbClr val="B88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B8801F"/>
                </a:solidFill>
                <a:latin typeface="Calibri"/>
              </a:rPr>
              <a:t>λ ← λ₀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B637D"/>
                </a:solidFill>
                <a:latin typeface="Calibri"/>
              </a:rPr>
              <a:t>measured from cumulative history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06440" y="1609344"/>
            <a:ext cx="0" cy="192024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89120" y="1819656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 w="12700">
            <a:solidFill>
              <a:srgbClr val="44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1E2761"/>
                </a:solidFill>
                <a:latin typeface="Calibri"/>
              </a:rPr>
              <a:t>Solve  min D − V  at λ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B637D"/>
                </a:solidFill>
                <a:latin typeface="Calibri"/>
              </a:rPr>
              <a:t>obtain D*, objective;   V* = (D* − objective) / 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06440" y="2386584"/>
            <a:ext cx="0" cy="164592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4389120" y="2569464"/>
            <a:ext cx="283464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44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E2761"/>
                </a:solidFill>
                <a:latin typeface="Calibri"/>
              </a:rPr>
              <a:t>V*  ≤  0 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23759" y="2898648"/>
            <a:ext cx="576072" cy="0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23759" y="2660904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0">
                <a:solidFill>
                  <a:srgbClr val="5B637D"/>
                </a:solidFill>
                <a:latin typeface="Calibri"/>
              </a:rPr>
              <a:t>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19" y="2624328"/>
            <a:ext cx="3017520" cy="54864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 w="12700">
            <a:solidFill>
              <a:srgbClr val="44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1E2761"/>
                </a:solidFill>
                <a:latin typeface="Calibri"/>
              </a:rPr>
              <a:t>λ ← 2λ,  re-solve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B637D"/>
                </a:solidFill>
                <a:latin typeface="Calibri"/>
              </a:rPr>
              <a:t>threshold too low to reward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3136392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0">
                <a:solidFill>
                  <a:srgbClr val="5B637D"/>
                </a:solidFill>
                <a:latin typeface="Calibri"/>
              </a:rPr>
              <a:t>no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227832"/>
            <a:ext cx="0" cy="128016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4389120" y="3374136"/>
            <a:ext cx="283464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44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E2761"/>
                </a:solidFill>
                <a:latin typeface="Calibri"/>
              </a:rPr>
              <a:t>| objective |  ≤  tolerance 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59" y="3703320"/>
            <a:ext cx="576072" cy="0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23759" y="3465576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0">
                <a:solidFill>
                  <a:srgbClr val="5B637D"/>
                </a:solidFill>
                <a:latin typeface="Calibri"/>
              </a:rP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19" y="3429000"/>
            <a:ext cx="3017520" cy="548640"/>
          </a:xfrm>
          <a:prstGeom prst="roundRect">
            <a:avLst>
              <a:gd name="adj" fmla="val 12000"/>
            </a:avLst>
          </a:prstGeom>
          <a:solidFill>
            <a:srgbClr val="E6EAF5"/>
          </a:solidFill>
          <a:ln w="12700">
            <a:solidFill>
              <a:srgbClr val="44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STOP — break-even reached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B637D"/>
                </a:solidFill>
                <a:latin typeface="Calibri"/>
              </a:rPr>
              <a:t>no surplus left to price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3813048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0">
                <a:solidFill>
                  <a:srgbClr val="5B637D"/>
                </a:solidFill>
                <a:latin typeface="Calibri"/>
              </a:rP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6440" y="4032504"/>
            <a:ext cx="0" cy="54864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89120" y="4105656"/>
            <a:ext cx="2834640" cy="548640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λₙₑₓₜ  =  D* / V*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B637D"/>
                </a:solidFill>
                <a:latin typeface="Calibri"/>
              </a:rPr>
              <a:t>Dinkelbach: price at what was actually achieved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06440" y="4654296"/>
            <a:ext cx="0" cy="146304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89120" y="4818888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 w="12700">
            <a:solidFill>
              <a:srgbClr val="44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1E2761"/>
                </a:solidFill>
                <a:latin typeface="Calibri"/>
              </a:rPr>
              <a:t>Trial solve at λₙₑₓₜ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B637D"/>
                </a:solidFill>
                <a:latin typeface="Calibri"/>
              </a:rPr>
              <a:t>recover the trial solution's V*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06440" y="5294375"/>
            <a:ext cx="0" cy="256033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4389120" y="5568696"/>
            <a:ext cx="2834640" cy="658368"/>
          </a:xfrm>
          <a:prstGeom prst="diamond">
            <a:avLst/>
          </a:prstGeom>
          <a:solidFill>
            <a:srgbClr val="FFFFFF"/>
          </a:solidFill>
          <a:ln w="20320">
            <a:solidFill>
              <a:srgbClr val="9C4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9C4F26"/>
                </a:solidFill>
                <a:latin typeface="Calibri"/>
              </a:rPr>
              <a:t>trial V*  ≤  0 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59" y="5897880"/>
            <a:ext cx="576072" cy="0"/>
          </a:xfrm>
          <a:prstGeom prst="line">
            <a:avLst/>
          </a:prstGeom>
          <a:ln w="17780">
            <a:solidFill>
              <a:srgbClr val="9C4F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23759" y="5660136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0">
                <a:solidFill>
                  <a:srgbClr val="9C4F26"/>
                </a:solidFill>
                <a:latin typeface="Calibri"/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19" y="5586984"/>
            <a:ext cx="3017520" cy="621792"/>
          </a:xfrm>
          <a:prstGeom prst="roundRect">
            <a:avLst>
              <a:gd name="adj" fmla="val 12000"/>
            </a:avLst>
          </a:prstGeom>
          <a:solidFill>
            <a:srgbClr val="F9F0E9"/>
          </a:solidFill>
          <a:ln w="17780">
            <a:solidFill>
              <a:srgbClr val="9C4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9C4F26"/>
                </a:solidFill>
                <a:latin typeface="Calibri"/>
              </a:rPr>
              <a:t>STOP — keep previous λ and solution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B637D"/>
                </a:solidFill>
                <a:latin typeface="Calibri"/>
              </a:rPr>
              <a:t>guards against overshooting into “do nothing”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5641848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i="0">
                <a:solidFill>
                  <a:srgbClr val="5B637D"/>
                </a:solidFill>
                <a:latin typeface="Calibri"/>
              </a:rPr>
              <a:t>no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547872" y="5897880"/>
            <a:ext cx="841248" cy="0"/>
          </a:xfrm>
          <a:prstGeom prst="line">
            <a:avLst/>
          </a:prstGeom>
          <a:ln w="12700">
            <a:solidFill>
              <a:srgbClr val="444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" y="5623560"/>
            <a:ext cx="2834640" cy="54864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 w="12700">
            <a:solidFill>
              <a:srgbClr val="44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1E2761"/>
                </a:solidFill>
                <a:latin typeface="Calibri"/>
              </a:rPr>
              <a:t>Adopt  λ ← λₙₑₓₜ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B637D"/>
                </a:solidFill>
                <a:latin typeface="Calibri"/>
              </a:rPr>
              <a:t>stop if the iteration cap is reached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057400" y="2103120"/>
            <a:ext cx="0" cy="3520440"/>
          </a:xfrm>
          <a:prstGeom prst="line">
            <a:avLst/>
          </a:prstGeom>
          <a:ln w="12700">
            <a:solidFill>
              <a:srgbClr val="444C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57400" y="2103120"/>
            <a:ext cx="2313432" cy="0"/>
          </a:xfrm>
          <a:prstGeom prst="line">
            <a:avLst/>
          </a:prstGeom>
          <a:ln w="12700">
            <a:solidFill>
              <a:srgbClr val="444C6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67128" y="3538728"/>
            <a:ext cx="2377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1">
                <a:solidFill>
                  <a:srgbClr val="5B637D"/>
                </a:solidFill>
                <a:latin typeface="Calibri"/>
              </a:rPr>
              <a:t>otherwise iterate again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