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M4G decides order assignment, pod selection and task allocation in one MILP, once per decision epoch.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Q(t) is filtered by stock: pod-SKU pairs with no inventory never become variables. That is what keeps the model tractable.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metres per line closed. Do not say cost function; the objective has no monetary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sunk/new split is structural, carried by the P_a subscript. No separate sunk-cost price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asked: a completed order earns lambda per line AND mu, roughly double. That is deliberate, not double counting by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hat means expected, not delivered. Every V term is a hatted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replaces the discount factor beta used in the earlier version. Slot filling is a priority, not a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V* &gt;= 0 line is the answer to 'can the denominator be negative'. It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items handled rather than orders completed: splitting creates WIP, which systematically understates completed orders over a finite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Hatted = valuation layer; unhatted = binding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5740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PROPOSED EXACT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1460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M4G — Online Joint OA–PS–TA Order-Splitting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69080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Minimise distance per unit of order progress, re-solved every epoch.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Two measured prices. Zero tuned constants.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858768"/>
            <a:ext cx="1371600" cy="32004"/>
          </a:xfrm>
          <a:prstGeom prst="rect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234440"/>
            <a:ext cx="384048" cy="384048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One solve decides all three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29000" cy="16916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88B2E"/>
                </a:solidFill>
                <a:latin typeface="Cambria"/>
              </a:rPr>
              <a:t>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E2761"/>
                </a:solidFill>
                <a:latin typeface="Calibri"/>
              </a:rPr>
              <a:t>Which orders occupy which station slots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91640"/>
            <a:ext cx="3429000" cy="16916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54296" y="192024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88B2E"/>
                </a:solidFill>
                <a:latin typeface="Cambria"/>
              </a:rPr>
              <a:t>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296" y="22860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E2761"/>
                </a:solidFill>
                <a:latin typeface="Calibri"/>
              </a:rPr>
              <a:t>Which pods are fetched, and to which station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1691640"/>
            <a:ext cx="3429000" cy="16916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48472" y="192024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88B2E"/>
                </a:solidFill>
                <a:latin typeface="Cambria"/>
              </a:rPr>
              <a:t>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22860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E2761"/>
                </a:solidFill>
                <a:latin typeface="Calibri"/>
              </a:rPr>
              <a:t>Which robot is assigned to fetch each pod</a:t>
            </a:r>
          </a:p>
        </p:txBody>
      </p:sp>
      <p:pic>
        <p:nvPicPr>
          <p:cNvPr id="13" name="Picture 12" descr="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502" y="3657600"/>
            <a:ext cx="6997091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D"/>
                </a:solidFill>
                <a:latin typeface="Calibri"/>
              </a:rPr>
              <a:t>Sequential OA → PS → TA cannot price a pod trip against the work it unlocks. M4G solves them jointly, so travel and progress are traded off inside one objective.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OBJECTIVE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Objective: distance per unit of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789920" cy="14630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obj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920718"/>
            <a:ext cx="6583680" cy="91344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" y="3506724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3429000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D is the travel this decision creates, in metres — charged only for pods dispatched now; sunk trips are already paid for.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149343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071619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V is the progress this decision is credited with, priced in metres by the two measured rates.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791963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714239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The ratio is scale-free: it is the marginal cost of one unit of progress, so it stays comparable as the fleet, backlog and congestion change.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434583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5356859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Dinkelbach turns the fractional programme into a sequence of linear ones — no approximation, the fixed point is the exact minimiser.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OBJECTIVE FUNCTION · NUMERATOR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D — travel this decision creates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789920" cy="16002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obj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403" y="1901952"/>
            <a:ext cx="8439289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40156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C88B2E"/>
                </a:solidFill>
                <a:latin typeface="Calibri"/>
              </a:rPr>
              <a:t>Pod → station leg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340156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C88B2E"/>
                </a:solidFill>
                <a:latin typeface="Calibri"/>
              </a:rPr>
              <a:t>Robot → pod leg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146804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069080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Both sums range over P_a(t) only — pods already en route belong to P_b(t) and carry no charge, because that distance is sunk.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789424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711700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This is what makes the model prefer to keep drawing from a pod that is already on its way: extra units from it are free.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432044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5354320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Distance is a validated proxy for mechanical energy: 80.65 ± 1.32 J/m within a fixed physical setting (cv 1.6%).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OBJECTIVE FUNCTION · DENOMINATOR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V — progress, converted to metres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789920" cy="1325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obj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820" y="1828800"/>
            <a:ext cx="4246454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1546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The first term counts the lines the valuation layer expects to close, priced at λ (metres per line); the second counts the orders it expects to complete in full, priced at μ (metres per order).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Both are therefore in metres, which is what makes D − V a meaningful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343400"/>
            <a:ext cx="10789920" cy="12344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4531995"/>
            <a:ext cx="6400800" cy="84810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D"/>
                </a:solidFill>
                <a:latin typeface="Calibri"/>
              </a:rPr>
              <a:t>Both prices are running measurements of the system's own history — nothing is tuned. Completion is rewarded on top of the lines it contains, so the model has a reason to finish an order rather than close one line each across several.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MODEL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Two layers: what is worth fetching vs. what 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C88B2E"/>
                </a:solidFill>
                <a:latin typeface="Cambria"/>
              </a:rPr>
              <a:t>Valuation layer   q̂, ê, f̂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761"/>
                </a:solidFill>
                <a:latin typeface="Calibri"/>
              </a:rPr>
              <a:t>Not limited by station slots.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761"/>
                </a:solidFill>
                <a:latin typeface="Calibri"/>
              </a:rPr>
              <a:t>Answers: is this pod worth fetching at all?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761"/>
                </a:solidFill>
                <a:latin typeface="Calibri"/>
              </a:rPr>
              <a:t>A pod that can serve five lines is worth the trip even if only one slot is free now.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645920"/>
            <a:ext cx="5266944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28816" y="187451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761"/>
                </a:solidFill>
                <a:latin typeface="Cambria"/>
              </a:rPr>
              <a:t>Binding layer   q, e, 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3317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761"/>
                </a:solidFill>
                <a:latin typeface="Calibri"/>
              </a:rPr>
              <a:t>Limited by station slots (B3).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761"/>
                </a:solidFill>
                <a:latin typeface="Calibri"/>
              </a:rPr>
              <a:t>Answers: what can actually be committed this epoch?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E2761"/>
                </a:solidFill>
                <a:latin typeface="Calibri"/>
              </a:rPr>
              <a:t>Only these draws have physical effect.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1480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4395436"/>
            <a:ext cx="5669280" cy="4445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53492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E2761"/>
                </a:solidFill>
                <a:latin typeface="Calibri"/>
              </a:rPr>
              <a:t>Separating them stops station congestion from suppressing a good pod choice — the classic failure of slot-limited greedy assignment.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E2761"/>
                </a:solidFill>
                <a:latin typeface="Calibri"/>
              </a:rPr>
              <a:t>V is built entirely from the valuation layer, so a pod is priced by the work it makes possible, not only by what fits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MODEL STRUCTURE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So why does anything actually get picked?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E2761"/>
                </a:solidFill>
                <a:latin typeface="Calibri"/>
              </a:rPr>
              <a:t>V contains only valuation variables — the binding layer earns nothing in the objective. Execution is forced by structure, not by a 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10789920" cy="105156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851" y="2441448"/>
            <a:ext cx="6342393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429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8B2E"/>
                </a:solidFill>
                <a:latin typeface="Calibri"/>
              </a:rPr>
              <a:t>B4 — no empty binding: claiming a slot requires at least one unit actually drawn.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77639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702" y="4137659"/>
            <a:ext cx="5534690" cy="105156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22960" y="5609844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5532120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761"/>
                </a:solidFill>
                <a:latin typeface="Calibri"/>
              </a:rPr>
              <a:t>Minimising idle slots therefore maximises Σx, and every x needs a real draw — zero parameters, and it never enters the objective, so λ stays clean.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6218936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6141212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761"/>
                </a:solidFill>
                <a:latin typeface="Calibri"/>
              </a:rPr>
              <a:t>Stage 2 cannot be infeasible: the stage-1 optimum is itself a witness.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WHY A RATIO, NOT A LINEAR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Dinkelbach is also the threshold controller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789920" cy="10972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ink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575" y="1805939"/>
            <a:ext cx="5308944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8803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It tightens the acceptance threshold from “no worse than history” to “the best ratio currently reachable”. Measured by removing it: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20440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C88B2E"/>
                </a:solidFill>
                <a:latin typeface="Cambria"/>
              </a:rPr>
              <a:t>11.21 → 3.80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6168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B637D"/>
                </a:solidFill>
                <a:latin typeface="Calibri"/>
              </a:rPr>
              <a:t>λ: historical mean → current optimum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3520440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62856" y="370332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E2761"/>
                </a:solidFill>
                <a:latin typeface="Cambria"/>
              </a:rPr>
              <a:t>110 → 519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436168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B637D"/>
                </a:solidFill>
                <a:latin typeface="Calibri"/>
              </a:rPr>
              <a:t>pod trips without Dinkelbach (4.7×)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3520440"/>
            <a:ext cx="3429000" cy="141732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57031" y="3703320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1E2761"/>
                </a:solidFill>
                <a:latin typeface="Cambria"/>
              </a:rPr>
              <a:t>+38%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436168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5B637D"/>
                </a:solidFill>
                <a:latin typeface="Calibri"/>
              </a:rPr>
              <a:t>total travel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66360"/>
            <a:ext cx="10789920" cy="9601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" y="5321808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B637D"/>
                </a:solidFill>
                <a:latin typeface="Calibri"/>
              </a:rPr>
              <a:t>The denominator can never be negative — the null solution is feasible at objective 0, so:</a:t>
            </a:r>
          </a:p>
        </p:txBody>
      </p:sp>
      <p:pic>
        <p:nvPicPr>
          <p:cNvPr id="18" name="Picture 17" descr="v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954" y="5751576"/>
            <a:ext cx="5642186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What makes this a splitting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789920" cy="123444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96" y="1869948"/>
            <a:ext cx="8071303" cy="86868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22960" y="3232404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3154680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The draw variable carries both a pod index p and a station index w, so one order's demand may be served by several pods, at several stations, across several epochs.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875024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797300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M1G assigns a whole order to one station, all-or-nothing. Relaxing that to unit level is the modelling contribution.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517644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439920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Splitting raises pile-on: a pod trip serves more lines, so the same items move for less travel.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160263"/>
            <a:ext cx="68580" cy="68580"/>
          </a:xfrm>
          <a:prstGeom prst="ellipse">
            <a:avLst/>
          </a:prstGeom>
          <a:solidFill>
            <a:srgbClr val="C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5082539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761"/>
                </a:solidFill>
                <a:latin typeface="Calibri"/>
              </a:rPr>
              <a:t>The cost is work-in-process — partially served orders wait for consolidation, which the model tracks and the experiments quantify.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Decision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789920" cy="356616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v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7" y="1900744"/>
            <a:ext cx="9052560" cy="3056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4406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D"/>
                </a:solidFill>
                <a:latin typeface="Calibri"/>
              </a:rPr>
              <a:t>A hat marks the valuation layer; the same symbol without one is the binding layer. Every term in V is hatted.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37D"/>
                </a:solidFill>
                <a:latin typeface="Calibri"/>
              </a:rPr>
              <a:t>The idle-slot variable exists only for stations that still have free capacity — a full station never enters the model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Constraints — valuation layer</a:t>
            </a:r>
          </a:p>
        </p:txBody>
      </p:sp>
      <p:pic>
        <p:nvPicPr>
          <p:cNvPr id="4" name="Picture 3" descr="cons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486" y="1965960"/>
            <a:ext cx="5877122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5B637D"/>
                </a:solidFill>
                <a:latin typeface="Calibri"/>
              </a:rPr>
              <a:t>V1 ties every draw to a dispatched pod and its stock · V2 caps a line at its residual demand · V2a discounts inbound replenishment already on its way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5B637D"/>
                </a:solidFill>
                <a:latin typeface="Calibri"/>
              </a:rPr>
              <a:t>V3 credits a line only when it is drawn in full · V4 credits an order only when every one of its lines is closed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Constraints — resources</a:t>
            </a:r>
          </a:p>
        </p:txBody>
      </p:sp>
      <p:pic>
        <p:nvPicPr>
          <p:cNvPr id="4" name="Picture 3" descr="cons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160" y="1965960"/>
            <a:ext cx="5183774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4864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5B637D"/>
                </a:solidFill>
                <a:latin typeface="Calibri"/>
              </a:rPr>
              <a:t>R1 one station per pod · R2 a dispatch needs a carrier · R3 one pod per robot · R4 one robot per pod</a:t>
            </a:r>
          </a:p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5B637D"/>
                </a:solidFill>
                <a:latin typeface="Calibri"/>
              </a:rPr>
              <a:t>R5 pins pods already en route — their assignment is a physical fact, not a decision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0233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8B2E"/>
                </a:solidFill>
                <a:latin typeface="Calibri"/>
              </a:rPr>
              <a:t>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761"/>
                </a:solidFill>
                <a:latin typeface="Cambria"/>
              </a:rPr>
              <a:t>Constraints — binding layer</a:t>
            </a:r>
          </a:p>
        </p:txBody>
      </p:sp>
      <p:pic>
        <p:nvPicPr>
          <p:cNvPr id="4" name="Picture 3" descr="cons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69" y="1874519"/>
            <a:ext cx="5691957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064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5B637D"/>
                </a:solidFill>
                <a:latin typeface="Calibri"/>
              </a:rPr>
              <a:t>B1/B6 make the binding layer a subset of the valuation layer · B2 and B4 together give “drawing ⇔ occupying a slot” · B3s defines the idle-slot variable stage 2 minimises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88B2E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Two measured prices, zero tuned constants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2B3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41401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C88B2E"/>
                </a:solidFill>
                <a:latin typeface="Cambria"/>
              </a:rPr>
              <a:t>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24688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metres per line closed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Calibri"/>
              </a:rPr>
              <a:t>measured from cumulative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35808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2B3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316382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C88B2E"/>
                </a:solidFill>
                <a:latin typeface="Cambria"/>
              </a:rPr>
              <a:t>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21868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metres per order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2186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Calibri"/>
              </a:rPr>
              <a:t>measured from cumulative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85615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252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43000" y="3913631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6E799E"/>
                </a:solidFill>
                <a:latin typeface="Cambria"/>
              </a:rPr>
              <a:t>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96849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8F99BA"/>
                </a:solidFill>
                <a:latin typeface="Calibri"/>
              </a:rPr>
              <a:t>pod-tier sunk-cost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96849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1">
                <a:solidFill>
                  <a:srgbClr val="6E799E"/>
                </a:solidFill>
                <a:latin typeface="Calibri"/>
              </a:rPr>
              <a:t>removed — already carried by the pod-set subscript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35424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252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466344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6E799E"/>
                </a:solidFill>
                <a:latin typeface="Cambria"/>
              </a:rPr>
              <a:t>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71830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8F99BA"/>
                </a:solidFill>
                <a:latin typeface="Calibri"/>
              </a:rPr>
              <a:t>unit-level tie-break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71830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1">
                <a:solidFill>
                  <a:srgbClr val="6E799E"/>
                </a:solidFill>
                <a:latin typeface="Calibri"/>
              </a:rPr>
              <a:t>removed — the only hand-set constant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85232"/>
            <a:ext cx="10515600" cy="658368"/>
          </a:xfrm>
          <a:prstGeom prst="roundRect">
            <a:avLst>
              <a:gd name="adj" fmla="val 4000"/>
            </a:avLst>
          </a:prstGeom>
          <a:solidFill>
            <a:srgbClr val="252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43000" y="541324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6E799E"/>
                </a:solidFill>
                <a:latin typeface="Cambria"/>
              </a:rPr>
              <a:t>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46811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8F99BA"/>
                </a:solidFill>
                <a:latin typeface="Calibri"/>
              </a:rPr>
              <a:t>realisation-rate discount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4681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1">
                <a:solidFill>
                  <a:srgbClr val="6E799E"/>
                </a:solidFill>
                <a:latin typeface="Calibri"/>
              </a:rPr>
              <a:t>replaced by the stage-2 tie-break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Calibri"/>
              </a:rPr>
              <a:t>Every remaining price is a measurement of the system's own behaviour, so the model has nothing left to tune.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