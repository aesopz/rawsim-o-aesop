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2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65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EB8BD"/>
                </a:solidFill>
                <a:latin typeface="Consolas"/>
                <a:ea typeface="Consolas"/>
                <a:cs typeface="Consolas"/>
              </a:rPr>
              <a:t>RAWSimO  .  ORDER BATCHING  .  MILP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87168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800" b="1" i="0">
                <a:solidFill>
                  <a:srgbClr val="F4F2ED"/>
                </a:solidFill>
                <a:latin typeface="Microsoft JhengHei"/>
                <a:ea typeface="Microsoft JhengHei"/>
                <a:cs typeface="Microsoft JhengHei"/>
              </a:rPr>
              <a:t>M4G 拆單模型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B9C4CC"/>
                </a:solidFill>
                <a:latin typeface="Microsoft JhengHei"/>
                <a:ea typeface="Microsoft JhengHei"/>
                <a:cs typeface="Microsoft JhengHei"/>
              </a:rPr>
              <a:t>運作原理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24528"/>
            <a:ext cx="2011680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90288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CAAB4"/>
                </a:solidFill>
                <a:latin typeface="Microsoft JhengHei"/>
                <a:ea typeface="Microsoft JhengHei"/>
                <a:cs typeface="Microsoft JhengHei"/>
              </a:rPr>
              <a:t>件級的線上拆單 MILP：每次決策重建一次模型、解一次。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CAAB4"/>
                </a:solidFill>
                <a:latin typeface="Microsoft JhengHei"/>
                <a:ea typeface="Microsoft JhengHei"/>
                <a:cs typeface="Microsoft JhengHei"/>
              </a:rPr>
              <a:t>所有獎勵與成本都折算成公尺，換算率由模型自己的累積統計現算。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一頁看懂 M4G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如果只記得三件事，記這三件。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29967"/>
            <a:ext cx="3362858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29967"/>
            <a:ext cx="3362858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14015"/>
            <a:ext cx="27776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743200"/>
            <a:ext cx="277764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決策原子是「件」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474720"/>
            <a:ext cx="277764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取貨變數有四個下標：訂單 o、SKU i、貨架 p、站台 s。同一張訂單的同一條線，可以同時有來自不同貨架、不同站台的取貨變數——這就是拆單能力的來源。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4418" y="2029967"/>
            <a:ext cx="3362858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4418" y="2029967"/>
            <a:ext cx="3362858" cy="50292"/>
          </a:xfrm>
          <a:prstGeom prst="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7026" y="2414015"/>
            <a:ext cx="27776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B7C99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7026" y="2743200"/>
            <a:ext cx="277764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每個變數複製成兩份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7026" y="3474720"/>
            <a:ext cx="277764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估值層問「這台貨架總共值多少」，不受槽位限制、完全沒有副作用；綁定層問「這一刻真的塞得進去多少」，只有它會讓車子動起來。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1596" y="2029967"/>
            <a:ext cx="3362858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1596" y="2029967"/>
            <a:ext cx="3362858" cy="50292"/>
          </a:xfrm>
          <a:prstGeom prst="rect">
            <a:avLst/>
          </a:prstGeom>
          <a:solidFill>
            <a:srgbClr val="B8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4204" y="2414015"/>
            <a:ext cx="27776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8861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4204" y="2743200"/>
            <a:ext cx="277764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所有價格折算成公尺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4204" y="3474720"/>
            <a:ext cx="277764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五個價格的單位全是公尺，由模型自己的累積統計現算，不是設定檔常數。目標式因此是一個純距離的比值：每單位價值要付多少公尺。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5896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拆單的目的是提高 pile-on：一趟貨架行程若只服務一張訂單就很浪費；若能同時滿足七張訂單各自的一部分，同樣一趟的產出就高得多。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它在解什麼問題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每隔一段時間，系統要回答一次：現在派哪些貨架、到哪個站、服務哪些訂單的哪些商品。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12848"/>
            <a:ext cx="2148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41448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哪些訂單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現在處理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2734056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D5D0C6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2212848"/>
            <a:ext cx="2148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2441448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指派到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哪個站台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322783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2734056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D5D0C6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86983" y="2212848"/>
            <a:ext cx="2148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9864" y="2441448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從哪台貨架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取貨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9864" y="322783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7" y="2734056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D5D0C6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5" y="2212848"/>
            <a:ext cx="2148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5" y="2441448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派哪台車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去搬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5" y="322783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995927"/>
            <a:ext cx="10637215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206240"/>
            <a:ext cx="99971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這四件事不能分開解。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因為「這張訂單值不值得現在做」，完全取決於「剛好有沒有一台貨架已經在路上、順便就能把它的商品帶到」。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76088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M4G 把這四件事寫成同一個 MILP，決策原子是「件」。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同一張訂單的不同商品、甚至同一商品的不同件數，可以分給不同站台、不同時間點處理。拆單不是額外的功能，而是決策原子降到件之後自然容許的結果。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核心架構：兩層決策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看懂這一節，後面的數學都是細節。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29967"/>
            <a:ext cx="5112867" cy="2926080"/>
          </a:xfrm>
          <a:prstGeom prst="rect">
            <a:avLst/>
          </a:prstGeom>
          <a:solidFill>
            <a:srgbClr val="FFFFFF"/>
          </a:solidFill>
          <a:ln w="1778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29967"/>
            <a:ext cx="5112867" cy="50292"/>
          </a:xfrm>
          <a:prstGeom prst="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359151"/>
            <a:ext cx="452765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7C99"/>
                </a:solidFill>
                <a:latin typeface="Consolas"/>
                <a:ea typeface="Consolas"/>
                <a:cs typeface="Consolas"/>
              </a:rPr>
              <a:t>估值層 . VALUATION</a:t>
            </a:r>
          </a:p>
        </p:txBody>
      </p:sp>
      <p:pic>
        <p:nvPicPr>
          <p:cNvPr id="11" name="Picture 10" descr="a7d10ce1f9c2f0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761487"/>
            <a:ext cx="2044930" cy="4281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" y="3346703"/>
            <a:ext cx="4527651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不受站台槽位限制。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問的是：如果我把這台貨架叫過來，它總共能對整個 backlog 產生多少價值？就算只有一個槽位空著，也把它能服務的所有訂單都算進去。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7C99"/>
                </a:solidFill>
                <a:latin typeface="Microsoft JhengHei"/>
                <a:ea typeface="Microsoft JhengHei"/>
                <a:cs typeface="Microsoft JhengHei"/>
              </a:rPr>
              <a:t>完全沒有副作用——算出來的東西不會讓任何一台車動起來。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1587" y="2029967"/>
            <a:ext cx="5112867" cy="2926080"/>
          </a:xfrm>
          <a:prstGeom prst="rect">
            <a:avLst/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1587" y="2029967"/>
            <a:ext cx="5112867" cy="502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4195" y="2359151"/>
            <a:ext cx="452765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綁定層 . BINDING</a:t>
            </a:r>
          </a:p>
        </p:txBody>
      </p:sp>
      <p:pic>
        <p:nvPicPr>
          <p:cNvPr id="16" name="Picture 15" descr="d4a962cad959d0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195" y="2761487"/>
            <a:ext cx="2822170" cy="3283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94195" y="3346703"/>
            <a:ext cx="4527651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受站台槽位限制。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問的是：這一刻我真的能塞進槽位的是哪些？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只有它有副作用——只有它會讓車子被派出去、貨架被 claim、揀貨請求被登記、訂單被指派。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0235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綁定是估值的子集</a:t>
            </a:r>
          </a:p>
        </p:txBody>
      </p:sp>
      <p:pic>
        <p:nvPicPr>
          <p:cNvPr id="19" name="Picture 18" descr="04a7a34990414c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383" y="5376672"/>
            <a:ext cx="2130929" cy="30175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77240" y="5961888"/>
            <a:ext cx="10637215" cy="65836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108192"/>
            <a:ext cx="9997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估值層決定「值不值得叫這台貨架過來」，綁定層決定「這一刻要把誰放進槽位」。兩個問題的答案本來就不該相同。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SS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一次決策的生命週期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從快照到提交，中間發生的事。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8" y="2322575"/>
            <a:ext cx="18288" cy="3108960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157984"/>
            <a:ext cx="420624" cy="42062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942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2ED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85415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快照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2199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BuildSnapshot()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76272"/>
            <a:ext cx="68424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把當下的世界凍結成一組集合：待處理訂單與各自的殘餘需求、各站空槽數、儲區可派的貨架、已承諾的貨架、可用的車、每個 SKU 有哪些貨架有貨。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871215"/>
            <a:ext cx="420624" cy="42062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6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2ED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898647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建模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93522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BuildModel()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89503"/>
            <a:ext cx="68424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一次建好所有變數與限制式（R / V / B 三個系列）。沒有任何限制式引用價格——價格只出現在目標式。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584448"/>
            <a:ext cx="420624" cy="42062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75887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2ED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11879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定價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6484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M4GPricing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602736"/>
            <a:ext cx="68424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讀出這一刻的五個價格。全部由累積統計現算，不是設定檔常數。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297680"/>
            <a:ext cx="420624" cy="42062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8912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2ED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3251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求解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3616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SolveM4G()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315968"/>
            <a:ext cx="68424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只設目標式然後求解。Dinkelbach 迴圈換一個 λ 再解一遍，限制式完全不動、模型不必重建。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5010912"/>
            <a:ext cx="420624" cy="42062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102352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F2ED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03834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提交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074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CommitM4G()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029200"/>
            <a:ext cx="68424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只讀綁定層：claim 貨架給車、登記 inbound、掛揀貨請求、把訂單（或拆出來的子單）指派給站台。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797296"/>
            <a:ext cx="10637215" cy="84124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9848" y="5943600"/>
            <a:ext cx="100519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為什麼估值層必須沒有副作用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估值層為了替一條線估價，可能把某台貨架假設成「被派出去了」。若提交時照著估值層派車，那台貨架就會為了一個從來沒被真正接受的假設而白跑一趟。提交階段只認綁定層，就是在守這條界線。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SS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集合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每次決策重建一次，所有集合都是那一刻快照的內容。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pic>
        <p:nvPicPr>
          <p:cNvPr id="8" name="Picture 7" descr="ff95872ec841d3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096469"/>
            <a:ext cx="195349" cy="232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77639" y="2029967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待處理訂單（母單只帶殘餘需求）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2395727"/>
            <a:ext cx="8778240" cy="365760"/>
          </a:xfrm>
          <a:prstGeom prst="rect">
            <a:avLst/>
          </a:prstGeom>
          <a:solidFill>
            <a:srgbClr val="E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11" name="Picture 10" descr="9edfde7a21ae8b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462229"/>
            <a:ext cx="166254" cy="232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77639" y="2395727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仍有空槽的出貨站台</a:t>
            </a:r>
          </a:p>
        </p:txBody>
      </p:sp>
      <p:pic>
        <p:nvPicPr>
          <p:cNvPr id="13" name="Picture 12" descr="fc0a7d771bde56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2827989"/>
            <a:ext cx="166254" cy="2327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77639" y="2761487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目前可派遣的機器人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3127247"/>
            <a:ext cx="8778240" cy="365760"/>
          </a:xfrm>
          <a:prstGeom prst="rect">
            <a:avLst/>
          </a:prstGeom>
          <a:solidFill>
            <a:srgbClr val="E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16" name="Picture 15" descr="6c83920e6b38d0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193749"/>
            <a:ext cx="241069" cy="2327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77639" y="3127247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仍在儲區、本次決策才可能被派出的貨架</a:t>
            </a:r>
          </a:p>
        </p:txBody>
      </p:sp>
      <p:pic>
        <p:nvPicPr>
          <p:cNvPr id="18" name="Picture 17" descr="9fd02320cbe101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3559509"/>
            <a:ext cx="249381" cy="2327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77639" y="3493007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已承諾的貨架（在途或已到站）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" y="3858768"/>
            <a:ext cx="8778240" cy="365760"/>
          </a:xfrm>
          <a:prstGeom prst="rect">
            <a:avLst/>
          </a:prstGeom>
          <a:solidFill>
            <a:srgbClr val="E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21" name="Picture 20" descr="6e5bedf238a02b5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3910722"/>
            <a:ext cx="714894" cy="261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977639" y="38587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此刻正在揀貨口被處理的貨架</a:t>
            </a:r>
          </a:p>
        </p:txBody>
      </p:sp>
      <p:pic>
        <p:nvPicPr>
          <p:cNvPr id="23" name="Picture 22" descr="1143681c2fb925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" y="4291029"/>
            <a:ext cx="1064029" cy="2327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977639" y="422452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模型中的全部貨架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4590288"/>
            <a:ext cx="8778240" cy="365760"/>
          </a:xfrm>
          <a:prstGeom prst="rect">
            <a:avLst/>
          </a:prstGeom>
          <a:solidFill>
            <a:srgbClr val="E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26" name="Picture 25" descr="1fac3b7298fab04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" y="4656789"/>
            <a:ext cx="581890" cy="2327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977639" y="459028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帶有 SKU i 且有可用庫存的貨架</a:t>
            </a:r>
          </a:p>
        </p:txBody>
      </p:sp>
      <p:pic>
        <p:nvPicPr>
          <p:cNvPr id="28" name="Picture 27" descr="af89319a4f512c6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" y="5022549"/>
            <a:ext cx="182880" cy="2327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977639" y="495604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訂單 o 仍有殘餘需求的 SKU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" y="5321808"/>
            <a:ext cx="8778240" cy="365760"/>
          </a:xfrm>
          <a:prstGeom prst="rect">
            <a:avLst/>
          </a:prstGeom>
          <a:solidFill>
            <a:srgbClr val="E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31" name="Picture 30" descr="e49ea78b7a38f9b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256" y="5367528"/>
            <a:ext cx="1995054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977639" y="532180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其中本次決策有貨架能供貨的那些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2029967"/>
            <a:ext cx="1584655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2322575"/>
            <a:ext cx="11274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取貨變數的索引域</a:t>
            </a:r>
          </a:p>
        </p:txBody>
      </p:sp>
      <p:pic>
        <p:nvPicPr>
          <p:cNvPr id="35" name="Picture 34" descr="b1a9aa0b9e0528e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0" y="2761487"/>
            <a:ext cx="1662545" cy="2576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58400" y="3200400"/>
            <a:ext cx="112745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o 屬於 O，i 屬於有貨架能供貨的 SKU，p 屬於能供該 SKU 的貨架，s 屬於 S。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這四個下標就是拆單能力的來源：同一張訂單的同一條線，可以同時有來自不同貨架、不同站台的取貨變數。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SS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參數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全部來自快照，單位一律是「件」或「公尺」。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pic>
        <p:nvPicPr>
          <p:cNvPr id="8" name="Picture 7" descr="24b100b7686ce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101457"/>
            <a:ext cx="968432" cy="2410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00600" y="2029967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訂單 o 對 SKU i 的殘餘需求件數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2414015"/>
            <a:ext cx="10618927" cy="550302"/>
          </a:xfrm>
          <a:prstGeom prst="rect">
            <a:avLst/>
          </a:prstGeom>
          <a:solidFill>
            <a:srgbClr val="E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11" name="Picture 10" descr="862b4752feca7e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446020"/>
            <a:ext cx="1122218" cy="4862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00600" y="2414015"/>
            <a:ext cx="6217920" cy="5503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訂單 o 的殘餘總件數</a:t>
            </a:r>
          </a:p>
        </p:txBody>
      </p:sp>
      <p:pic>
        <p:nvPicPr>
          <p:cNvPr id="13" name="Picture 12" descr="35ccf139686ef8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021260"/>
            <a:ext cx="960120" cy="2701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00600" y="2964318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貨架 p 上 SKU i 的可用庫存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3348366"/>
            <a:ext cx="10618927" cy="384048"/>
          </a:xfrm>
          <a:prstGeom prst="rect">
            <a:avLst/>
          </a:prstGeom>
          <a:solidFill>
            <a:srgbClr val="E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16" name="Picture 15" descr="d0cd6a0bd255c7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421934"/>
            <a:ext cx="931025" cy="236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00600" y="3348366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站台 s 目前的空槽數</a:t>
            </a:r>
          </a:p>
        </p:txBody>
      </p:sp>
      <p:pic>
        <p:nvPicPr>
          <p:cNvPr id="18" name="Picture 17" descr="61bf5238e807da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3791434"/>
            <a:ext cx="656705" cy="2660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00600" y="3732414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貨架 p 送到站台 s 的距離（公尺）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" y="4116462"/>
            <a:ext cx="10618927" cy="384048"/>
          </a:xfrm>
          <a:prstGeom prst="rect">
            <a:avLst/>
          </a:prstGeom>
          <a:solidFill>
            <a:srgbClr val="E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21" name="Picture 20" descr="aef57c24adeea9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4175482"/>
            <a:ext cx="689956" cy="2660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00600" y="4116462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機器人 r 前往貨架 p 的距離（公尺）</a:t>
            </a:r>
          </a:p>
        </p:txBody>
      </p:sp>
      <p:pic>
        <p:nvPicPr>
          <p:cNvPr id="23" name="Picture 22" descr="ff961601ab61cb0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" y="4532514"/>
            <a:ext cx="1134687" cy="490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00600" y="4500510"/>
            <a:ext cx="6217920" cy="5544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SKU i 已在途／已到站的供給量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5054969"/>
            <a:ext cx="10618927" cy="384048"/>
          </a:xfrm>
          <a:prstGeom prst="rect">
            <a:avLst/>
          </a:prstGeom>
          <a:solidFill>
            <a:srgbClr val="E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26" name="Picture 25" descr="d30af99b771ac92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" y="5122302"/>
            <a:ext cx="1030778" cy="2493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00600" y="5054969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已承諾貨架 p 的目的地站台與搬運機器人</a:t>
            </a:r>
          </a:p>
        </p:txBody>
      </p:sp>
      <p:pic>
        <p:nvPicPr>
          <p:cNvPr id="28" name="Picture 27" descr="13a108dd6506e7e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" y="5506350"/>
            <a:ext cx="2685010" cy="24938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00600" y="5439017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自我校準的價格（公尺）與估值兌現率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6042521"/>
            <a:ext cx="10637215" cy="786384"/>
          </a:xfrm>
          <a:prstGeom prst="rect">
            <a:avLst/>
          </a:prstGeom>
          <a:solidFill>
            <a:srgbClr val="FF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" y="6188825"/>
            <a:ext cx="100519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8861F"/>
                </a:solidFill>
                <a:latin typeface="Microsoft JhengHei"/>
                <a:ea typeface="Microsoft JhengHei"/>
                <a:cs typeface="Microsoft JhengHei"/>
              </a:rPr>
              <a:t>五個價格不是參數表裡的常數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它們每次決策由模型自己的累積統計現算一次。這是目標式沒有任何人工權重的原因。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SS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決策變數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共用一組，估值與綁定各一組。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29967"/>
            <a:ext cx="1063721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579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共用 . SHARED</a:t>
            </a:r>
          </a:p>
        </p:txBody>
      </p:sp>
      <p:pic>
        <p:nvPicPr>
          <p:cNvPr id="10" name="Picture 9" descr="cb143637bd7d39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2450591"/>
            <a:ext cx="1334192" cy="2992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51760" y="24871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貨架 p 被送到站台 s</a:t>
            </a:r>
          </a:p>
        </p:txBody>
      </p:sp>
      <p:pic>
        <p:nvPicPr>
          <p:cNvPr id="12" name="Picture 11" descr="fc82b818b1874b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450591"/>
            <a:ext cx="1321723" cy="2992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2440" y="24871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機器人 r 負責搬運貨架 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00400"/>
            <a:ext cx="5090007" cy="2788920"/>
          </a:xfrm>
          <a:prstGeom prst="rect">
            <a:avLst/>
          </a:prstGeom>
          <a:solidFill>
            <a:srgbClr val="FFFFFF"/>
          </a:solidFill>
          <a:ln w="1651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200400"/>
            <a:ext cx="5090007" cy="45720"/>
          </a:xfrm>
          <a:prstGeom prst="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364991"/>
            <a:ext cx="457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7C99"/>
                </a:solidFill>
                <a:latin typeface="Consolas"/>
                <a:ea typeface="Consolas"/>
                <a:cs typeface="Consolas"/>
              </a:rPr>
              <a:t>估值層 . VALUATION</a:t>
            </a:r>
          </a:p>
        </p:txBody>
      </p:sp>
      <p:pic>
        <p:nvPicPr>
          <p:cNvPr id="17" name="Picture 16" descr="91856e5e81aeee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1" y="3766912"/>
            <a:ext cx="1205345" cy="3117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08960" y="3730752"/>
            <a:ext cx="25022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o 的 SKU i 在站 s 從貨架 p 取的件數</a:t>
            </a:r>
          </a:p>
        </p:txBody>
      </p:sp>
      <p:pic>
        <p:nvPicPr>
          <p:cNvPr id="19" name="Picture 18" descr="de0b4ffa52215b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200005"/>
            <a:ext cx="1209501" cy="28678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108960" y="4151376"/>
            <a:ext cx="25022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訂單 o 的第 i 條線被關閉</a:t>
            </a:r>
          </a:p>
        </p:txBody>
      </p:sp>
      <p:pic>
        <p:nvPicPr>
          <p:cNvPr id="21" name="Picture 20" descr="6ad15ae9faaaba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1" y="4622707"/>
            <a:ext cx="1163781" cy="2826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108960" y="4572000"/>
            <a:ext cx="25022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訂單 o 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5669279"/>
            <a:ext cx="457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B7C99"/>
                </a:solidFill>
                <a:latin typeface="Microsoft JhengHei"/>
                <a:ea typeface="Microsoft JhengHei"/>
                <a:cs typeface="Microsoft JhengHei"/>
              </a:rPr>
              <a:t>不受槽位限制、無副作用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3200400"/>
            <a:ext cx="5090007" cy="2788920"/>
          </a:xfrm>
          <a:prstGeom prst="rect">
            <a:avLst/>
          </a:prstGeom>
          <a:solidFill>
            <a:srgbClr val="FFFFFF"/>
          </a:solidFill>
          <a:ln w="1651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4447" y="3200400"/>
            <a:ext cx="5090007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0479" y="3364991"/>
            <a:ext cx="457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綁定層 . BINDING</a:t>
            </a:r>
          </a:p>
        </p:txBody>
      </p:sp>
      <p:pic>
        <p:nvPicPr>
          <p:cNvPr id="27" name="Picture 26" descr="20cb68d84b251f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0479" y="3789772"/>
            <a:ext cx="1201189" cy="2660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56167" y="3730752"/>
            <a:ext cx="25022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真正要取的件數</a:t>
            </a:r>
          </a:p>
        </p:txBody>
      </p:sp>
      <p:pic>
        <p:nvPicPr>
          <p:cNvPr id="29" name="Picture 28" descr="c900eb7003a4ae5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0479" y="4214552"/>
            <a:ext cx="1259378" cy="25769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56167" y="4151376"/>
            <a:ext cx="25022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訂單 o 佔用站台 s 的一個槽位</a:t>
            </a:r>
          </a:p>
        </p:txBody>
      </p:sp>
      <p:pic>
        <p:nvPicPr>
          <p:cNvPr id="31" name="Picture 30" descr="a1c2e419e91d5b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0479" y="4639333"/>
            <a:ext cx="1209501" cy="24938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56167" y="4572000"/>
            <a:ext cx="25022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線被真正關閉</a:t>
            </a:r>
          </a:p>
        </p:txBody>
      </p:sp>
      <p:pic>
        <p:nvPicPr>
          <p:cNvPr id="33" name="Picture 32" descr="42d493354b0c6ea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0479" y="5059957"/>
            <a:ext cx="1163781" cy="24938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56167" y="4992624"/>
            <a:ext cx="25022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訂單被真正完成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0479" y="5669279"/>
            <a:ext cx="457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受槽位限制、只有它會改變世界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19048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四個下標的取貨變數是模型能表達「半張訂單」的唯一原因：一張單的需求可以由多台貨架、多個站台、多個時間點共同滿足。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SS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目標函數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最小化。第一組是真實距離，其餘全部是被折算成公尺的價值。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29967"/>
            <a:ext cx="10637215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12E"/>
                </a:solidFill>
                <a:latin typeface="Consolas"/>
                <a:ea typeface="Consolas"/>
                <a:cs typeface="Consolas"/>
              </a:rPr>
              <a:t>min  Z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10972" cy="2889504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11" name="Picture 10" descr="39ce6aa40a814a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587752"/>
            <a:ext cx="1492134" cy="490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20439" y="2560320"/>
            <a:ext cx="566928" cy="5453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2212E"/>
                </a:solidFill>
                <a:latin typeface="Consolas"/>
                <a:ea typeface="Consolas"/>
                <a:cs typeface="Consolas"/>
              </a:rPr>
              <a:t>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60320"/>
            <a:ext cx="2103120" cy="5453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貨架 → 站台</a:t>
            </a:r>
          </a:p>
        </p:txBody>
      </p:sp>
      <p:pic>
        <p:nvPicPr>
          <p:cNvPr id="14" name="Picture 13" descr="8b9c64f8ab3a73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133066"/>
            <a:ext cx="1741516" cy="490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20439" y="3105634"/>
            <a:ext cx="566928" cy="5453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2212E"/>
                </a:solidFill>
                <a:latin typeface="Consolas"/>
                <a:ea typeface="Consolas"/>
                <a:cs typeface="Consolas"/>
              </a:rPr>
              <a:t>T2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105634"/>
            <a:ext cx="2103120" cy="5453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機器人 → 貨架</a:t>
            </a:r>
          </a:p>
        </p:txBody>
      </p:sp>
      <p:pic>
        <p:nvPicPr>
          <p:cNvPr id="17" name="Picture 16" descr="af9cb416f740cb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678381"/>
            <a:ext cx="2152996" cy="5112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20439" y="3650949"/>
            <a:ext cx="566928" cy="566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T3a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650949"/>
            <a:ext cx="2103120" cy="566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綁定關線</a:t>
            </a:r>
          </a:p>
        </p:txBody>
      </p:sp>
      <p:pic>
        <p:nvPicPr>
          <p:cNvPr id="20" name="Picture 19" descr="6ec70ee426835a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244478"/>
            <a:ext cx="1616825" cy="5112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20439" y="4217046"/>
            <a:ext cx="566928" cy="566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7C99"/>
                </a:solidFill>
                <a:latin typeface="Consolas"/>
                <a:ea typeface="Consolas"/>
                <a:cs typeface="Consolas"/>
              </a:rPr>
              <a:t>T3b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217046"/>
            <a:ext cx="2103120" cy="566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估值關線</a:t>
            </a:r>
          </a:p>
        </p:txBody>
      </p:sp>
      <p:pic>
        <p:nvPicPr>
          <p:cNvPr id="23" name="Picture 22" descr="7eaa2807dee382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4810575"/>
            <a:ext cx="1633450" cy="4655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20439" y="4783143"/>
            <a:ext cx="566928" cy="520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T4a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783143"/>
            <a:ext cx="2103120" cy="520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綁定完單</a:t>
            </a:r>
          </a:p>
        </p:txBody>
      </p:sp>
      <p:pic>
        <p:nvPicPr>
          <p:cNvPr id="26" name="Picture 25" descr="9488e321c7e033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79" y="2587752"/>
            <a:ext cx="1101436" cy="4655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0" y="2560320"/>
            <a:ext cx="566928" cy="520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B7C99"/>
                </a:solidFill>
                <a:latin typeface="Consolas"/>
                <a:ea typeface="Consolas"/>
                <a:cs typeface="Consolas"/>
              </a:rPr>
              <a:t>T4b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59" y="2560320"/>
            <a:ext cx="2103120" cy="520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估值完單</a:t>
            </a:r>
          </a:p>
        </p:txBody>
      </p:sp>
      <p:pic>
        <p:nvPicPr>
          <p:cNvPr id="29" name="Picture 28" descr="2c7e49bba3d996b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79" y="3108128"/>
            <a:ext cx="989214" cy="4613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44000" y="3080696"/>
            <a:ext cx="566928" cy="5162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T5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59" y="3080696"/>
            <a:ext cx="2103120" cy="5162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平手偏好</a:t>
            </a:r>
          </a:p>
        </p:txBody>
      </p:sp>
      <p:pic>
        <p:nvPicPr>
          <p:cNvPr id="32" name="Picture 31" descr="e3e9b262b92a84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79" y="3624349"/>
            <a:ext cx="1471352" cy="490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44000" y="3596917"/>
            <a:ext cx="566928" cy="5453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8861F"/>
                </a:solidFill>
                <a:latin typeface="Consolas"/>
                <a:ea typeface="Consolas"/>
                <a:cs typeface="Consolas"/>
              </a:rPr>
              <a:t>T6a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59" y="3596917"/>
            <a:ext cx="2103120" cy="5453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新派貨架（＋）</a:t>
            </a:r>
          </a:p>
        </p:txBody>
      </p:sp>
      <p:pic>
        <p:nvPicPr>
          <p:cNvPr id="35" name="Picture 34" descr="5bc73cc2a3b9110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2279" y="4169664"/>
            <a:ext cx="1475509" cy="5070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44000" y="4142232"/>
            <a:ext cx="566928" cy="561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8861F"/>
                </a:solidFill>
                <a:latin typeface="Consolas"/>
                <a:ea typeface="Consolas"/>
                <a:cs typeface="Consolas"/>
              </a:rPr>
              <a:t>T6b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59" y="4142232"/>
            <a:ext cx="2103120" cy="561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正在揀的貨架（－）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66927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T1／T2 是真實的公尺，所以 λ、μ、ρ、ε 也必須是公尺，否則整條式子在加不同單位的東西。這件事嚴格到建構子裡直接擋：偵測到會把距離改成秒的設定時，模型丟例外拒絕啟動。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SS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目標式的三個要點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為什麼是這些項、為什麼是這些係數。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29967"/>
            <a:ext cx="336285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29967"/>
            <a:ext cx="45720" cy="3108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340863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沉沒成本不重複計價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990087"/>
            <a:ext cx="279593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T1／T2 只有 P_a（本次才派出的貨架）付路程。已經在路上或已經在站上的貨架，那趟路無論這次決策做什麼都要跑完。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同一個原則在 T6 的貨架分級定價再出現一次：正在揀的貨架收 −ρ、新派的收 +ρ、在途的免費。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4418" y="2029967"/>
            <a:ext cx="336285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4418" y="2029967"/>
            <a:ext cx="45720" cy="3108960"/>
          </a:xfrm>
          <a:prstGeom prst="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5314" y="2340863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δ 把兩層縫在一起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5314" y="2990087"/>
            <a:ext cx="279593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一條線若同時被估值也被綁定，拿到 λ(1−δ) + λδ = λ，也就是全價；若只被估值、沒被綁定，只拿 λδ。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7C99"/>
                </a:solidFill>
                <a:latin typeface="Microsoft JhengHei"/>
                <a:ea typeface="Microsoft JhengHei"/>
                <a:cs typeface="Microsoft JhengHei"/>
              </a:rPr>
              <a:t>δ 的角色是：把「只是估值」的那份價值，打折到它歷史上真正被兌現的比率。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1596" y="2029967"/>
            <a:ext cx="336285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596" y="2029967"/>
            <a:ext cx="45720" cy="3108960"/>
          </a:xfrm>
          <a:prstGeom prst="rect">
            <a:avLst/>
          </a:prstGeom>
          <a:solidFill>
            <a:srgbClr val="B8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2492" y="2340863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ρ 是重置成本不是罰款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2492" y="2990087"/>
            <a:ext cx="279593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ρ 回答的是「這件現在不從眼前這台貨架拿，之後要拿要付多少公尺」。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8861F"/>
                </a:solidFill>
                <a:latin typeface="Microsoft JhengHei"/>
                <a:ea typeface="Microsoft JhengHei"/>
                <a:cs typeface="Microsoft JhengHei"/>
              </a:rPr>
              <a:t>從正在揀的貨架多拿一件是省下未來一趟；從新派的貨架多拿一件則真的多一趟。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394960"/>
            <a:ext cx="10637215" cy="84124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541264"/>
            <a:ext cx="100519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沒有任何限制式引用價格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價格只出現在目標式。因此換一個 λ 再解一次時，限制式完全不動、模型不必重建——這是它每次決策能重複求解還跑得動的原因。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SS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限制式：物理資源與估值層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三個系列：R 管物理資源、V 管估值層、B 管綁定層。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2996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2212E"/>
                </a:solidFill>
                <a:latin typeface="Consolas"/>
                <a:ea typeface="Consolas"/>
                <a:cs typeface="Consolas"/>
              </a:rPr>
              <a:t>R . 物理與資源</a:t>
            </a:r>
          </a:p>
        </p:txBody>
      </p:sp>
      <p:pic>
        <p:nvPicPr>
          <p:cNvPr id="9" name="Picture 8" descr="2bf23732cf90a3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91156"/>
            <a:ext cx="976745" cy="4364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91840" y="2359151"/>
            <a:ext cx="457200" cy="5004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59" y="2359151"/>
            <a:ext cx="2286000" cy="5004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一台貨架最多去一個站</a:t>
            </a:r>
          </a:p>
        </p:txBody>
      </p:sp>
      <p:pic>
        <p:nvPicPr>
          <p:cNvPr id="12" name="Picture 11" descr="45e282baad0093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91582"/>
            <a:ext cx="1442258" cy="4364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91840" y="2859578"/>
            <a:ext cx="457200" cy="5004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2859578"/>
            <a:ext cx="2286000" cy="5004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沒車搬就不能派</a:t>
            </a:r>
          </a:p>
        </p:txBody>
      </p:sp>
      <p:pic>
        <p:nvPicPr>
          <p:cNvPr id="15" name="Picture 14" descr="3e44bf88b680c2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92008"/>
            <a:ext cx="1039090" cy="4655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91840" y="3360004"/>
            <a:ext cx="457200" cy="529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R3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59" y="3360004"/>
            <a:ext cx="2286000" cy="529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一台車最多搬一台貨架</a:t>
            </a:r>
          </a:p>
        </p:txBody>
      </p:sp>
      <p:pic>
        <p:nvPicPr>
          <p:cNvPr id="18" name="Picture 17" descr="b926865efb38ea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21529"/>
            <a:ext cx="960120" cy="43641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91840" y="3889525"/>
            <a:ext cx="457200" cy="5004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R4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59" y="3889525"/>
            <a:ext cx="2286000" cy="5004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一台貨架最多一台車</a:t>
            </a:r>
          </a:p>
        </p:txBody>
      </p:sp>
      <p:pic>
        <p:nvPicPr>
          <p:cNvPr id="21" name="Picture 20" descr="119ced6e97ea9a1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64350"/>
            <a:ext cx="2123901" cy="2535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291840" y="4389951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R5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59" y="4389951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已承諾的釘死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202996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B7C99"/>
                </a:solidFill>
                <a:latin typeface="Consolas"/>
                <a:ea typeface="Consolas"/>
                <a:cs typeface="Consolas"/>
              </a:rPr>
              <a:t>V . 估值層</a:t>
            </a:r>
          </a:p>
        </p:txBody>
      </p:sp>
      <p:pic>
        <p:nvPicPr>
          <p:cNvPr id="25" name="Picture 24" descr="16294e3ec00175c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79" y="2391156"/>
            <a:ext cx="1205345" cy="36160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09760" y="2359151"/>
            <a:ext cx="457200" cy="4256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7C99"/>
                </a:solidFill>
                <a:latin typeface="Consolas"/>
                <a:ea typeface="Consolas"/>
                <a:cs typeface="Consolas"/>
              </a:rPr>
              <a:t>V1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359151"/>
            <a:ext cx="1371600" cy="4256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貨架庫存上限</a:t>
            </a:r>
          </a:p>
        </p:txBody>
      </p:sp>
      <p:pic>
        <p:nvPicPr>
          <p:cNvPr id="28" name="Picture 27" descr="78b4f14493dd629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79" y="2816767"/>
            <a:ext cx="1101436" cy="39069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09760" y="2784763"/>
            <a:ext cx="457200" cy="454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7C99"/>
                </a:solidFill>
                <a:latin typeface="Consolas"/>
                <a:ea typeface="Consolas"/>
                <a:cs typeface="Consolas"/>
              </a:rPr>
              <a:t>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784763"/>
            <a:ext cx="1371600" cy="454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殘餘需求上限</a:t>
            </a:r>
          </a:p>
        </p:txBody>
      </p:sp>
      <p:pic>
        <p:nvPicPr>
          <p:cNvPr id="31" name="Picture 30" descr="18123512cd0e6f6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79" y="3271473"/>
            <a:ext cx="3017520" cy="4114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9760" y="3239469"/>
            <a:ext cx="4572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7C99"/>
                </a:solidFill>
                <a:latin typeface="Consolas"/>
                <a:ea typeface="Consolas"/>
                <a:cs typeface="Consolas"/>
              </a:rPr>
              <a:t>V2a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3239469"/>
            <a:ext cx="13716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扣掉在途供給</a:t>
            </a:r>
          </a:p>
        </p:txBody>
      </p:sp>
      <p:pic>
        <p:nvPicPr>
          <p:cNvPr id="34" name="Picture 33" descr="58de240bc23ce9b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79" y="3746961"/>
            <a:ext cx="1325880" cy="39069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09760" y="3714957"/>
            <a:ext cx="457200" cy="454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7C99"/>
                </a:solidFill>
                <a:latin typeface="Consolas"/>
                <a:ea typeface="Consolas"/>
                <a:cs typeface="Consolas"/>
              </a:rPr>
              <a:t>V3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714957"/>
            <a:ext cx="1371600" cy="4547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關線要取滿</a:t>
            </a:r>
          </a:p>
        </p:txBody>
      </p:sp>
      <p:pic>
        <p:nvPicPr>
          <p:cNvPr id="37" name="Picture 36" descr="67cf1f9bfa86cd7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79" y="4254453"/>
            <a:ext cx="598516" cy="2327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509760" y="4169663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7C99"/>
                </a:solidFill>
                <a:latin typeface="Consolas"/>
                <a:ea typeface="Consolas"/>
                <a:cs typeface="Consolas"/>
              </a:rPr>
              <a:t>V4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4169663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完單＝線全關</a:t>
            </a:r>
          </a:p>
        </p:txBody>
      </p:sp>
      <p:pic>
        <p:nvPicPr>
          <p:cNvPr id="40" name="Picture 39" descr="8f3faf5cbd37683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79" y="4650555"/>
            <a:ext cx="1517072" cy="24522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09760" y="4572000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7C99"/>
                </a:solidFill>
                <a:latin typeface="Consolas"/>
                <a:ea typeface="Consolas"/>
                <a:cs typeface="Consolas"/>
              </a:rPr>
              <a:t>V4g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57200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覆蓋不全不算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047488"/>
            <a:ext cx="10637215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9848" y="5193792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7C99"/>
                </a:solidFill>
                <a:latin typeface="Microsoft JhengHei"/>
                <a:ea typeface="Microsoft JhengHei"/>
                <a:cs typeface="Microsoft JhengHei"/>
              </a:rPr>
              <a:t>V2a：扣掉已經在路上的供給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沒有它，估值層每次決策都會拿原始 backlog 去替新貨架打分——即使已經有貨架為了同一批需求正在路上，於是每次都重新替「再叫一台新貨架」找到理由。扣減以每個 SKU 彙總扣一次，不逐單扣。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5193792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7C99"/>
                </a:solidFill>
                <a:latin typeface="Microsoft JhengHei"/>
                <a:ea typeface="Microsoft JhengHei"/>
                <a:cs typeface="Microsoft JhengHei"/>
              </a:rPr>
              <a:t>V4g：沒有貨架能覆蓋就不得宣稱完成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一條沒有任何貨架能供貨的線，在模型裡連符號都不存在。若不擋，求解器可以免費把完成旗標設成 1 領走 μ；因為是負係數，模型還會主動偏好它根本做不完的訂單。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SS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限制式：綁定層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只有這一層會改變世界，所以槽位限制只出現在這裡。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pic>
        <p:nvPicPr>
          <p:cNvPr id="8" name="Picture 7" descr="87d5e26ef455d0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085663"/>
            <a:ext cx="1068185" cy="2909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0" y="2029967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B1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029967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綁定是估值的子集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" y="2432303"/>
            <a:ext cx="6949440" cy="504582"/>
          </a:xfrm>
          <a:prstGeom prst="rect">
            <a:avLst/>
          </a:prstGeom>
          <a:solidFill>
            <a:srgbClr val="E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12" name="Picture 11" descr="ae093b1de4c8e2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464308"/>
            <a:ext cx="1550323" cy="4405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40480" y="2432303"/>
            <a:ext cx="548640" cy="5045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B2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432303"/>
            <a:ext cx="3108960" cy="5045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要取貨就得佔一個槽</a:t>
            </a:r>
          </a:p>
        </p:txBody>
      </p:sp>
      <p:pic>
        <p:nvPicPr>
          <p:cNvPr id="15" name="Picture 14" descr="e69720d9f9b072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968890"/>
            <a:ext cx="1101436" cy="43641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40480" y="2936886"/>
            <a:ext cx="548640" cy="5004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B3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936886"/>
            <a:ext cx="3108960" cy="5004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站台槽位上限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" y="3437312"/>
            <a:ext cx="6949440" cy="504582"/>
          </a:xfrm>
          <a:prstGeom prst="rect">
            <a:avLst/>
          </a:prstGeom>
          <a:solidFill>
            <a:srgbClr val="E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19" name="Picture 18" descr="7e67273d7f2c12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469316"/>
            <a:ext cx="1288472" cy="44057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40480" y="3437312"/>
            <a:ext cx="548640" cy="5045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B4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437312"/>
            <a:ext cx="3108960" cy="5045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不取貨就不許佔槽</a:t>
            </a:r>
          </a:p>
        </p:txBody>
      </p:sp>
      <p:pic>
        <p:nvPicPr>
          <p:cNvPr id="22" name="Picture 21" descr="808422663bfe9a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3973899"/>
            <a:ext cx="1521229" cy="4405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40480" y="3941895"/>
            <a:ext cx="548640" cy="5045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B5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3941895"/>
            <a:ext cx="3108960" cy="5045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真正關線要取滿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" y="4446477"/>
            <a:ext cx="6949440" cy="402336"/>
          </a:xfrm>
          <a:prstGeom prst="rect">
            <a:avLst/>
          </a:prstGeom>
          <a:solidFill>
            <a:srgbClr val="E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26" name="Picture 25" descr="185bc440c35ba27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4518798"/>
            <a:ext cx="1616825" cy="25769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40480" y="4446477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B6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446477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綁定不得超過估值</a:t>
            </a:r>
          </a:p>
        </p:txBody>
      </p:sp>
      <p:pic>
        <p:nvPicPr>
          <p:cNvPr id="29" name="Picture 28" descr="50930f8bf764ec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" y="4939838"/>
            <a:ext cx="681643" cy="22028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840480" y="4848813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B7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4848813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真正完單要每條線都關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2029967"/>
            <a:ext cx="3322015" cy="3017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286000"/>
            <a:ext cx="27733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B8：拆單開關</a:t>
            </a:r>
          </a:p>
        </p:txBody>
      </p:sp>
      <p:pic>
        <p:nvPicPr>
          <p:cNvPr id="34" name="Picture 33" descr="77e6ab1e666c84f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2798063"/>
            <a:ext cx="1280160" cy="56526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66760" y="3346703"/>
            <a:ext cx="277337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加上這一條＝禁止拆單。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一張訂單只能佔用一個站台的槽位，於是它的需求必須整批在同一站被滿足。打開時估值層與綁定層會同時切換成整單語意。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不加這一條，模型才有「半張訂單」這個概念。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276088"/>
            <a:ext cx="10637215" cy="9144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" y="5431536"/>
            <a:ext cx="100519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B2 與 B4 是一對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B2 說「要在這站取貨就得先佔一個槽」，B4 說「佔了槽就得真的取貨」。少了 B4，求解器可以把槽位當停車場先佔起來卻不做事；少了 B2，取貨就不用付槽位的代價。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SS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價格從哪裡來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五個價格全部由跑到目前為止的累積統計現算。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2996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累積統計</a:t>
            </a:r>
          </a:p>
        </p:txBody>
      </p:sp>
      <p:pic>
        <p:nvPicPr>
          <p:cNvPr id="9" name="Picture 8" descr="744c26fef36fc2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2229"/>
            <a:ext cx="145472" cy="232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377439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累積行駛距離（公尺）</a:t>
            </a:r>
          </a:p>
        </p:txBody>
      </p:sp>
      <p:pic>
        <p:nvPicPr>
          <p:cNvPr id="11" name="Picture 10" descr="a403e399281991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62487"/>
            <a:ext cx="245225" cy="236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0" y="2779775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累積關閉線數</a:t>
            </a:r>
          </a:p>
        </p:txBody>
      </p:sp>
      <p:pic>
        <p:nvPicPr>
          <p:cNvPr id="13" name="Picture 12" descr="8a499c17b797f9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66901"/>
            <a:ext cx="274320" cy="2327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28800" y="3182111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累積完成訂單數</a:t>
            </a:r>
          </a:p>
        </p:txBody>
      </p:sp>
      <p:pic>
        <p:nvPicPr>
          <p:cNvPr id="15" name="Picture 14" descr="ef8725a965faef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69237"/>
            <a:ext cx="278476" cy="2327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0" y="3584447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累積揀取件數</a:t>
            </a:r>
          </a:p>
        </p:txBody>
      </p:sp>
      <p:pic>
        <p:nvPicPr>
          <p:cNvPr id="17" name="Picture 16" descr="67b6985de3cba8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071573"/>
            <a:ext cx="502920" cy="2327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28800" y="3986783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累積綁定／估值線數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79" y="1984248"/>
            <a:ext cx="10972" cy="2468880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029967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8861F"/>
                </a:solidFill>
                <a:latin typeface="Consolas"/>
                <a:ea typeface="Consolas"/>
                <a:cs typeface="Consolas"/>
              </a:rPr>
              <a:t>價格</a:t>
            </a:r>
          </a:p>
        </p:txBody>
      </p:sp>
      <p:pic>
        <p:nvPicPr>
          <p:cNvPr id="21" name="Picture 20" descr="6e52b448b11d0db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2488414"/>
            <a:ext cx="852054" cy="2535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29600" y="2377439"/>
            <a:ext cx="1417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8861F"/>
                </a:solidFill>
                <a:latin typeface="Consolas"/>
                <a:ea typeface="Consolas"/>
                <a:cs typeface="Consolas"/>
              </a:rPr>
              <a:t>公尺／條線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377439"/>
            <a:ext cx="163037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一條線值幾公尺——一公尺機器人移動的機會成本</a:t>
            </a:r>
          </a:p>
        </p:txBody>
      </p:sp>
      <p:pic>
        <p:nvPicPr>
          <p:cNvPr id="24" name="Picture 23" descr="05886115e5ef75d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2961824"/>
            <a:ext cx="1442258" cy="25769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0" y="2852927"/>
            <a:ext cx="1417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8861F"/>
                </a:solidFill>
                <a:latin typeface="Consolas"/>
                <a:ea typeface="Consolas"/>
                <a:cs typeface="Consolas"/>
              </a:rPr>
              <a:t>公尺／張訂單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852927"/>
            <a:ext cx="163037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讓模型偏好把某張單收尾，而不是到處各關一條</a:t>
            </a:r>
          </a:p>
        </p:txBody>
      </p:sp>
      <p:pic>
        <p:nvPicPr>
          <p:cNvPr id="27" name="Picture 26" descr="2769853f3e8244a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3439390"/>
            <a:ext cx="889461" cy="25353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0" y="3328415"/>
            <a:ext cx="1417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8861F"/>
                </a:solidFill>
                <a:latin typeface="Consolas"/>
                <a:ea typeface="Consolas"/>
                <a:cs typeface="Consolas"/>
              </a:rPr>
              <a:t>公尺／件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328415"/>
            <a:ext cx="163037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一件商品的重置成本：現在不拿，之後要付多少</a:t>
            </a:r>
          </a:p>
        </p:txBody>
      </p:sp>
      <p:pic>
        <p:nvPicPr>
          <p:cNvPr id="30" name="Picture 29" descr="6339bf69140dd4a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3921113"/>
            <a:ext cx="1300941" cy="24106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0" y="3803904"/>
            <a:ext cx="1417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8861F"/>
                </a:solidFill>
                <a:latin typeface="Consolas"/>
                <a:ea typeface="Consolas"/>
                <a:cs typeface="Consolas"/>
              </a:rPr>
              <a:t>量級遠低於 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803904"/>
            <a:ext cx="163037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僅供平手判斷</a:t>
            </a:r>
          </a:p>
        </p:txBody>
      </p:sp>
      <p:pic>
        <p:nvPicPr>
          <p:cNvPr id="33" name="Picture 32" descr="d430b9d5d4711ce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7800" y="4392445"/>
            <a:ext cx="3059083" cy="24938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0" y="4279392"/>
            <a:ext cx="1417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8861F"/>
                </a:solidFill>
                <a:latin typeface="Consolas"/>
                <a:ea typeface="Consolas"/>
                <a:cs typeface="Consolas"/>
              </a:rPr>
              <a:t>無單位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279392"/>
            <a:ext cx="163037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估值兌現率，依在途貨架數分層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910327"/>
            <a:ext cx="1063721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" y="5065775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7C99"/>
                </a:solidFill>
                <a:latin typeface="Microsoft JhengHei"/>
                <a:ea typeface="Microsoft JhengHei"/>
                <a:cs typeface="Microsoft JhengHei"/>
              </a:rPr>
              <a:t>為什麼 δ 要分層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綁定線數被槽位容量卡住，每次決策約 1.01 條、不隨在途貨架數改變，但估值線數會隨在途貨架數上升。多出來的覆蓋是綁定層證明吃不下的覆蓋，所以兌現率必須依在途貨架數分開統計。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065775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暖機期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累積線數不足 50 條之前統計太薄，改用 fallback 值。ρ／λ 的比值由 instance 的「每條線幾件」決定，不是獨立的第二個自由度——fallback 也必須守住這個不變量。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SS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δ：估值兌現率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估值層每算 100 條線的價值，綁定層實際上吃得下幾條。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29967"/>
            <a:ext cx="10637215" cy="1051560"/>
          </a:xfrm>
          <a:prstGeom prst="rect">
            <a:avLst/>
          </a:prstGeom>
          <a:solidFill>
            <a:srgbClr val="FFFFFF"/>
          </a:solidFill>
          <a:ln w="1651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pic>
        <p:nvPicPr>
          <p:cNvPr id="9" name="Picture 8" descr="abb4fbe2cb9651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286000"/>
            <a:ext cx="6442363" cy="2951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2724911"/>
            <a:ext cx="9814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累積綁定線數 ÷ 累積估值線數，依當下已承諾貨架數分層統計。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28415"/>
            <a:ext cx="5112867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511296"/>
            <a:ext cx="4527651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它衡量的是「這次決策、這台貨架」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而不是「這條線後來有沒有被完成」。後者會把別台車做的工算到這台車頭上，使每次派車看起來都超划算。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7C99"/>
                </a:solidFill>
                <a:latin typeface="Microsoft JhengHei"/>
                <a:ea typeface="Microsoft JhengHei"/>
                <a:cs typeface="Microsoft JhengHei"/>
              </a:rPr>
              <a:t>估值層算出來的價值不是收入，是選擇權——δ 就是那個選擇權的行使率。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1587" y="3328415"/>
            <a:ext cx="5112867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4195" y="3511296"/>
            <a:ext cx="4527651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它是量出來的，不是設定的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槽位寬鬆時綁定層吃得下大部分估值，δ 自然升高，模型更敢派車；槽位緊繃時 δ 自然下降，模型自動變保守。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不需要為不同 instance 重新調參——這是「自我校準」這個性質的具體內容。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340096"/>
            <a:ext cx="10637215" cy="8686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5504688"/>
            <a:ext cx="1005199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δ 與 V2a 是同一件事的兩個層次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V2a 扣掉的是已經在路上的「供給量」；δ 折掉的是估值層那份價值的「兌現率」。兩者都在防止模型為同一批需求重複付錢。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SS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λ 不是參數，是被解出來的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10180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目標式其實是一個比值問題的線性化——這解釋了為什麼所有價格都跟 λ 成比例。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37215" cy="13716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82935" y="62910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67F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29967"/>
            <a:ext cx="630936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212848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模型真正想最小化的是比值：每單位價值要付多少公尺</a:t>
            </a:r>
          </a:p>
        </p:txBody>
      </p:sp>
      <p:pic>
        <p:nvPicPr>
          <p:cNvPr id="10" name="Picture 9" descr="017f9dd38d96d2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596896"/>
            <a:ext cx="1238596" cy="2784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71800" y="263347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比值目標式不是線性的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9848" y="3108959"/>
            <a:ext cx="5724144" cy="10972"/>
          </a:xfrm>
          <a:prstGeom prst="rect">
            <a:avLst/>
          </a:prstGeom>
          <a:solidFill>
            <a:srgbClr val="D5D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236976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Dinkelbach 參數化：引入 λ，改解線性的 Z(λ)</a:t>
            </a:r>
          </a:p>
        </p:txBody>
      </p:sp>
      <p:pic>
        <p:nvPicPr>
          <p:cNvPr id="14" name="Picture 13" descr="15931e663eb81d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602735"/>
            <a:ext cx="2240280" cy="2784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69848" y="4059935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67F"/>
                </a:solidFill>
                <a:latin typeface="Microsoft JhengHei"/>
                <a:ea typeface="Microsoft JhengHei"/>
                <a:cs typeface="Microsoft JhengHei"/>
              </a:rPr>
              <a:t>再由本次的解回推下一個試探點</a:t>
            </a:r>
          </a:p>
        </p:txBody>
      </p:sp>
      <p:pic>
        <p:nvPicPr>
          <p:cNvPr id="16" name="Picture 15" descr="b87b299b20b71f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389120"/>
            <a:ext cx="3441469" cy="27016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315200" y="2029967"/>
            <a:ext cx="4099255" cy="2880360"/>
          </a:xfrm>
          <a:prstGeom prst="rect">
            <a:avLst/>
          </a:prstGeom>
          <a:solidFill>
            <a:srgbClr val="12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249424"/>
            <a:ext cx="3550615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4F2ED"/>
                </a:solidFill>
                <a:latin typeface="Microsoft JhengHei"/>
                <a:ea typeface="Microsoft JhengHei"/>
                <a:cs typeface="Microsoft JhengHei"/>
              </a:rPr>
              <a:t>迭代時 μ、ρ、ε 全隨 λ 等比縮放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B9C4CC"/>
                </a:solidFill>
                <a:latin typeface="Microsoft JhengHei"/>
                <a:ea typeface="Microsoft JhengHei"/>
                <a:cs typeface="Microsoft JhengHei"/>
              </a:rPr>
              <a:t>這是刻意的：這樣 V 這個線性形式的組成比例保持不變，λ 只在搜尋「一單位價值換幾公尺」這個匯率，不會偷偷改變模型本身。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EB8BD"/>
                </a:solidFill>
                <a:latin typeface="Microsoft JhengHei"/>
                <a:ea typeface="Microsoft JhengHei"/>
                <a:cs typeface="Microsoft JhengHei"/>
              </a:rPr>
              <a:t>由此得到一個更強的性質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4F2ED"/>
                </a:solidFill>
                <a:latin typeface="Microsoft JhengHei"/>
                <a:ea typeface="Microsoft JhengHei"/>
                <a:cs typeface="Microsoft JhengHei"/>
              </a:rPr>
              <a:t>λ 的絕對水位是自由的——整個價格向量乘上任意正常數，行為不變。真正決定行為的只有 ρ/λ、μ/λ、ε/λ 這些比值，而它們由 instance 的「每線幾件」「每單幾線」決定。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157216"/>
            <a:ext cx="10637215" cy="9601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321808"/>
            <a:ext cx="100519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212E"/>
                </a:solidFill>
                <a:latin typeface="Microsoft JhengHei"/>
                <a:ea typeface="Microsoft JhengHei"/>
                <a:cs typeface="Microsoft JhengHei"/>
              </a:rPr>
              <a:t>把整條線串起來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44C54"/>
                </a:solidFill>
                <a:latin typeface="Microsoft JhengHei"/>
                <a:ea typeface="Microsoft JhengHei"/>
                <a:cs typeface="Microsoft JhengHei"/>
              </a:rPr>
              <a:t>決策原子降到件 → 估值層與綁定層分歧 → 兌現率 δ 必須被量測 → 五個價格全部由統計現算 → 目標式成為純距離的比值 → 人工權重無處可放。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