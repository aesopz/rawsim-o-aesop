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HGS-M5 has two nested loops. The outer loop is the Dinkelbach lambda iteration, identical to M4G's - only the inner call differs (M4G solves the MILP, M5 builds a plan greedily). Exit shares are measured over 4735 decisions. The inner loop enumerates draw-line moves and dispatch candidates together every round; a dispatch is scored on its marginal unlock against a no-dispatch baseline.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828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05 · Methodology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241280" y="1645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18 頁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4048" y="420624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HGS-M5 — two nested loops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84048" y="6327648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2026 Center for Internet of Things Innovation, NTUST. All rights reserved.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版權所有 © 2026 國立臺灣科技大學 物聯網創新中心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589520" y="627278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and material contained in this file is copyrighted.</a:t>
            </a:r>
            <a:endParaRPr lang="en-US" sz="8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do not use without the author's permission.</a:t>
            </a:r>
            <a:endParaRPr lang="en-US" sz="8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本檔案所含資料受著作權保護，未經所有人之同意請勿擅自使用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90525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 ·  updating λ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58368" y="1152144"/>
            <a:ext cx="3017520" cy="329184"/>
          </a:xfrm>
          <a:prstGeom prst="roundRect">
            <a:avLst>
              <a:gd name="adj" fmla="val 13889"/>
            </a:avLst>
          </a:prstGeom>
          <a:solidFill>
            <a:srgbClr val="FDF3E5"/>
          </a:solidFill>
          <a:ln w="13970">
            <a:solidFill>
              <a:srgbClr val="DFA1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152144"/>
            <a:ext cx="301752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← λ₀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167128" y="1481328"/>
            <a:ext cx="0" cy="128016"/>
          </a:xfrm>
          <a:prstGeom prst="line">
            <a:avLst/>
          </a:prstGeom>
          <a:noFill/>
          <a:ln w="1397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58368" y="1627632"/>
            <a:ext cx="3017520" cy="384048"/>
          </a:xfrm>
          <a:prstGeom prst="roundRect">
            <a:avLst>
              <a:gd name="adj" fmla="val 11905"/>
            </a:avLst>
          </a:prstGeom>
          <a:solidFill>
            <a:srgbClr val="E9EFF7"/>
          </a:solidFill>
          <a:ln w="24130">
            <a:solidFill>
              <a:srgbClr val="1F38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1627632"/>
            <a:ext cx="30175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← BuildPlan(λ)</a:t>
            </a:r>
            <a:endParaRPr lang="en-US" sz="10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inner loop →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167128" y="2011680"/>
            <a:ext cx="0" cy="128016"/>
          </a:xfrm>
          <a:prstGeom prst="line">
            <a:avLst/>
          </a:prstGeom>
          <a:noFill/>
          <a:ln w="1397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58368" y="2157984"/>
            <a:ext cx="3017520" cy="310896"/>
          </a:xfrm>
          <a:prstGeom prst="roundRect">
            <a:avLst>
              <a:gd name="adj" fmla="val 14706"/>
            </a:avLst>
          </a:prstGeom>
          <a:solidFill>
            <a:srgbClr val="E9EFF7"/>
          </a:solidFill>
          <a:ln w="13970">
            <a:solidFill>
              <a:srgbClr val="1F38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157984"/>
            <a:ext cx="301752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(D* − objective) / λ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167128" y="2468880"/>
            <a:ext cx="0" cy="109728"/>
          </a:xfrm>
          <a:prstGeom prst="line">
            <a:avLst/>
          </a:prstGeom>
          <a:noFill/>
          <a:ln w="1397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001268" y="2587752"/>
            <a:ext cx="2331720" cy="420624"/>
          </a:xfrm>
          <a:prstGeom prst="diamond">
            <a:avLst/>
          </a:prstGeom>
          <a:solidFill>
            <a:srgbClr val="FFFFFF"/>
          </a:solidFill>
          <a:ln w="14605">
            <a:solidFill>
              <a:srgbClr val="C55A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1268" y="2587752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≤ 0 ?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167128" y="3008376"/>
            <a:ext cx="0" cy="137160"/>
          </a:xfrm>
          <a:prstGeom prst="line">
            <a:avLst/>
          </a:prstGeom>
          <a:noFill/>
          <a:ln w="1397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2221992" y="300837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09828" y="3154680"/>
            <a:ext cx="2514600" cy="420624"/>
          </a:xfrm>
          <a:prstGeom prst="diamond">
            <a:avLst/>
          </a:prstGeom>
          <a:solidFill>
            <a:srgbClr val="FFFFFF"/>
          </a:solidFill>
          <a:ln w="14605">
            <a:solidFill>
              <a:srgbClr val="1F386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9828" y="3154680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objective | ≤ tol ?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167128" y="3575304"/>
            <a:ext cx="0" cy="137160"/>
          </a:xfrm>
          <a:prstGeom prst="line">
            <a:avLst/>
          </a:prstGeom>
          <a:noFill/>
          <a:ln w="1397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2221992" y="35753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58368" y="3730752"/>
            <a:ext cx="3017520" cy="310896"/>
          </a:xfrm>
          <a:prstGeom prst="roundRect">
            <a:avLst>
              <a:gd name="adj" fmla="val 14706"/>
            </a:avLst>
          </a:prstGeom>
          <a:solidFill>
            <a:srgbClr val="E9EFF7"/>
          </a:solidFill>
          <a:ln w="13970">
            <a:solidFill>
              <a:srgbClr val="1F386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3730752"/>
            <a:ext cx="301752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λ_next = D* / P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167128" y="4041648"/>
            <a:ext cx="0" cy="109728"/>
          </a:xfrm>
          <a:prstGeom prst="line">
            <a:avLst/>
          </a:prstGeom>
          <a:noFill/>
          <a:ln w="1397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78408" y="4160520"/>
            <a:ext cx="2377440" cy="420624"/>
          </a:xfrm>
          <a:prstGeom prst="diamond">
            <a:avLst/>
          </a:prstGeom>
          <a:solidFill>
            <a:srgbClr val="FFFFFF"/>
          </a:solidFill>
          <a:ln w="14605">
            <a:solidFill>
              <a:srgbClr val="C55A1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8408" y="416052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λ_next ≤ 0 ?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167128" y="4581144"/>
            <a:ext cx="0" cy="137160"/>
          </a:xfrm>
          <a:prstGeom prst="line">
            <a:avLst/>
          </a:prstGeom>
          <a:noFill/>
          <a:ln w="1397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2221992" y="458114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58368" y="4736592"/>
            <a:ext cx="3017520" cy="365760"/>
          </a:xfrm>
          <a:prstGeom prst="roundRect">
            <a:avLst>
              <a:gd name="adj" fmla="val 12500"/>
            </a:avLst>
          </a:prstGeom>
          <a:solidFill>
            <a:srgbClr val="E9EFF7"/>
          </a:solidFill>
          <a:ln w="24130">
            <a:solidFill>
              <a:srgbClr val="1F386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" y="4736592"/>
            <a:ext cx="301752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← BuildPlan(λ_next)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167128" y="5102352"/>
            <a:ext cx="0" cy="109728"/>
          </a:xfrm>
          <a:prstGeom prst="line">
            <a:avLst/>
          </a:prstGeom>
          <a:noFill/>
          <a:ln w="1397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32688" y="5221224"/>
            <a:ext cx="2468880" cy="420624"/>
          </a:xfrm>
          <a:prstGeom prst="diamond">
            <a:avLst/>
          </a:prstGeom>
          <a:solidFill>
            <a:srgbClr val="FFFFFF"/>
          </a:solidFill>
          <a:ln w="14605">
            <a:solidFill>
              <a:srgbClr val="C55A1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2688" y="5221224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P ≤ 0 ?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337560" y="2798064"/>
            <a:ext cx="466344" cy="0"/>
          </a:xfrm>
          <a:prstGeom prst="line">
            <a:avLst/>
          </a:prstGeom>
          <a:noFill/>
          <a:ln w="13970">
            <a:solidFill>
              <a:srgbClr val="C55A11"/>
            </a:solidFill>
            <a:prstDash val="solid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3822192" y="2642616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· jump to bound first</a:t>
            </a:r>
            <a:endParaRPr lang="en-US" sz="800" dirty="0"/>
          </a:p>
          <a:p>
            <a:pPr algn="l" indent="0" marL="0">
              <a:lnSpc>
                <a:spcPts val="1000"/>
              </a:lnSpc>
              <a:buNone/>
            </a:pPr>
            <a:r>
              <a:rPr lang="en-US" sz="9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1.63%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429000" y="3364992"/>
            <a:ext cx="374904" cy="0"/>
          </a:xfrm>
          <a:prstGeom prst="line">
            <a:avLst/>
          </a:prstGeom>
          <a:noFill/>
          <a:ln w="1397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3822192" y="3209544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· break-even</a:t>
            </a:r>
            <a:endParaRPr lang="en-US" sz="800" dirty="0"/>
          </a:p>
          <a:p>
            <a:pPr algn="l" indent="0" marL="0">
              <a:lnSpc>
                <a:spcPts val="1000"/>
              </a:lnSpc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1.73%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355848" y="4370832"/>
            <a:ext cx="448056" cy="0"/>
          </a:xfrm>
          <a:prstGeom prst="line">
            <a:avLst/>
          </a:prstGeom>
          <a:noFill/>
          <a:ln w="13970">
            <a:solidFill>
              <a:srgbClr val="C55A11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3822192" y="4215384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· D* = 0, no dispatch</a:t>
            </a:r>
            <a:endParaRPr lang="en-US" sz="800" dirty="0"/>
          </a:p>
          <a:p>
            <a:pPr algn="l" indent="0" marL="0">
              <a:lnSpc>
                <a:spcPts val="1000"/>
              </a:lnSpc>
              <a:buNone/>
            </a:pPr>
            <a:r>
              <a:rPr lang="en-US" sz="9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87.22%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401568" y="5431536"/>
            <a:ext cx="402336" cy="0"/>
          </a:xfrm>
          <a:prstGeom prst="line">
            <a:avLst/>
          </a:prstGeom>
          <a:noFill/>
          <a:ln w="13970">
            <a:solidFill>
              <a:srgbClr val="C55A11"/>
            </a:solidFill>
            <a:prstDash val="solid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3822192" y="5276088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· keep previous plan</a:t>
            </a:r>
            <a:endParaRPr lang="en-US" sz="800" dirty="0"/>
          </a:p>
          <a:p>
            <a:pPr algn="l" indent="0" marL="0">
              <a:lnSpc>
                <a:spcPts val="1000"/>
              </a:lnSpc>
              <a:buNone/>
            </a:pPr>
            <a:r>
              <a:rPr lang="en-US" sz="9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9.42%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 flipH="1">
            <a:off x="365760" y="5431536"/>
            <a:ext cx="566928" cy="0"/>
          </a:xfrm>
          <a:prstGeom prst="line">
            <a:avLst/>
          </a:prstGeom>
          <a:noFill/>
          <a:ln w="13970">
            <a:solidFill>
              <a:srgbClr val="1F386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365760" y="1819656"/>
            <a:ext cx="0" cy="3611880"/>
          </a:xfrm>
          <a:prstGeom prst="line">
            <a:avLst/>
          </a:prstGeom>
          <a:noFill/>
          <a:ln w="13970">
            <a:solidFill>
              <a:srgbClr val="1F386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65760" y="1819656"/>
            <a:ext cx="274320" cy="0"/>
          </a:xfrm>
          <a:prstGeom prst="line">
            <a:avLst/>
          </a:prstGeom>
          <a:noFill/>
          <a:ln w="1397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48" name="Text 46"/>
          <p:cNvSpPr/>
          <p:nvPr/>
        </p:nvSpPr>
        <p:spPr>
          <a:xfrm>
            <a:off x="402336" y="561441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adopt λ ← λ_next</a:t>
            </a:r>
            <a:endParaRPr lang="en-US" sz="750" dirty="0"/>
          </a:p>
          <a:p>
            <a:pPr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BuildPlan  (cap 5)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5669280" y="1133856"/>
            <a:ext cx="3794760" cy="4096512"/>
          </a:xfrm>
          <a:prstGeom prst="roundRect">
            <a:avLst>
              <a:gd name="adj" fmla="val 723"/>
            </a:avLst>
          </a:prstGeom>
          <a:solidFill>
            <a:srgbClr val="FFFFFF"/>
          </a:solidFill>
          <a:ln w="12700">
            <a:solidFill>
              <a:srgbClr val="1F3864"/>
            </a:solidFill>
            <a:prstDash val="dash"/>
          </a:ln>
        </p:spPr>
      </p:sp>
      <p:sp>
        <p:nvSpPr>
          <p:cNvPr id="50" name="Text 48"/>
          <p:cNvSpPr/>
          <p:nvPr/>
        </p:nvSpPr>
        <p:spPr>
          <a:xfrm>
            <a:off x="5669280" y="90525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 ·  BuildPlan(λ)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694176" y="1819656"/>
            <a:ext cx="1956816" cy="0"/>
          </a:xfrm>
          <a:prstGeom prst="line">
            <a:avLst/>
          </a:prstGeom>
          <a:noFill/>
          <a:ln w="1397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5989320" y="1243584"/>
            <a:ext cx="3017520" cy="310896"/>
          </a:xfrm>
          <a:prstGeom prst="roundRect">
            <a:avLst>
              <a:gd name="adj" fmla="val 14706"/>
            </a:avLst>
          </a:prstGeom>
          <a:solidFill>
            <a:srgbClr val="E9EFF7"/>
          </a:solidFill>
          <a:ln w="13970">
            <a:solidFill>
              <a:srgbClr val="1F386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989320" y="1243584"/>
            <a:ext cx="301752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working books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498080" y="1554480"/>
            <a:ext cx="0" cy="109728"/>
          </a:xfrm>
          <a:prstGeom prst="line">
            <a:avLst/>
          </a:prstGeom>
          <a:noFill/>
          <a:ln w="1397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5989320" y="1682496"/>
            <a:ext cx="3017520" cy="512064"/>
          </a:xfrm>
          <a:prstGeom prst="roundRect">
            <a:avLst>
              <a:gd name="adj" fmla="val 8929"/>
            </a:avLst>
          </a:prstGeom>
          <a:solidFill>
            <a:srgbClr val="E9EFF7"/>
          </a:solidFill>
          <a:ln w="13970">
            <a:solidFill>
              <a:srgbClr val="1F386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989320" y="1682496"/>
            <a:ext cx="301752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Enumerate draw-line moves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stock covers the line IN FULL · slot available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498080" y="2194560"/>
            <a:ext cx="0" cy="109728"/>
          </a:xfrm>
          <a:prstGeom prst="line">
            <a:avLst/>
          </a:prstGeom>
          <a:noFill/>
          <a:ln w="1397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5989320" y="2322576"/>
            <a:ext cx="3017520" cy="512064"/>
          </a:xfrm>
          <a:prstGeom prst="roundRect">
            <a:avLst>
              <a:gd name="adj" fmla="val 8929"/>
            </a:avLst>
          </a:prstGeom>
          <a:solidFill>
            <a:srgbClr val="FDF3E5"/>
          </a:solidFill>
          <a:ln w="13970">
            <a:solidFill>
              <a:srgbClr val="DFA14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989320" y="2322576"/>
            <a:ext cx="301752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Score every dispatch candidate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marginal: harvest WITH the pod − WITHOUT it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498080" y="2834640"/>
            <a:ext cx="0" cy="109728"/>
          </a:xfrm>
          <a:prstGeom prst="line">
            <a:avLst/>
          </a:prstGeom>
          <a:noFill/>
          <a:ln w="1397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6332220" y="2962656"/>
            <a:ext cx="2331720" cy="438912"/>
          </a:xfrm>
          <a:prstGeom prst="diamond">
            <a:avLst/>
          </a:prstGeom>
          <a:solidFill>
            <a:srgbClr val="FFFFFF"/>
          </a:solidFill>
          <a:ln w="14605">
            <a:solidFill>
              <a:srgbClr val="C55A1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32220" y="2962656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 Δ &lt; 0 ?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7498080" y="3401568"/>
            <a:ext cx="0" cy="128016"/>
          </a:xfrm>
          <a:prstGeom prst="line">
            <a:avLst/>
          </a:prstGeom>
          <a:noFill/>
          <a:ln w="1397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64" name="Text 62"/>
          <p:cNvSpPr/>
          <p:nvPr/>
        </p:nvSpPr>
        <p:spPr>
          <a:xfrm>
            <a:off x="7552944" y="340156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5989320" y="3547872"/>
            <a:ext cx="3017520" cy="493776"/>
          </a:xfrm>
          <a:prstGeom prst="roundRect">
            <a:avLst>
              <a:gd name="adj" fmla="val 9259"/>
            </a:avLst>
          </a:prstGeom>
          <a:solidFill>
            <a:srgbClr val="E9EFF7"/>
          </a:solidFill>
          <a:ln w="13970">
            <a:solidFill>
              <a:srgbClr val="1F386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989320" y="3547872"/>
            <a:ext cx="301752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the most negative move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ties → no new slot → longest-waiting order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9006840" y="3794760"/>
            <a:ext cx="274320" cy="0"/>
          </a:xfrm>
          <a:prstGeom prst="line">
            <a:avLst/>
          </a:prstGeom>
          <a:noFill/>
          <a:ln w="13970">
            <a:solidFill>
              <a:srgbClr val="1F3864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flipV="1">
            <a:off x="9281160" y="1938528"/>
            <a:ext cx="0" cy="1856232"/>
          </a:xfrm>
          <a:prstGeom prst="line">
            <a:avLst/>
          </a:prstGeom>
          <a:noFill/>
          <a:ln w="13970">
            <a:solidFill>
              <a:srgbClr val="1F3864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flipH="1">
            <a:off x="9025128" y="1938528"/>
            <a:ext cx="256032" cy="0"/>
          </a:xfrm>
          <a:prstGeom prst="line">
            <a:avLst/>
          </a:prstGeom>
          <a:noFill/>
          <a:ln w="1397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70" name="Text 68"/>
          <p:cNvSpPr/>
          <p:nvPr/>
        </p:nvSpPr>
        <p:spPr>
          <a:xfrm>
            <a:off x="8503920" y="407822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changed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 flipH="1">
            <a:off x="5870448" y="3182112"/>
            <a:ext cx="457200" cy="0"/>
          </a:xfrm>
          <a:prstGeom prst="line">
            <a:avLst/>
          </a:prstGeom>
          <a:noFill/>
          <a:ln w="13970">
            <a:solidFill>
              <a:srgbClr val="C55A11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870448" y="3182112"/>
            <a:ext cx="0" cy="1261872"/>
          </a:xfrm>
          <a:prstGeom prst="line">
            <a:avLst/>
          </a:prstGeom>
          <a:noFill/>
          <a:ln w="13970">
            <a:solidFill>
              <a:srgbClr val="C55A11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870448" y="4443984"/>
            <a:ext cx="1627632" cy="0"/>
          </a:xfrm>
          <a:prstGeom prst="line">
            <a:avLst/>
          </a:prstGeom>
          <a:noFill/>
          <a:ln w="13970">
            <a:solidFill>
              <a:srgbClr val="C55A11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flipV="1">
            <a:off x="7498080" y="4334256"/>
            <a:ext cx="0" cy="109728"/>
          </a:xfrm>
          <a:prstGeom prst="line">
            <a:avLst/>
          </a:prstGeom>
          <a:noFill/>
          <a:ln w="13970">
            <a:solidFill>
              <a:srgbClr val="C55A11"/>
            </a:solidFill>
            <a:prstDash val="solid"/>
            <a:tailEnd type="triangle"/>
          </a:ln>
        </p:spPr>
      </p:sp>
      <p:sp>
        <p:nvSpPr>
          <p:cNvPr id="75" name="Text 73"/>
          <p:cNvSpPr/>
          <p:nvPr/>
        </p:nvSpPr>
        <p:spPr>
          <a:xfrm>
            <a:off x="5925312" y="29992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5989320" y="4352544"/>
            <a:ext cx="3017520" cy="457200"/>
          </a:xfrm>
          <a:prstGeom prst="roundRect">
            <a:avLst>
              <a:gd name="adj" fmla="val 10000"/>
            </a:avLst>
          </a:prstGeom>
          <a:solidFill>
            <a:srgbClr val="E9EFF7"/>
          </a:solidFill>
          <a:ln w="13970">
            <a:solidFill>
              <a:srgbClr val="1F386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989320" y="4352544"/>
            <a:ext cx="30175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sweep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coverable but slot-blocked: −λβ per line, −μβ per order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7498080" y="4809744"/>
            <a:ext cx="0" cy="109728"/>
          </a:xfrm>
          <a:prstGeom prst="line">
            <a:avLst/>
          </a:prstGeom>
          <a:noFill/>
          <a:ln w="1397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79" name="Shape 77"/>
          <p:cNvSpPr/>
          <p:nvPr/>
        </p:nvSpPr>
        <p:spPr>
          <a:xfrm>
            <a:off x="5989320" y="4937760"/>
            <a:ext cx="3017520" cy="274320"/>
          </a:xfrm>
          <a:prstGeom prst="roundRect">
            <a:avLst>
              <a:gd name="adj" fmla="val 16667"/>
            </a:avLst>
          </a:prstGeom>
          <a:solidFill>
            <a:srgbClr val="F4F6FA"/>
          </a:solidFill>
          <a:ln w="13970">
            <a:solidFill>
              <a:srgbClr val="D6DCE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989320" y="4937760"/>
            <a:ext cx="30175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 plan  (D*, objective)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9692640" y="90525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scores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9692640" y="1152144"/>
            <a:ext cx="2103120" cy="932688"/>
          </a:xfrm>
          <a:prstGeom prst="roundRect">
            <a:avLst>
              <a:gd name="adj" fmla="val 4902"/>
            </a:avLst>
          </a:prstGeom>
          <a:solidFill>
            <a:srgbClr val="E9EFF7"/>
          </a:solidFill>
          <a:ln w="13970">
            <a:solidFill>
              <a:srgbClr val="1F3864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692640" y="1152144"/>
            <a:ext cx="2103120" cy="9326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</a:t>
            </a:r>
            <a:endParaRPr lang="en-US" sz="1050" dirty="0"/>
          </a:p>
          <a:p>
            <a:pPr algn="l"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= −λ(1−β)</a:t>
            </a:r>
            <a:endParaRPr lang="en-US" sz="1050" dirty="0"/>
          </a:p>
          <a:p>
            <a:pPr algn="l"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completes the order:</a:t>
            </a:r>
            <a:endParaRPr lang="en-US" sz="1050" dirty="0"/>
          </a:p>
          <a:p>
            <a:pPr algn="l"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−λ(1−β) − μ(1−β)</a:t>
            </a:r>
            <a:endParaRPr lang="en-US" sz="1050" dirty="0"/>
          </a:p>
          <a:p>
            <a:pPr algn="l"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no distance</a:t>
            </a:r>
            <a:endParaRPr lang="en-US" sz="1050" dirty="0"/>
          </a:p>
        </p:txBody>
      </p:sp>
      <p:sp>
        <p:nvSpPr>
          <p:cNvPr id="84" name="Shape 82"/>
          <p:cNvSpPr/>
          <p:nvPr/>
        </p:nvSpPr>
        <p:spPr>
          <a:xfrm>
            <a:off x="9692640" y="2194560"/>
            <a:ext cx="2103120" cy="932688"/>
          </a:xfrm>
          <a:prstGeom prst="roundRect">
            <a:avLst>
              <a:gd name="adj" fmla="val 4902"/>
            </a:avLst>
          </a:prstGeom>
          <a:solidFill>
            <a:srgbClr val="FDF3E5"/>
          </a:solidFill>
          <a:ln w="13970">
            <a:solidFill>
              <a:srgbClr val="DFA14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9692640" y="2194560"/>
            <a:ext cx="2103120" cy="9326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1050" dirty="0"/>
          </a:p>
          <a:p>
            <a:pPr algn="l"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= travel</a:t>
            </a:r>
            <a:endParaRPr lang="en-US" sz="1050" dirty="0"/>
          </a:p>
          <a:p>
            <a:pPr algn="l"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marginal unlock</a:t>
            </a:r>
            <a:endParaRPr lang="en-US" sz="1050" dirty="0"/>
          </a:p>
          <a:p>
            <a:pPr algn="l"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valuation increment</a:t>
            </a:r>
            <a:endParaRPr lang="en-US" sz="1050" dirty="0"/>
          </a:p>
          <a:p>
            <a:pPr algn="l"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distance</a:t>
            </a:r>
            <a:endParaRPr lang="en-US" sz="1050" dirty="0"/>
          </a:p>
        </p:txBody>
      </p:sp>
      <p:sp>
        <p:nvSpPr>
          <p:cNvPr id="86" name="Text 84"/>
          <p:cNvSpPr/>
          <p:nvPr/>
        </p:nvSpPr>
        <p:spPr>
          <a:xfrm>
            <a:off x="9692640" y="3236976"/>
            <a:ext cx="2103120" cy="658368"/>
          </a:xfrm>
          <a:prstGeom prst="rect">
            <a:avLst/>
          </a:prstGeom>
          <a:solidFill>
            <a:srgbClr val="F4F6FA"/>
          </a:solidFill>
          <a:ln w="10160">
            <a:solidFill>
              <a:srgbClr val="D6DCE8"/>
            </a:solidFill>
          </a:ln>
        </p:spPr>
        <p:txBody>
          <a:bodyPr wrap="square" lIns="1016" tIns="1016" rIns="1016" bIns="1016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enumerated every round.</a:t>
            </a:r>
            <a:endParaRPr lang="en-US" sz="85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dispatch is not a fallback for when draws run out — the two compete on the same scale each time.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9692640" y="4005072"/>
            <a:ext cx="2103120" cy="658368"/>
          </a:xfrm>
          <a:prstGeom prst="rect">
            <a:avLst/>
          </a:prstGeom>
          <a:solidFill>
            <a:srgbClr val="F4F6FA"/>
          </a:solidFill>
          <a:ln w="10160">
            <a:solidFill>
              <a:srgbClr val="D6DCE8"/>
            </a:solidFill>
          </a:ln>
        </p:spPr>
        <p:txBody>
          <a:bodyPr wrap="square" lIns="1016" tIns="1016" rIns="1016" bIns="1016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constraints filter, never price.</a:t>
            </a:r>
            <a:endParaRPr lang="en-US" sz="85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Stock, line atomicity and slot capacity remove a move from the list; they never appear in Δ.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9692640" y="4773168"/>
            <a:ext cx="2103120" cy="786384"/>
          </a:xfrm>
          <a:prstGeom prst="rect">
            <a:avLst/>
          </a:prstGeom>
          <a:solidFill>
            <a:srgbClr val="F4F6FA"/>
          </a:solidFill>
          <a:ln w="10160">
            <a:solidFill>
              <a:srgbClr val="D6DCE8"/>
            </a:solidFill>
          </a:ln>
        </p:spPr>
        <p:txBody>
          <a:bodyPr wrap="square" lIns="1016" tIns="1016" rIns="1016" bIns="1016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outer loop as M4G.</a:t>
            </a:r>
            <a:endParaRPr lang="en-US" sz="85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inner call differs: M4G solves the MILP, HGS-M5 builds greedily. Prices λ, μ, β are read from the same measurements.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402336" y="605332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shares measured over 4,735 decisions (5 seeds, small_6bot / 2h).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2026-09-07T10:22:50Z</dcterms:created>
  <dcterms:modified xsi:type="dcterms:W3CDTF">2026-09-07T10:22:50Z</dcterms:modified>
</cp:coreProperties>
</file>