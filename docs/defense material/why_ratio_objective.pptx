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18288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05 · Methodology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0241280" y="16459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 ??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84048" y="420624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objective is a ratio, D / P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84048" y="6327648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Copyright © 2026 Center for Internet of Things Innovation, NTUST. All rights reserved.</a:t>
            </a:r>
            <a:endParaRPr lang="en-US" sz="8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版權所有 © 2026 國立臺灣科技大學 物聯網創新中心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589520" y="6272784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and material contained in this file is copyrighted.</a:t>
            </a:r>
            <a:endParaRPr lang="en-US" sz="800" dirty="0"/>
          </a:p>
          <a:p>
            <a:pPr algn="r"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Please do not use without the author's permission.</a:t>
            </a:r>
            <a:endParaRPr lang="en-US" sz="800" dirty="0"/>
          </a:p>
          <a:p>
            <a:pPr algn="r"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本檔案所含資料受著作權保護，未經所有人之同意請勿擅自使用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84048" y="950976"/>
            <a:ext cx="1143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dispatch spends distance </a:t>
            </a:r>
            <a:pPr indent="0" marL="0">
              <a:buNone/>
            </a:pPr>
            <a:r>
              <a:rPr lang="en-US" sz="12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pPr indent="0" marL="0">
              <a:buNone/>
            </a:pPr>
            <a:r>
              <a:rPr lang="en-US" sz="12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(metres) and earns fulfilment </a:t>
            </a:r>
            <a:pPr indent="0" marL="0">
              <a:buNone/>
            </a:pPr>
            <a:r>
              <a:rPr lang="en-US" sz="12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pPr indent="0" marL="0">
              <a:buNone/>
            </a:pPr>
            <a:r>
              <a:rPr lang="en-US" sz="12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(line-equivalents).  </a:t>
            </a:r>
            <a:pPr indent="0" marL="0">
              <a:buNone/>
            </a:pPr>
            <a:r>
              <a:rPr lang="en-US" sz="125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− P has no physical meaning until you declare what a metre is worth in lines.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384048" y="1335024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ways to reconcile them — the first three need a number you cannot measure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84048" y="1664208"/>
            <a:ext cx="2697480" cy="932688"/>
          </a:xfrm>
          <a:prstGeom prst="roundRect">
            <a:avLst>
              <a:gd name="adj" fmla="val 4902"/>
            </a:avLst>
          </a:prstGeom>
          <a:solidFill>
            <a:srgbClr val="E9EFF7"/>
          </a:solidFill>
          <a:ln w="13970">
            <a:solidFill>
              <a:srgbClr val="1F386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4048" y="1664208"/>
            <a:ext cx="2697480" cy="9326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 D   s.t. P ≥ target</a:t>
            </a:r>
            <a:endParaRPr lang="en-US" sz="12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a target you cannot fix online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18688" y="1664208"/>
            <a:ext cx="2697480" cy="932688"/>
          </a:xfrm>
          <a:prstGeom prst="roundRect">
            <a:avLst>
              <a:gd name="adj" fmla="val 4902"/>
            </a:avLst>
          </a:prstGeom>
          <a:solidFill>
            <a:srgbClr val="E9EFF7"/>
          </a:solidFill>
          <a:ln w="13970">
            <a:solidFill>
              <a:srgbClr val="1F386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18688" y="1664208"/>
            <a:ext cx="2697480" cy="9326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P   s.t. D ≤ budget</a:t>
            </a:r>
            <a:endParaRPr lang="en-US" sz="12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a budget you cannot fix online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053328" y="1664208"/>
            <a:ext cx="2697480" cy="932688"/>
          </a:xfrm>
          <a:prstGeom prst="roundRect">
            <a:avLst>
              <a:gd name="adj" fmla="val 4902"/>
            </a:avLst>
          </a:prstGeom>
          <a:solidFill>
            <a:srgbClr val="FBE5D6"/>
          </a:solidFill>
          <a:ln w="13970">
            <a:solidFill>
              <a:srgbClr val="DFA1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53328" y="1664208"/>
            <a:ext cx="2697480" cy="9326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C55A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 D − λP</a:t>
            </a:r>
            <a:endParaRPr lang="en-US" sz="12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C55A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an exogenous exchange rate λ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887968" y="1664208"/>
            <a:ext cx="2697480" cy="932688"/>
          </a:xfrm>
          <a:prstGeom prst="roundRect">
            <a:avLst>
              <a:gd name="adj" fmla="val 4902"/>
            </a:avLst>
          </a:prstGeom>
          <a:solidFill>
            <a:srgbClr val="FDF3E5"/>
          </a:solidFill>
          <a:ln w="27940">
            <a:solidFill>
              <a:srgbClr val="1F386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887968" y="1664208"/>
            <a:ext cx="2697480" cy="9326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 D / P</a:t>
            </a:r>
            <a:endParaRPr lang="en-US" sz="12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nothing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870448" y="2633472"/>
            <a:ext cx="3063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55A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M1G / Jiao:  α₁ = −40, α₂ = 1, α₃ = 1000  — tuned by preliminary experiments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8887968" y="2633472"/>
            <a:ext cx="2697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study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384048" y="2926080"/>
            <a:ext cx="11430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 is not a preference parameter. It is a system state that drifts with fleet size and station saturation — fixing it by hand delegates modelling to tuning.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84048" y="3291840"/>
            <a:ext cx="11430000" cy="640080"/>
          </a:xfrm>
          <a:prstGeom prst="roundRect">
            <a:avLst>
              <a:gd name="adj" fmla="val 7143"/>
            </a:avLst>
          </a:prstGeom>
          <a:solidFill>
            <a:srgbClr val="FDF3E5"/>
          </a:solidFill>
          <a:ln w="17780">
            <a:solidFill>
              <a:srgbClr val="DFA1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32918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C55A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KPIs we report are ratios — energy per order, metres per line.  The objective should be the ratio we report.</a:t>
            </a: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C55A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Optimising a weighted sum while reporting a ratio optimises something other than what is measured.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384048" y="413308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ratio is the natural quantity here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84048" y="4462272"/>
            <a:ext cx="3721608" cy="914400"/>
          </a:xfrm>
          <a:prstGeom prst="roundRect">
            <a:avLst>
              <a:gd name="adj" fmla="val 5000"/>
            </a:avLst>
          </a:prstGeom>
          <a:solidFill>
            <a:srgbClr val="E9EFF7"/>
          </a:solidFill>
          <a:ln w="13970">
            <a:solidFill>
              <a:srgbClr val="1F386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84048" y="4462272"/>
            <a:ext cx="3721608" cy="914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free parameter</a:t>
            </a:r>
            <a:endParaRPr lang="en-US" sz="12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exchange rate becomes an output of the model,</a:t>
            </a:r>
            <a:endParaRPr lang="en-US" sz="12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an input from the modeller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233672" y="4462272"/>
            <a:ext cx="3721608" cy="914400"/>
          </a:xfrm>
          <a:prstGeom prst="roundRect">
            <a:avLst>
              <a:gd name="adj" fmla="val 5000"/>
            </a:avLst>
          </a:prstGeom>
          <a:solidFill>
            <a:srgbClr val="E9EFF7"/>
          </a:solidFill>
          <a:ln w="13970">
            <a:solidFill>
              <a:srgbClr val="1F386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233672" y="4462272"/>
            <a:ext cx="3721608" cy="914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Scale-free</a:t>
            </a:r>
            <a:endParaRPr lang="en-US" sz="12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and P both grow with the horizon; their ratio</a:t>
            </a:r>
            <a:endParaRPr lang="en-US" sz="12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not — 2 h and 8 h stay comparable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083296" y="4462272"/>
            <a:ext cx="3721608" cy="914400"/>
          </a:xfrm>
          <a:prstGeom prst="roundRect">
            <a:avLst>
              <a:gd name="adj" fmla="val 5000"/>
            </a:avLst>
          </a:prstGeom>
          <a:solidFill>
            <a:srgbClr val="FDF3E5"/>
          </a:solidFill>
          <a:ln w="13970">
            <a:solidFill>
              <a:srgbClr val="DFA14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083296" y="4462272"/>
            <a:ext cx="3721608" cy="914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C55A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 what we measure</a:t>
            </a:r>
            <a:endParaRPr lang="en-US" sz="12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C55A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Fixed-λ sweep optimum 14–24 lands on the measured</a:t>
            </a:r>
            <a:endParaRPr lang="en-US" sz="12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C55A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marginal price 13.7–18 → a physical quantity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84048" y="5541264"/>
            <a:ext cx="11430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Denominator is line-equivalents, not orders</a:t>
            </a:r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otherwise a 1-line and a 10-line order count the same; order credit converts back through μ = λ (L / N).      </a:t>
            </a:r>
            <a:pPr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C55A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weakness:</a:t>
            </a:r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ratio degenerates as P → 0, so "do nothing" is formally optimal — this is exactly what the upper-bound step exists to correct.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2026-09-11T14:34:30Z</dcterms:created>
  <dcterms:modified xsi:type="dcterms:W3CDTF">2026-09-11T14:34:30Z</dcterms:modified>
</cp:coreProperties>
</file>